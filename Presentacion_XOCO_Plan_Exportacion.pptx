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65" r:id="rId20"/>
    <p:sldId id="266" r:id="rId22"/>
    <p:sldId id="267" r:id="rId23"/>
    <p:sldId id="268" r:id="rId24"/>
    <p:sldId id="269" r:id="rId25"/>
    <p:sldId id="270" r:id="rId26"/>
    <p:sldId id="271" r:id="rId27"/>
    <p:sldId id="272" r:id="rId28"/>
    <p:sldId id="273" r:id="rId29"/>
    <p:sldId id="274" r:id="rId30"/>
    <p:sldId id="275" r:id="rId31"/>
    <p:sldId id="276" r:id="rId32"/>
    <p:sldId id="277" r:id="rId33"/>
  </p:sldIdLst>
  <p:sldSz cx="18288000" cy="10287000"/>
  <p:notesSz cx="6858000" cy="9144000"/>
  <p:embeddedFontLst>
    <p:embeddedFont>
      <p:font typeface="Archivo Black" charset="1" panose="020B0A03020202020B04"/>
      <p:regular r:id="rId15"/>
    </p:embeddedFont>
    <p:embeddedFont>
      <p:font typeface="Poppins" charset="1" panose="00000500000000000000"/>
      <p:regular r:id="rId16"/>
    </p:embeddedFont>
    <p:embeddedFont>
      <p:font typeface="Poppins Bold" charset="1" panose="00000800000000000000"/>
      <p:regular r:id="rId17"/>
    </p:embeddedFont>
    <p:embeddedFont>
      <p:font typeface="Poppins Light" charset="1" panose="00000400000000000000"/>
      <p:regular r:id="rId18"/>
    </p:embeddedFont>
    <p:embeddedFont>
      <p:font typeface="Poppins Semi-Bold" charset="1" panose="000007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5" Type="http://schemas.openxmlformats.org/officeDocument/2006/relationships/font" Target="fonts/font15.fntdata"/><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Nivel requerido</c:v>
                </c:pt>
              </c:strCache>
            </c:strRef>
          </c:tx>
          <c:spPr>
            <a:solidFill>
              <a:srgbClr val="7E4A2E"/>
            </a:solidFill>
          </c:spPr>
          <c:cat>
            <c:strRef>
              <c:f>Sheet1!$A$2:$A$12</c:f>
              <c:strCache>
                <c:ptCount val="11"/>
                <c:pt idx="0">
                  <c:v>Experiencia en comercio exterior</c:v>
                </c:pt>
                <c:pt idx="1">
                  <c:v>Preparación para exportar</c:v>
                </c:pt>
                <c:pt idx="2">
                  <c:v>Requisitos sanitarios (FDA)</c:v>
                </c:pt>
                <c:pt idx="3">
                  <c:v>Etiquetado para EE. UU.</c:v>
                </c:pt>
                <c:pt idx="4">
                  <c:v>Documentación de exportación</c:v>
                </c:pt>
                <c:pt idx="5">
                  <c:v>Protección en el transporte</c:v>
                </c:pt>
                <c:pt idx="6">
                  <c:v>Logística definida</c:v>
                </c:pt>
                <c:pt idx="7">
                  <c:v>Costos y precio de exportación</c:v>
                </c:pt>
                <c:pt idx="8">
                  <c:v>Conocimiento del mercado</c:v>
                </c:pt>
                <c:pt idx="9">
                  <c:v>Estrategia comercial</c:v>
                </c:pt>
                <c:pt idx="10">
                  <c:v>Relación con distribuidores</c:v>
                </c:pt>
              </c:strCache>
            </c:strRef>
          </c:cat>
          <c:val>
            <c:numRef>
              <c:f>Sheet1!$B$2:$B$12</c:f>
              <c:numCache>
                <c:formatCode>General</c:formatCode>
                <c:ptCount val="11"/>
                <c:pt idx="0">
                  <c:v>4</c:v>
                </c:pt>
                <c:pt idx="1">
                  <c:v>4</c:v>
                </c:pt>
                <c:pt idx="2">
                  <c:v>4</c:v>
                </c:pt>
                <c:pt idx="3">
                  <c:v>4</c:v>
                </c:pt>
                <c:pt idx="4">
                  <c:v>4</c:v>
                </c:pt>
                <c:pt idx="5">
                  <c:v>4</c:v>
                </c:pt>
                <c:pt idx="6">
                  <c:v>4</c:v>
                </c:pt>
                <c:pt idx="7">
                  <c:v>4</c:v>
                </c:pt>
                <c:pt idx="8">
                  <c:v>4</c:v>
                </c:pt>
                <c:pt idx="9">
                  <c:v>4</c:v>
                </c:pt>
                <c:pt idx="10">
                  <c:v>4</c:v>
                </c:pt>
              </c:numCache>
            </c:numRef>
          </c:val>
        </c:ser>
        <c:ser>
          <c:idx val="1"/>
          <c:order val="1"/>
          <c:tx>
            <c:strRef>
              <c:f>Sheet1!$C$1</c:f>
              <c:strCache>
                <c:ptCount val="1"/>
                <c:pt idx="0">
                  <c:v>Nivel actual</c:v>
                </c:pt>
              </c:strCache>
            </c:strRef>
          </c:tx>
          <c:spPr>
            <a:solidFill>
              <a:srgbClr val="F2C48D"/>
            </a:solidFill>
          </c:spPr>
          <c:dPt>
            <c:idx val="0"/>
            <c:spPr>
              <a:solidFill>
                <a:srgbClr val="E97B5C"/>
              </a:solidFill>
            </c:spPr>
          </c:dPt>
          <c:dLbls>
            <c:dLbl>
              <c:idx val="0"/>
              <c:tx>
                <c:rich>
                  <a:bodyPr/>
                  <a:lstStyle/>
                  <a:p>
                    <a:r>
                      <a:rPr sz="1300">
                        <a:solidFill>
                          <a:srgbClr val="F7E6D3"/>
                        </a:solidFill>
                        <a:latin typeface="Poppins"/>
                      </a:rPr>
                      <a:t>Ninguna</a:t>
                    </a:r>
                  </a:p>
                </c:rich>
              </c:tx>
              <c:dLblPos val="outEnd"/>
              <c:showLegendKey val="0"/>
              <c:showVal val="1"/>
              <c:showCatName val="0"/>
              <c:showSerName val="0"/>
              <c:showPercent val="0"/>
              <c:showBubbleSize val="0"/>
            </c:dLbl>
            <c:dLbl>
              <c:idx val="1"/>
              <c:tx>
                <c:rich>
                  <a:bodyPr/>
                  <a:lstStyle/>
                  <a:p>
                    <a:r>
                      <a:rPr sz="1300">
                        <a:solidFill>
                          <a:srgbClr val="F7E6D3"/>
                        </a:solidFill>
                        <a:latin typeface="Poppins"/>
                      </a:rPr>
                      <a:t>Poco preparada</a:t>
                    </a:r>
                  </a:p>
                </c:rich>
              </c:tx>
              <c:dLblPos val="outEnd"/>
              <c:showLegendKey val="0"/>
              <c:showVal val="1"/>
              <c:showCatName val="0"/>
              <c:showSerName val="0"/>
              <c:showPercent val="0"/>
              <c:showBubbleSize val="0"/>
            </c:dLbl>
            <c:dLbl>
              <c:idx val="2"/>
              <c:tx>
                <c:rich>
                  <a:bodyPr/>
                  <a:lstStyle/>
                  <a:p>
                    <a:r>
                      <a:rPr sz="1300">
                        <a:solidFill>
                          <a:srgbClr val="F7E6D3"/>
                        </a:solidFill>
                        <a:latin typeface="Poppins"/>
                      </a:rPr>
                      <a:t>Básico</a:t>
                    </a:r>
                  </a:p>
                </c:rich>
              </c:tx>
              <c:dLblPos val="outEnd"/>
              <c:showLegendKey val="0"/>
              <c:showVal val="1"/>
              <c:showCatName val="0"/>
              <c:showSerName val="0"/>
              <c:showPercent val="0"/>
              <c:showBubbleSize val="0"/>
            </c:dLbl>
            <c:dLbl>
              <c:idx val="3"/>
              <c:tx>
                <c:rich>
                  <a:bodyPr/>
                  <a:lstStyle/>
                  <a:p>
                    <a:r>
                      <a:rPr sz="1300">
                        <a:solidFill>
                          <a:srgbClr val="F7E6D3"/>
                        </a:solidFill>
                        <a:latin typeface="Poppins"/>
                      </a:rPr>
                      <a:t>Cambios importantes</a:t>
                    </a:r>
                  </a:p>
                </c:rich>
              </c:tx>
              <c:dLblPos val="outEnd"/>
              <c:showLegendKey val="0"/>
              <c:showVal val="1"/>
              <c:showCatName val="0"/>
              <c:showSerName val="0"/>
              <c:showPercent val="0"/>
              <c:showBubbleSize val="0"/>
            </c:dLbl>
            <c:dLbl>
              <c:idx val="4"/>
              <c:tx>
                <c:rich>
                  <a:bodyPr/>
                  <a:lstStyle/>
                  <a:p>
                    <a:r>
                      <a:rPr sz="1300">
                        <a:solidFill>
                          <a:srgbClr val="F7E6D3"/>
                        </a:solidFill>
                        <a:latin typeface="Poppins"/>
                      </a:rPr>
                      <a:t>Básico</a:t>
                    </a:r>
                  </a:p>
                </c:rich>
              </c:tx>
              <c:dLblPos val="outEnd"/>
              <c:showLegendKey val="0"/>
              <c:showVal val="1"/>
              <c:showCatName val="0"/>
              <c:showSerName val="0"/>
              <c:showPercent val="0"/>
              <c:showBubbleSize val="0"/>
            </c:dLbl>
            <c:dLbl>
              <c:idx val="5"/>
              <c:tx>
                <c:rich>
                  <a:bodyPr/>
                  <a:lstStyle/>
                  <a:p>
                    <a:r>
                      <a:rPr sz="1300">
                        <a:solidFill>
                          <a:srgbClr val="F7E6D3"/>
                        </a:solidFill>
                        <a:latin typeface="Poppins"/>
                      </a:rPr>
                      <a:t>Medidas básicas</a:t>
                    </a:r>
                  </a:p>
                </c:rich>
              </c:tx>
              <c:dLblPos val="outEnd"/>
              <c:showLegendKey val="0"/>
              <c:showVal val="1"/>
              <c:showCatName val="0"/>
              <c:showSerName val="0"/>
              <c:showPercent val="0"/>
              <c:showBubbleSize val="0"/>
            </c:dLbl>
            <c:dLbl>
              <c:idx val="6"/>
              <c:tx>
                <c:rich>
                  <a:bodyPr/>
                  <a:lstStyle/>
                  <a:p>
                    <a:r>
                      <a:rPr sz="1300">
                        <a:solidFill>
                          <a:srgbClr val="F7E6D3"/>
                        </a:solidFill>
                        <a:latin typeface="Poppins"/>
                      </a:rPr>
                      <a:t>Algunas alternativas</a:t>
                    </a:r>
                  </a:p>
                </c:rich>
              </c:tx>
              <c:dLblPos val="outEnd"/>
              <c:showLegendKey val="0"/>
              <c:showVal val="1"/>
              <c:showCatName val="0"/>
              <c:showSerName val="0"/>
              <c:showPercent val="0"/>
              <c:showBubbleSize val="0"/>
            </c:dLbl>
            <c:dLbl>
              <c:idx val="7"/>
              <c:tx>
                <c:rich>
                  <a:bodyPr/>
                  <a:lstStyle/>
                  <a:p>
                    <a:r>
                      <a:rPr sz="1300">
                        <a:solidFill>
                          <a:srgbClr val="F7E6D3"/>
                        </a:solidFill>
                        <a:latin typeface="Poppins"/>
                      </a:rPr>
                      <a:t>Estimación inicial</a:t>
                    </a:r>
                  </a:p>
                </c:rich>
              </c:tx>
              <c:dLblPos val="outEnd"/>
              <c:showLegendKey val="0"/>
              <c:showVal val="1"/>
              <c:showCatName val="0"/>
              <c:showSerName val="0"/>
              <c:showPercent val="0"/>
              <c:showBubbleSize val="0"/>
            </c:dLbl>
            <c:dLbl>
              <c:idx val="8"/>
              <c:tx>
                <c:rich>
                  <a:bodyPr/>
                  <a:lstStyle/>
                  <a:p>
                    <a:r>
                      <a:rPr sz="1300">
                        <a:solidFill>
                          <a:srgbClr val="F7E6D3"/>
                        </a:solidFill>
                        <a:latin typeface="Poppins"/>
                      </a:rPr>
                      <a:t>Básico</a:t>
                    </a:r>
                  </a:p>
                </c:rich>
              </c:tx>
              <c:dLblPos val="outEnd"/>
              <c:showLegendKey val="0"/>
              <c:showVal val="1"/>
              <c:showCatName val="0"/>
              <c:showSerName val="0"/>
              <c:showPercent val="0"/>
              <c:showBubbleSize val="0"/>
            </c:dLbl>
            <c:dLbl>
              <c:idx val="9"/>
              <c:tx>
                <c:rich>
                  <a:bodyPr/>
                  <a:lstStyle/>
                  <a:p>
                    <a:r>
                      <a:rPr sz="1300">
                        <a:solidFill>
                          <a:srgbClr val="F7E6D3"/>
                        </a:solidFill>
                        <a:latin typeface="Poppins"/>
                      </a:rPr>
                      <a:t>Etapa inicial</a:t>
                    </a:r>
                  </a:p>
                </c:rich>
              </c:tx>
              <c:dLblPos val="outEnd"/>
              <c:showLegendKey val="0"/>
              <c:showVal val="1"/>
              <c:showCatName val="0"/>
              <c:showSerName val="0"/>
              <c:showPercent val="0"/>
              <c:showBubbleSize val="0"/>
            </c:dLbl>
            <c:dLbl>
              <c:idx val="10"/>
              <c:tx>
                <c:rich>
                  <a:bodyPr/>
                  <a:lstStyle/>
                  <a:p>
                    <a:r>
                      <a:rPr sz="1300">
                        <a:solidFill>
                          <a:srgbClr val="F7E6D3"/>
                        </a:solidFill>
                        <a:latin typeface="Poppins"/>
                      </a:rPr>
                      <a:t>Contactos identificados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Experiencia en comercio exterior</c:v>
                </c:pt>
                <c:pt idx="1">
                  <c:v>Preparación para exportar</c:v>
                </c:pt>
                <c:pt idx="2">
                  <c:v>Requisitos sanitarios (FDA)</c:v>
                </c:pt>
                <c:pt idx="3">
                  <c:v>Etiquetado para EE. UU.</c:v>
                </c:pt>
                <c:pt idx="4">
                  <c:v>Documentación de exportación</c:v>
                </c:pt>
                <c:pt idx="5">
                  <c:v>Protección en el transporte</c:v>
                </c:pt>
                <c:pt idx="6">
                  <c:v>Logística definida</c:v>
                </c:pt>
                <c:pt idx="7">
                  <c:v>Costos y precio de exportación</c:v>
                </c:pt>
                <c:pt idx="8">
                  <c:v>Conocimiento del mercado</c:v>
                </c:pt>
                <c:pt idx="9">
                  <c:v>Estrategia comercial</c:v>
                </c:pt>
                <c:pt idx="10">
                  <c:v>Relación con distribuidores</c:v>
                </c:pt>
              </c:strCache>
            </c:strRef>
          </c:cat>
          <c:val>
            <c:numRef>
              <c:f>Sheet1!$C$2:$C$12</c:f>
              <c:numCache>
                <c:formatCode>General</c:formatCode>
                <c:ptCount val="11"/>
                <c:pt idx="0">
                  <c:v>1</c:v>
                </c:pt>
                <c:pt idx="1">
                  <c:v>2</c:v>
                </c:pt>
                <c:pt idx="2">
                  <c:v>2</c:v>
                </c:pt>
                <c:pt idx="3">
                  <c:v>2</c:v>
                </c:pt>
                <c:pt idx="4">
                  <c:v>2</c:v>
                </c:pt>
                <c:pt idx="5">
                  <c:v>2</c:v>
                </c:pt>
                <c:pt idx="6">
                  <c:v>2</c:v>
                </c:pt>
                <c:pt idx="7">
                  <c:v>2</c:v>
                </c:pt>
                <c:pt idx="8">
                  <c:v>2</c:v>
                </c:pt>
                <c:pt idx="9">
                  <c:v>2</c:v>
                </c:pt>
                <c:pt idx="10">
                  <c:v>2</c:v>
                </c:pt>
              </c:numCache>
            </c:numRef>
          </c:val>
        </c:ser>
        <c:gapWidth val="45"/>
        <c:overlap val="100"/>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500">
                <a:solidFill>
                  <a:srgbClr val="FFFFFF"/>
                </a:solidFill>
              </a:defRPr>
            </a:pPr>
          </a:p>
        </c:txPr>
        <c:crossAx val="-2113994440"/>
        <c:crosses val="autoZero"/>
        <c:auto val="1"/>
        <c:lblAlgn val="ctr"/>
        <c:lblOffset val="100"/>
        <c:noMultiLvlLbl val="0"/>
      </c:catAx>
      <c:valAx>
        <c:axId val="-2113994440"/>
        <c:scaling>
          <c:max val="4.0"/>
          <c:min val="0.0"/>
        </c:scaling>
        <c:delete val="0"/>
        <c:axPos val="b"/>
        <c:majorTickMark val="none"/>
        <c:minorTickMark val="none"/>
        <c:tickLblPos val="none"/>
        <c:spPr>
          <a:ln>
            <a:noFill/>
          </a:ln>
        </c:spPr>
        <c:crossAx val="-2068027336"/>
        <c:crosses val="autoZero"/>
        <c:majorUnit val="1.0"/>
      </c:valAx>
    </c:plotArea>
    <c:dispBlanksAs val="gap"/>
  </c:chart>
  <c:txPr>
    <a:bodyPr/>
    <a:lstStyle/>
    <a:p>
      <a:pPr>
        <a:defRPr sz="1400">
          <a:solidFill>
            <a:srgbClr val="FFFFFF"/>
          </a:solidFill>
          <a:latin typeface="Poppi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Buenos días. Somos Keisy, Ricardo y Fernando, consultores en negocios internacionales. Hoy le presentamos a la Dirección General de XOCO Chocolates Mexicanos nuestra propuesta de proyecto: un plan de exportación para llevar el chocolate artesanal mexicano de Aguascalientes a San Antonio, Texas. Le pedimos unos minutos para mostrarle la situación actual, el problema que encontramos y cómo proponemos resolverlo.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XOCO es una Sociedad de Responsabilidad Limitada de Capital Variable ubicada en el centro de Aguascalientes, dirigida por su propietario, Alejandro Hernández Ramírez. Pertenece a la industria alimentaria: elabora y comercializa barras de chocolate artesanal de 80 gramos con ingredientes representativos de México. Su propuesta combina calidad, identidad cultural y sabores tradicionales, y el mercado de entrada que proponemos es San Antonio, Texas.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Nuestra misión es elaborar barras de chocolate mexicano de alta calidad con cacao e ingredientes tradicionales, ofreciendo una experiencia auténtica. La visión es ser una marca reconocida en Estados Unidos por su calidad, innovación e identidad prehispánica. Estos seis valores guían cada decisión, y son justamente los que debemos proteger al exportar: calidad y autenticidad no pueden perderse en el camino.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El área que vamos a intervenir es Comercio Exterior, que hoy no existe formalmente dentro de XOCO. La dividimos en tres frentes: el comercial, que es cómo vender y a qué precio; el regulatorio, que es cumplir con la FDA, el etiquetado y la documentación; y el logístico, que es cómo mover un producto sensible al calor sin que pierda calidad. El proyecto depende directamente de la Dirección General.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Este es el corazón de la propuesta. XOCO quiere exportar, pero hoy no está preparada comercial, regulatoria ni logísticamente para entrar a Estados Unidos. El chocolate es sensible al calor: una mala logística lo derrite, cambia su textura o arruina su presentación. Y además llegaríamos a competir contra marcas que ya están posicionadas. Por eso, la problemática a diagnosticar es la necesidad de un plan de exportación que cumpla requisitos, conserve la calidad y posicione la marca.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¿Qué pasa si no actuamos o exportamos sin preparación? Agrupamos las 12 afectaciones del diagnóstico en cuatro riesgos. Regulatorio: retrasos, errores en documentos y mercancía retenida o rechazada en la frontera. Económico: multas, devoluciones y costos de rehacer etiquetas, sin saber siquiera el precio final. Calidad: chocolate dañado y menor vida de anaquel. Mercado: nos cerraría las puertas de tiendas y distribuidores. Es decir: perder mercancía, dinero e imagen.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Para confirmar el problema aplicamos un cuestionario de diagnóstico al director general el 15 de julio de 2026. Las barras claras muestran lo que se necesita para exportar, nivel 4; las doradas, dónde está XOCO hoy. No hay experiencia previa en comercio exterior, y en los otros once rubros la empresa está en nivel básico o inicial: etiquetado que requiere cambios importantes, logística con solo algunas alternativas, precio apenas estimado. El promedio es 1.9 de 4. Y el propio director identificó como principal dificultad el cumplimiento sanitario y de etiquetado.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Con base en el diagnóstico, el objetivo general es posicionar las barras XOCO en San Antonio mediante una estrategia de exportación que destaque su origen mexicano, su calidad artesanal y su diseño prehispánico. Para lograrlo planteamos seis objetivos específicos: primero cumplir requisitos, después entrar a tiendas especializadas, construir marca, promocionar nuestros seis sabores, cerrar alianzas con distribuidores en Texas y, finalmente, crecer hacia otras ciudades.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El alcance es el plan inicial para barras de 80 gramos hacia San Antonio. La ruta propuesta sale de Aguascalientes, cruza por Nuevo Laredo, donde se realiza el despacho aduanero aprovechando los beneficios del T-MEC, y llega a San Antonio. Trabajaremos en cinco etapas: diagnóstico interno y del sector con un DAFO internacional; cumplimiento sanitario, de etiquetado y documental; logística con control de temperatura; estrategia de mercado con tiendas mexicanas, cafeterías y comercios gourmet; y cerramos con un embarque piloto antes de pensar en otras ciudades.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¿Cómo vamos a sustentar el diagnóstico? Con dos fuentes. Internas: el cuestionario al director y la información de producción, costos, empaque, etiquetas, proveedores y personal. Externas: las autoridades que regulan la operación en ambos países, como la FDA y la CBP en Estados Unidos, y el SAT, la Secretaría de Economía y SADER en México, además de estadísticas del U.S. Census Bureau y directorios de importadores en Texas.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s) Sabemos que un cambio así genera dudas; estas son las que esperamos escuchar. 'No tenemos experiencia': por eso empezamos con un solo mercado cercano y un embarque piloto, con riesgo controlado. 'El chocolate se va a derretir': proponemos transporte con temperatura controlada y empaque térmico en una ruta directa. 'Es caro y arriesgado': lo caro es exportar sin plan (multas, rechazos, reetiquetar); además calcularemos costos antes de enviar y aprovecharemos el T-MEC. 'Ya hay marcas posicionadas': no competimos por precio, sino con sabores mexicanos, identidad prehispánica y una comunidad mexicana amplia en San Antonio. ¿Qué otra preocupación tiene, director?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Lo que le pedimos hoy a la Dirección es una decisión: aprobar el proyecto para iniciar el diagnóstico completo. A partir de ahí seguiríamos cinco pasos: adaptar etiquetas y cumplir requisitos de la FDA, calcular costos y precio final de exportación, definir transporte y conservación, contactar importadores y distribuidores en Texas, y lanzar el embarque piloto. XOCO ya tiene un producto con potencial; lo que falta es preparación, y eso es exactamente lo que ofrece este plan.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Muchas gracias, director. Llevemos el sabor de México a Texas, pero bien preparados.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2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17.jpeg"/><Relationship Id="rId9" Type="http://schemas.openxmlformats.org/officeDocument/2006/relationships/image" Target="../media/image19.jpeg"/><Relationship Id="rId10"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2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18.jpeg"/><Relationship Id="rId9" Type="http://schemas.openxmlformats.org/officeDocument/2006/relationships/image" Target="../media/image2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2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s>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sp>
        <p:nvSpPr>
          <p:cNvPr id="2" name="!!ghost"/>
          <p:cNvSpPr txBox="1"/>
          <p:nvPr/>
        </p:nvSpPr>
        <p:spPr>
          <a:xfrm>
            <a:off x="-914400" y="822960"/>
            <a:ext cx="20116800" cy="5080000"/>
          </a:xfrm>
          <a:prstGeom prst="rect">
            <a:avLst/>
          </a:prstGeom>
          <a:noFill/>
        </p:spPr>
        <p:txBody>
          <a:bodyPr wrap="square" lIns="0" rIns="0" tIns="0" bIns="0" anchor="t">
            <a:spAutoFit/>
          </a:bodyPr>
          <a:lstStyle/>
          <a:p>
            <a:pPr algn="ctr">
              <a:lnSpc>
                <a:spcPts val="36000"/>
              </a:lnSpc>
            </a:pPr>
            <a:r>
              <a:rPr sz="40000" spc="-1500">
                <a:solidFill>
                  <a:srgbClr val="FFFFFF">
                    <a:alpha val="5000"/>
                  </a:srgbClr>
                </a:solidFill>
                <a:latin typeface="Archivo Black"/>
                <a:ea typeface="Archivo Black"/>
                <a:cs typeface="Archivo Black"/>
              </a:rPr>
              <a:t>XOCO</a:t>
            </a:r>
          </a:p>
        </p:txBody>
      </p:sp>
      <p:pic>
        <p:nvPicPr>
          <p:cNvPr id="3" name="!!drip" descr="image.png"/>
          <p:cNvPicPr>
            <a:picLocks noChangeAspect="1"/>
          </p:cNvPicPr>
          <p:nvPr/>
        </p:nvPicPr>
        <p:blipFill>
          <a:blip r:embed="rId3"/>
          <a:stretch>
            <a:fillRect/>
          </a:stretch>
        </p:blipFill>
        <p:spPr>
          <a:xfrm rot="20880000">
            <a:off x="-2926080" y="6766560"/>
            <a:ext cx="5486400" cy="2829865"/>
          </a:xfrm>
          <a:prstGeom prst="rect">
            <a:avLst/>
          </a:prstGeom>
        </p:spPr>
      </p:pic>
      <p:pic>
        <p:nvPicPr>
          <p:cNvPr id="4" name="!!splash" descr="image.png"/>
          <p:cNvPicPr>
            <a:picLocks noChangeAspect="1"/>
          </p:cNvPicPr>
          <p:nvPr/>
        </p:nvPicPr>
        <p:blipFill>
          <a:blip r:embed="rId4"/>
          <a:stretch>
            <a:fillRect/>
          </a:stretch>
        </p:blipFill>
        <p:spPr>
          <a:xfrm>
            <a:off x="4572000" y="5394960"/>
            <a:ext cx="9144000" cy="5689600"/>
          </a:xfrm>
          <a:prstGeom prst="rect">
            <a:avLst/>
          </a:prstGeom>
        </p:spPr>
      </p:pic>
      <p:pic>
        <p:nvPicPr>
          <p:cNvPr id="5" name="!!chunkA" descr="image.png"/>
          <p:cNvPicPr>
            <a:picLocks noChangeAspect="1"/>
          </p:cNvPicPr>
          <p:nvPr/>
        </p:nvPicPr>
        <p:blipFill>
          <a:blip r:embed="rId5"/>
          <a:stretch>
            <a:fillRect/>
          </a:stretch>
        </p:blipFill>
        <p:spPr>
          <a:xfrm rot="20520000">
            <a:off x="-457200" y="548640"/>
            <a:ext cx="2743200" cy="3537500"/>
          </a:xfrm>
          <a:prstGeom prst="rect">
            <a:avLst/>
          </a:prstGeom>
        </p:spPr>
      </p:pic>
      <p:pic>
        <p:nvPicPr>
          <p:cNvPr id="6" name="!!chunkB" descr="image.png"/>
          <p:cNvPicPr>
            <a:picLocks noChangeAspect="1"/>
          </p:cNvPicPr>
          <p:nvPr/>
        </p:nvPicPr>
        <p:blipFill>
          <a:blip r:embed="rId6"/>
          <a:stretch>
            <a:fillRect/>
          </a:stretch>
        </p:blipFill>
        <p:spPr>
          <a:xfrm rot="480000">
            <a:off x="15910560" y="9555480"/>
            <a:ext cx="2377440" cy="1937838"/>
          </a:xfrm>
          <a:prstGeom prst="rect">
            <a:avLst/>
          </a:prstGeom>
        </p:spPr>
      </p:pic>
      <p:pic>
        <p:nvPicPr>
          <p:cNvPr id="7" name="!!bars" descr="image.png"/>
          <p:cNvPicPr>
            <a:picLocks noChangeAspect="1"/>
          </p:cNvPicPr>
          <p:nvPr/>
        </p:nvPicPr>
        <p:blipFill>
          <a:blip r:embed="rId7"/>
          <a:stretch>
            <a:fillRect/>
          </a:stretch>
        </p:blipFill>
        <p:spPr>
          <a:xfrm rot="840000">
            <a:off x="14264640" y="-274320"/>
            <a:ext cx="4023360" cy="2261652"/>
          </a:xfrm>
          <a:prstGeom prst="rect">
            <a:avLst/>
          </a:prstGeom>
        </p:spPr>
      </p:pic>
      <p:sp>
        <p:nvSpPr>
          <p:cNvPr id="8" name="!!kick"/>
          <p:cNvSpPr txBox="1"/>
          <p:nvPr/>
        </p:nvSpPr>
        <p:spPr>
          <a:xfrm>
            <a:off x="1828800" y="1188720"/>
            <a:ext cx="14630400" cy="411480"/>
          </a:xfrm>
          <a:prstGeom prst="rect">
            <a:avLst/>
          </a:prstGeom>
          <a:noFill/>
        </p:spPr>
        <p:txBody>
          <a:bodyPr wrap="square" lIns="0" rIns="0" tIns="0" bIns="0" anchor="t">
            <a:spAutoFit/>
          </a:bodyPr>
          <a:lstStyle/>
          <a:p>
            <a:pPr algn="ctr">
              <a:lnSpc>
                <a:spcPts val="2640"/>
              </a:lnSpc>
            </a:pPr>
            <a:r>
              <a:rPr sz="2200" spc="400">
                <a:solidFill>
                  <a:srgbClr val="F2C48D"/>
                </a:solidFill>
                <a:latin typeface="Poppins Semi-Bold"/>
                <a:ea typeface="Poppins Semi-Bold"/>
                <a:cs typeface="Poppins Semi-Bold"/>
              </a:rPr>
              <a:t>PLAN DE EXPORTACIÓN  ·  PROPUESTA DE PROYECTO</a:t>
            </a:r>
          </a:p>
        </p:txBody>
      </p:sp>
      <p:sp>
        <p:nvSpPr>
          <p:cNvPr id="9" name="!!t1"/>
          <p:cNvSpPr txBox="1"/>
          <p:nvPr/>
        </p:nvSpPr>
        <p:spPr>
          <a:xfrm>
            <a:off x="914400" y="1691640"/>
            <a:ext cx="16459200" cy="3108960"/>
          </a:xfrm>
          <a:prstGeom prst="rect">
            <a:avLst/>
          </a:prstGeom>
          <a:noFill/>
        </p:spPr>
        <p:txBody>
          <a:bodyPr wrap="square" lIns="0" rIns="0" tIns="0" bIns="0" anchor="t">
            <a:spAutoFit/>
          </a:bodyPr>
          <a:lstStyle/>
          <a:p>
            <a:pPr algn="ctr">
              <a:lnSpc>
                <a:spcPts val="22500"/>
              </a:lnSpc>
            </a:pPr>
            <a:r>
              <a:rPr sz="25000" spc="-1200">
                <a:solidFill>
                  <a:srgbClr val="FFFFFF"/>
                </a:solidFill>
                <a:latin typeface="Archivo Black"/>
                <a:ea typeface="Archivo Black"/>
                <a:cs typeface="Archivo Black"/>
              </a:rPr>
              <a:t>XOCO</a:t>
            </a:r>
          </a:p>
        </p:txBody>
      </p:sp>
      <p:sp>
        <p:nvSpPr>
          <p:cNvPr id="10" name="!!t2"/>
          <p:cNvSpPr txBox="1"/>
          <p:nvPr/>
        </p:nvSpPr>
        <p:spPr>
          <a:xfrm>
            <a:off x="914400" y="4572000"/>
            <a:ext cx="16459200" cy="822960"/>
          </a:xfrm>
          <a:prstGeom prst="rect">
            <a:avLst/>
          </a:prstGeom>
          <a:noFill/>
        </p:spPr>
        <p:txBody>
          <a:bodyPr wrap="square" lIns="0" rIns="0" tIns="0" bIns="0" anchor="t">
            <a:spAutoFit/>
          </a:bodyPr>
          <a:lstStyle/>
          <a:p>
            <a:pPr algn="ctr">
              <a:lnSpc>
                <a:spcPts val="5130"/>
              </a:lnSpc>
            </a:pPr>
            <a:r>
              <a:rPr sz="5400" spc="-200">
                <a:gradFill>
                  <a:gsLst>
                    <a:gs pos="0">
                      <a:srgbClr val="E0A77C"/>
                    </a:gs>
                    <a:gs pos="100000">
                      <a:srgbClr val="FFFFFF"/>
                    </a:gs>
                  </a:gsLst>
                  <a:lin ang="0" scaled="0"/>
                </a:gradFill>
                <a:latin typeface="Archivo Black"/>
                <a:ea typeface="Archivo Black"/>
                <a:cs typeface="Archivo Black"/>
              </a:rPr>
              <a:t>CHOCOLATES MEXICANOS</a:t>
            </a:r>
          </a:p>
        </p:txBody>
      </p:sp>
      <p:sp>
        <p:nvSpPr>
          <p:cNvPr id="11" name="info"/>
          <p:cNvSpPr txBox="1"/>
          <p:nvPr/>
        </p:nvSpPr>
        <p:spPr>
          <a:xfrm>
            <a:off x="822960" y="8001000"/>
            <a:ext cx="4206240" cy="1463040"/>
          </a:xfrm>
          <a:prstGeom prst="rect">
            <a:avLst/>
          </a:prstGeom>
          <a:noFill/>
        </p:spPr>
        <p:txBody>
          <a:bodyPr wrap="square" lIns="0" rIns="0" tIns="0" bIns="0" anchor="t">
            <a:spAutoFit/>
          </a:bodyPr>
          <a:lstStyle/>
          <a:p>
            <a:pPr algn="l">
              <a:lnSpc>
                <a:spcPts val="2430"/>
              </a:lnSpc>
              <a:spcAft>
                <a:spcPts val="400"/>
              </a:spcAft>
            </a:pPr>
            <a:r>
              <a:rPr sz="1800">
                <a:solidFill>
                  <a:srgbClr val="FFFFFF"/>
                </a:solidFill>
                <a:latin typeface="Poppins Bold"/>
                <a:ea typeface="Poppins Bold"/>
                <a:cs typeface="Poppins Bold"/>
              </a:rPr>
              <a:t>Aguascalientes  →  San Antonio, TX</a:t>
            </a:r>
          </a:p>
          <a:p>
            <a:pPr algn="l">
              <a:lnSpc>
                <a:spcPts val="2025"/>
              </a:lnSpc>
            </a:pPr>
            <a:r>
              <a:rPr sz="1500">
                <a:solidFill>
                  <a:srgbClr val="F7E6D3"/>
                </a:solidFill>
                <a:latin typeface="Poppins"/>
                <a:ea typeface="Poppins"/>
                <a:cs typeface="Poppins"/>
              </a:rPr>
              <a:t>Universidad Politécnica de Aguascalientes
Negocios Internacionales · Sept. 2026</a:t>
            </a:r>
          </a:p>
        </p:txBody>
      </p:sp>
      <p:sp>
        <p:nvSpPr>
          <p:cNvPr id="12" name="team"/>
          <p:cNvSpPr txBox="1"/>
          <p:nvPr/>
        </p:nvSpPr>
        <p:spPr>
          <a:xfrm>
            <a:off x="13350240" y="8001000"/>
            <a:ext cx="4206240" cy="1463040"/>
          </a:xfrm>
          <a:prstGeom prst="rect">
            <a:avLst/>
          </a:prstGeom>
          <a:noFill/>
        </p:spPr>
        <p:txBody>
          <a:bodyPr wrap="square" lIns="0" rIns="0" tIns="0" bIns="0" anchor="t">
            <a:spAutoFit/>
          </a:bodyPr>
          <a:lstStyle/>
          <a:p>
            <a:pPr algn="r">
              <a:lnSpc>
                <a:spcPts val="2430"/>
              </a:lnSpc>
              <a:spcAft>
                <a:spcPts val="400"/>
              </a:spcAft>
            </a:pPr>
            <a:r>
              <a:rPr sz="1800">
                <a:solidFill>
                  <a:srgbClr val="FFFFFF"/>
                </a:solidFill>
                <a:latin typeface="Poppins Bold"/>
                <a:ea typeface="Poppins Bold"/>
                <a:cs typeface="Poppins Bold"/>
              </a:rPr>
              <a:t>Consultores</a:t>
            </a:r>
          </a:p>
          <a:p>
            <a:pPr algn="r">
              <a:lnSpc>
                <a:spcPts val="2025"/>
              </a:lnSpc>
            </a:pPr>
            <a:r>
              <a:rPr sz="1500">
                <a:solidFill>
                  <a:srgbClr val="F7E6D3"/>
                </a:solidFill>
                <a:latin typeface="Poppins"/>
                <a:ea typeface="Poppins"/>
                <a:cs typeface="Poppins"/>
              </a:rPr>
              <a:t>Keisy Michel Chávez Cruz
Ricardo Elic Rangel
Fernando de la Cruz Márquez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sp>
        <p:nvSpPr>
          <p:cNvPr id="2" name="!!ghost"/>
          <p:cNvSpPr txBox="1"/>
          <p:nvPr/>
        </p:nvSpPr>
        <p:spPr>
          <a:xfrm>
            <a:off x="6949440" y="6583680"/>
            <a:ext cx="11887200" cy="3810000"/>
          </a:xfrm>
          <a:prstGeom prst="rect">
            <a:avLst/>
          </a:prstGeom>
          <a:noFill/>
        </p:spPr>
        <p:txBody>
          <a:bodyPr wrap="square" lIns="0" rIns="0" tIns="0" bIns="0" anchor="t">
            <a:spAutoFit/>
          </a:bodyPr>
          <a:lstStyle/>
          <a:p>
            <a:pPr algn="r">
              <a:lnSpc>
                <a:spcPts val="27000"/>
              </a:lnSpc>
            </a:pPr>
            <a:r>
              <a:rPr sz="30000" spc="-1500">
                <a:solidFill>
                  <a:srgbClr val="FFFFFF">
                    <a:alpha val="4000"/>
                  </a:srgbClr>
                </a:solidFill>
                <a:latin typeface="Archivo Black"/>
                <a:ea typeface="Archivo Black"/>
                <a:cs typeface="Archivo Black"/>
              </a:rPr>
              <a:t>XOCO</a:t>
            </a:r>
          </a:p>
        </p:txBody>
      </p:sp>
      <p:pic>
        <p:nvPicPr>
          <p:cNvPr id="3" name="!!drip" descr="image.png"/>
          <p:cNvPicPr>
            <a:picLocks noChangeAspect="1"/>
          </p:cNvPicPr>
          <p:nvPr/>
        </p:nvPicPr>
        <p:blipFill>
          <a:blip r:embed="rId3"/>
          <a:stretch>
            <a:fillRect/>
          </a:stretch>
        </p:blipFill>
        <p:spPr>
          <a:xfrm rot="11400000">
            <a:off x="14447520" y="8046720"/>
            <a:ext cx="4572000" cy="2358221"/>
          </a:xfrm>
          <a:prstGeom prst="rect">
            <a:avLst/>
          </a:prstGeom>
        </p:spPr>
      </p:pic>
      <p:pic>
        <p:nvPicPr>
          <p:cNvPr id="4" name="!!splash" descr="image.png"/>
          <p:cNvPicPr>
            <a:picLocks noChangeAspect="1"/>
          </p:cNvPicPr>
          <p:nvPr/>
        </p:nvPicPr>
        <p:blipFill>
          <a:blip r:embed="rId4"/>
          <a:stretch>
            <a:fillRect/>
          </a:stretch>
        </p:blipFill>
        <p:spPr>
          <a:xfrm rot="480000">
            <a:off x="12984480" y="-1280160"/>
            <a:ext cx="6949440" cy="4324096"/>
          </a:xfrm>
          <a:prstGeom prst="rect">
            <a:avLst/>
          </a:prstGeom>
        </p:spPr>
      </p:pic>
      <p:pic>
        <p:nvPicPr>
          <p:cNvPr id="5" name="!!chunkA" descr="image.png"/>
          <p:cNvPicPr>
            <a:picLocks noChangeAspect="1"/>
          </p:cNvPicPr>
          <p:nvPr/>
        </p:nvPicPr>
        <p:blipFill>
          <a:blip r:embed="rId5"/>
          <a:stretch>
            <a:fillRect/>
          </a:stretch>
        </p:blipFill>
        <p:spPr>
          <a:xfrm rot="19800000">
            <a:off x="274320" y="91440"/>
            <a:ext cx="1463040" cy="1886667"/>
          </a:xfrm>
          <a:prstGeom prst="rect">
            <a:avLst/>
          </a:prstGeom>
        </p:spPr>
      </p:pic>
      <p:pic>
        <p:nvPicPr>
          <p:cNvPr id="6" name="!!chunkB" descr="image.png"/>
          <p:cNvPicPr>
            <a:picLocks noChangeAspect="1"/>
          </p:cNvPicPr>
          <p:nvPr/>
        </p:nvPicPr>
        <p:blipFill>
          <a:blip r:embed="rId6"/>
          <a:stretch>
            <a:fillRect/>
          </a:stretch>
        </p:blipFill>
        <p:spPr>
          <a:xfrm rot="600000">
            <a:off x="15727680" y="8138160"/>
            <a:ext cx="2743200" cy="2235967"/>
          </a:xfrm>
          <a:prstGeom prst="rect">
            <a:avLst/>
          </a:prstGeom>
        </p:spPr>
      </p:pic>
      <p:pic>
        <p:nvPicPr>
          <p:cNvPr id="7" name="!!bars" descr="image.png"/>
          <p:cNvPicPr>
            <a:picLocks noChangeAspect="1"/>
          </p:cNvPicPr>
          <p:nvPr/>
        </p:nvPicPr>
        <p:blipFill>
          <a:blip r:embed="rId7"/>
          <a:stretch>
            <a:fillRect/>
          </a:stretch>
        </p:blipFill>
        <p:spPr>
          <a:xfrm rot="21240000">
            <a:off x="4206240" y="7589520"/>
            <a:ext cx="4114800" cy="2313053"/>
          </a:xfrm>
          <a:prstGeom prst="rect">
            <a:avLst/>
          </a:prstGeom>
        </p:spPr>
      </p:pic>
      <p:pic>
        <p:nvPicPr>
          <p:cNvPr id="8" name="!!hero" descr="image.jpeg"/>
          <p:cNvPicPr>
            <a:picLocks noChangeAspect="1"/>
          </p:cNvPicPr>
          <p:nvPr/>
        </p:nvPicPr>
        <p:blipFill>
          <a:blip r:embed="rId8"/>
          <a:srcRect l="13333" r="13333"/>
          <a:stretch>
            <a:fillRect/>
          </a:stretch>
        </p:blipFill>
        <p:spPr>
          <a:xfrm>
            <a:off x="1005840" y="1005840"/>
            <a:ext cx="6035040" cy="8229600"/>
          </a:xfrm>
          <a:prstGeom prst="roundRect">
            <a:avLst>
              <a:gd name="adj" fmla="val 5303"/>
            </a:avLst>
          </a:prstGeom>
        </p:spPr>
      </p:pic>
      <p:sp>
        <p:nvSpPr>
          <p:cNvPr id="9" name="!!kick"/>
          <p:cNvSpPr txBox="1"/>
          <p:nvPr/>
        </p:nvSpPr>
        <p:spPr>
          <a:xfrm>
            <a:off x="7863840" y="731520"/>
            <a:ext cx="100584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01 · LA EMPRESA</a:t>
            </a:r>
          </a:p>
        </p:txBody>
      </p:sp>
      <p:sp>
        <p:nvSpPr>
          <p:cNvPr id="10" name="!!t1"/>
          <p:cNvSpPr txBox="1"/>
          <p:nvPr/>
        </p:nvSpPr>
        <p:spPr>
          <a:xfrm>
            <a:off x="7863840" y="1234440"/>
            <a:ext cx="100584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DATOS GENERALES</a:t>
            </a:r>
          </a:p>
        </p:txBody>
      </p:sp>
      <p:sp>
        <p:nvSpPr>
          <p:cNvPr id="11" name="!!t2"/>
          <p:cNvSpPr txBox="1"/>
          <p:nvPr/>
        </p:nvSpPr>
        <p:spPr>
          <a:xfrm>
            <a:off x="7863840" y="1910080"/>
            <a:ext cx="100584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DE LA EMPRESA</a:t>
            </a:r>
          </a:p>
        </p:txBody>
      </p:sp>
      <p:sp>
        <p:nvSpPr>
          <p:cNvPr id="12" name="cell0"/>
          <p:cNvSpPr/>
          <p:nvPr/>
        </p:nvSpPr>
        <p:spPr>
          <a:xfrm>
            <a:off x="7863840" y="3611880"/>
            <a:ext cx="4709160" cy="1783080"/>
          </a:xfrm>
          <a:prstGeom prst="roundRect">
            <a:avLst>
              <a:gd name="adj" fmla="val 12820"/>
            </a:avLst>
          </a:prstGeom>
          <a:solidFill>
            <a:srgbClr val="FFFFFF">
              <a:alpha val="7000"/>
            </a:srgbClr>
          </a:solidFill>
          <a:ln w="12700">
            <a:solidFill>
              <a:srgbClr val="FFFFFF">
                <a:alpha val="14000"/>
              </a:srgbClr>
            </a:solidFill>
          </a:ln>
        </p:spPr>
        <p:txBody>
          <a:bodyPr rtlCol="0" anchor="ctr"/>
          <a:lstStyle/>
          <a:p/>
        </p:txBody>
      </p:sp>
      <p:sp>
        <p:nvSpPr>
          <p:cNvPr id="13" name="cellt0"/>
          <p:cNvSpPr txBox="1"/>
          <p:nvPr/>
        </p:nvSpPr>
        <p:spPr>
          <a:xfrm>
            <a:off x="8138160" y="3840480"/>
            <a:ext cx="4206240" cy="1371600"/>
          </a:xfrm>
          <a:prstGeom prst="rect">
            <a:avLst/>
          </a:prstGeom>
          <a:noFill/>
        </p:spPr>
        <p:txBody>
          <a:bodyPr wrap="square" lIns="0" rIns="0" tIns="0" bIns="0" anchor="t">
            <a:spAutoFit/>
          </a:bodyPr>
          <a:lstStyle/>
          <a:p>
            <a:pPr algn="l">
              <a:lnSpc>
                <a:spcPts val="1680"/>
              </a:lnSpc>
              <a:spcAft>
                <a:spcPts val="400"/>
              </a:spcAft>
            </a:pPr>
            <a:r>
              <a:rPr sz="1400" spc="150">
                <a:solidFill>
                  <a:srgbClr val="F2C48D"/>
                </a:solidFill>
                <a:latin typeface="Poppins Semi-Bold"/>
                <a:ea typeface="Poppins Semi-Bold"/>
                <a:cs typeface="Poppins Semi-Bold"/>
              </a:rPr>
              <a:t>RAZÓN SOCIAL</a:t>
            </a:r>
          </a:p>
          <a:p>
            <a:pPr algn="l">
              <a:lnSpc>
                <a:spcPts val="2600"/>
              </a:lnSpc>
            </a:pPr>
            <a:r>
              <a:rPr sz="2000">
                <a:solidFill>
                  <a:srgbClr val="FFFFFF"/>
                </a:solidFill>
                <a:latin typeface="Poppins"/>
                <a:ea typeface="Poppins"/>
                <a:cs typeface="Poppins"/>
              </a:rPr>
              <a:t>XOCO Chocolates Mexicanos, S. de R.L. de C.V.</a:t>
            </a:r>
          </a:p>
        </p:txBody>
      </p:sp>
      <p:sp>
        <p:nvSpPr>
          <p:cNvPr id="14" name="cell1"/>
          <p:cNvSpPr/>
          <p:nvPr/>
        </p:nvSpPr>
        <p:spPr>
          <a:xfrm>
            <a:off x="12847320" y="3611880"/>
            <a:ext cx="4709160" cy="1783080"/>
          </a:xfrm>
          <a:prstGeom prst="roundRect">
            <a:avLst>
              <a:gd name="adj" fmla="val 12820"/>
            </a:avLst>
          </a:prstGeom>
          <a:solidFill>
            <a:srgbClr val="FFFFFF">
              <a:alpha val="7000"/>
            </a:srgbClr>
          </a:solidFill>
          <a:ln w="12700">
            <a:solidFill>
              <a:srgbClr val="FFFFFF">
                <a:alpha val="14000"/>
              </a:srgbClr>
            </a:solidFill>
          </a:ln>
        </p:spPr>
        <p:txBody>
          <a:bodyPr rtlCol="0" anchor="ctr"/>
          <a:lstStyle/>
          <a:p/>
        </p:txBody>
      </p:sp>
      <p:sp>
        <p:nvSpPr>
          <p:cNvPr id="15" name="cellt1"/>
          <p:cNvSpPr txBox="1"/>
          <p:nvPr/>
        </p:nvSpPr>
        <p:spPr>
          <a:xfrm>
            <a:off x="13121640" y="3840480"/>
            <a:ext cx="4206240" cy="1371600"/>
          </a:xfrm>
          <a:prstGeom prst="rect">
            <a:avLst/>
          </a:prstGeom>
          <a:noFill/>
        </p:spPr>
        <p:txBody>
          <a:bodyPr wrap="square" lIns="0" rIns="0" tIns="0" bIns="0" anchor="t">
            <a:spAutoFit/>
          </a:bodyPr>
          <a:lstStyle/>
          <a:p>
            <a:pPr algn="l">
              <a:lnSpc>
                <a:spcPts val="1680"/>
              </a:lnSpc>
              <a:spcAft>
                <a:spcPts val="400"/>
              </a:spcAft>
            </a:pPr>
            <a:r>
              <a:rPr sz="1400" spc="150">
                <a:solidFill>
                  <a:srgbClr val="F2C48D"/>
                </a:solidFill>
                <a:latin typeface="Poppins Semi-Bold"/>
                <a:ea typeface="Poppins Semi-Bold"/>
                <a:cs typeface="Poppins Semi-Bold"/>
              </a:rPr>
              <a:t>PROPIETARIO / DIRECTOR</a:t>
            </a:r>
          </a:p>
          <a:p>
            <a:pPr algn="l">
              <a:lnSpc>
                <a:spcPts val="2600"/>
              </a:lnSpc>
            </a:pPr>
            <a:r>
              <a:rPr sz="2000">
                <a:solidFill>
                  <a:srgbClr val="FFFFFF"/>
                </a:solidFill>
                <a:latin typeface="Poppins"/>
                <a:ea typeface="Poppins"/>
                <a:cs typeface="Poppins"/>
              </a:rPr>
              <a:t>Alejandro Hernández Ramírez</a:t>
            </a:r>
          </a:p>
        </p:txBody>
      </p:sp>
      <p:sp>
        <p:nvSpPr>
          <p:cNvPr id="16" name="cell2"/>
          <p:cNvSpPr/>
          <p:nvPr/>
        </p:nvSpPr>
        <p:spPr>
          <a:xfrm>
            <a:off x="7863840" y="5623560"/>
            <a:ext cx="4709160" cy="1783080"/>
          </a:xfrm>
          <a:prstGeom prst="roundRect">
            <a:avLst>
              <a:gd name="adj" fmla="val 12820"/>
            </a:avLst>
          </a:prstGeom>
          <a:solidFill>
            <a:srgbClr val="FFFFFF">
              <a:alpha val="7000"/>
            </a:srgbClr>
          </a:solidFill>
          <a:ln w="12700">
            <a:solidFill>
              <a:srgbClr val="FFFFFF">
                <a:alpha val="14000"/>
              </a:srgbClr>
            </a:solidFill>
          </a:ln>
        </p:spPr>
        <p:txBody>
          <a:bodyPr rtlCol="0" anchor="ctr"/>
          <a:lstStyle/>
          <a:p/>
        </p:txBody>
      </p:sp>
      <p:sp>
        <p:nvSpPr>
          <p:cNvPr id="17" name="cellt2"/>
          <p:cNvSpPr txBox="1"/>
          <p:nvPr/>
        </p:nvSpPr>
        <p:spPr>
          <a:xfrm>
            <a:off x="8138160" y="5852160"/>
            <a:ext cx="4206240" cy="1371600"/>
          </a:xfrm>
          <a:prstGeom prst="rect">
            <a:avLst/>
          </a:prstGeom>
          <a:noFill/>
        </p:spPr>
        <p:txBody>
          <a:bodyPr wrap="square" lIns="0" rIns="0" tIns="0" bIns="0" anchor="t">
            <a:spAutoFit/>
          </a:bodyPr>
          <a:lstStyle/>
          <a:p>
            <a:pPr algn="l">
              <a:lnSpc>
                <a:spcPts val="1680"/>
              </a:lnSpc>
              <a:spcAft>
                <a:spcPts val="400"/>
              </a:spcAft>
            </a:pPr>
            <a:r>
              <a:rPr sz="1400" spc="150">
                <a:solidFill>
                  <a:srgbClr val="F2C48D"/>
                </a:solidFill>
                <a:latin typeface="Poppins Semi-Bold"/>
                <a:ea typeface="Poppins Semi-Bold"/>
                <a:cs typeface="Poppins Semi-Bold"/>
              </a:rPr>
              <a:t>SECTOR</a:t>
            </a:r>
          </a:p>
          <a:p>
            <a:pPr algn="l">
              <a:lnSpc>
                <a:spcPts val="2600"/>
              </a:lnSpc>
            </a:pPr>
            <a:r>
              <a:rPr sz="2000">
                <a:solidFill>
                  <a:srgbClr val="FFFFFF"/>
                </a:solidFill>
                <a:latin typeface="Poppins"/>
                <a:ea typeface="Poppins"/>
                <a:cs typeface="Poppins"/>
              </a:rPr>
              <a:t>Industria alimentaria: chocolate y derivados del cacao</a:t>
            </a:r>
          </a:p>
        </p:txBody>
      </p:sp>
      <p:sp>
        <p:nvSpPr>
          <p:cNvPr id="18" name="cell3"/>
          <p:cNvSpPr/>
          <p:nvPr/>
        </p:nvSpPr>
        <p:spPr>
          <a:xfrm>
            <a:off x="12847320" y="5623560"/>
            <a:ext cx="4709160" cy="1783080"/>
          </a:xfrm>
          <a:prstGeom prst="roundRect">
            <a:avLst>
              <a:gd name="adj" fmla="val 12820"/>
            </a:avLst>
          </a:prstGeom>
          <a:solidFill>
            <a:srgbClr val="FFFFFF">
              <a:alpha val="7000"/>
            </a:srgbClr>
          </a:solidFill>
          <a:ln w="12700">
            <a:solidFill>
              <a:srgbClr val="FFFFFF">
                <a:alpha val="14000"/>
              </a:srgbClr>
            </a:solidFill>
          </a:ln>
        </p:spPr>
        <p:txBody>
          <a:bodyPr rtlCol="0" anchor="ctr"/>
          <a:lstStyle/>
          <a:p/>
        </p:txBody>
      </p:sp>
      <p:sp>
        <p:nvSpPr>
          <p:cNvPr id="19" name="cellt3"/>
          <p:cNvSpPr txBox="1"/>
          <p:nvPr/>
        </p:nvSpPr>
        <p:spPr>
          <a:xfrm>
            <a:off x="13121640" y="5852160"/>
            <a:ext cx="4206240" cy="1371600"/>
          </a:xfrm>
          <a:prstGeom prst="rect">
            <a:avLst/>
          </a:prstGeom>
          <a:noFill/>
        </p:spPr>
        <p:txBody>
          <a:bodyPr wrap="square" lIns="0" rIns="0" tIns="0" bIns="0" anchor="t">
            <a:spAutoFit/>
          </a:bodyPr>
          <a:lstStyle/>
          <a:p>
            <a:pPr algn="l">
              <a:lnSpc>
                <a:spcPts val="1680"/>
              </a:lnSpc>
              <a:spcAft>
                <a:spcPts val="400"/>
              </a:spcAft>
            </a:pPr>
            <a:r>
              <a:rPr sz="1400" spc="150">
                <a:solidFill>
                  <a:srgbClr val="F2C48D"/>
                </a:solidFill>
                <a:latin typeface="Poppins Semi-Bold"/>
                <a:ea typeface="Poppins Semi-Bold"/>
                <a:cs typeface="Poppins Semi-Bold"/>
              </a:rPr>
              <a:t>PRODUCTO</a:t>
            </a:r>
          </a:p>
          <a:p>
            <a:pPr algn="l">
              <a:lnSpc>
                <a:spcPts val="2600"/>
              </a:lnSpc>
            </a:pPr>
            <a:r>
              <a:rPr sz="2000">
                <a:solidFill>
                  <a:srgbClr val="FFFFFF"/>
                </a:solidFill>
                <a:latin typeface="Poppins"/>
                <a:ea typeface="Poppins"/>
                <a:cs typeface="Poppins"/>
              </a:rPr>
              <a:t>Barra de chocolate mexicano artesanal de 80 g</a:t>
            </a:r>
          </a:p>
        </p:txBody>
      </p:sp>
      <p:sp>
        <p:nvSpPr>
          <p:cNvPr id="20" name="cell4"/>
          <p:cNvSpPr/>
          <p:nvPr/>
        </p:nvSpPr>
        <p:spPr>
          <a:xfrm>
            <a:off x="7863840" y="7635240"/>
            <a:ext cx="4709160" cy="1783080"/>
          </a:xfrm>
          <a:prstGeom prst="roundRect">
            <a:avLst>
              <a:gd name="adj" fmla="val 12820"/>
            </a:avLst>
          </a:prstGeom>
          <a:solidFill>
            <a:srgbClr val="FFFFFF">
              <a:alpha val="7000"/>
            </a:srgbClr>
          </a:solidFill>
          <a:ln w="12700">
            <a:solidFill>
              <a:srgbClr val="FFFFFF">
                <a:alpha val="14000"/>
              </a:srgbClr>
            </a:solidFill>
          </a:ln>
        </p:spPr>
        <p:txBody>
          <a:bodyPr rtlCol="0" anchor="ctr"/>
          <a:lstStyle/>
          <a:p/>
        </p:txBody>
      </p:sp>
      <p:sp>
        <p:nvSpPr>
          <p:cNvPr id="21" name="cellt4"/>
          <p:cNvSpPr txBox="1"/>
          <p:nvPr/>
        </p:nvSpPr>
        <p:spPr>
          <a:xfrm>
            <a:off x="8138160" y="7863840"/>
            <a:ext cx="4206240" cy="1371600"/>
          </a:xfrm>
          <a:prstGeom prst="rect">
            <a:avLst/>
          </a:prstGeom>
          <a:noFill/>
        </p:spPr>
        <p:txBody>
          <a:bodyPr wrap="square" lIns="0" rIns="0" tIns="0" bIns="0" anchor="t">
            <a:spAutoFit/>
          </a:bodyPr>
          <a:lstStyle/>
          <a:p>
            <a:pPr algn="l">
              <a:lnSpc>
                <a:spcPts val="1680"/>
              </a:lnSpc>
              <a:spcAft>
                <a:spcPts val="400"/>
              </a:spcAft>
            </a:pPr>
            <a:r>
              <a:rPr sz="1400" spc="150">
                <a:solidFill>
                  <a:srgbClr val="F2C48D"/>
                </a:solidFill>
                <a:latin typeface="Poppins Semi-Bold"/>
                <a:ea typeface="Poppins Semi-Bold"/>
                <a:cs typeface="Poppins Semi-Bold"/>
              </a:rPr>
              <a:t>UBICACIÓN</a:t>
            </a:r>
          </a:p>
          <a:p>
            <a:pPr algn="l">
              <a:lnSpc>
                <a:spcPts val="2600"/>
              </a:lnSpc>
            </a:pPr>
            <a:r>
              <a:rPr sz="2000">
                <a:solidFill>
                  <a:srgbClr val="FFFFFF"/>
                </a:solidFill>
                <a:latin typeface="Poppins"/>
                <a:ea typeface="Poppins"/>
                <a:cs typeface="Poppins"/>
              </a:rPr>
              <a:t>Av. Convención de 1914 #1250, Centro, Aguascalientes</a:t>
            </a:r>
          </a:p>
        </p:txBody>
      </p:sp>
      <p:sp>
        <p:nvSpPr>
          <p:cNvPr id="22" name="cell5"/>
          <p:cNvSpPr/>
          <p:nvPr/>
        </p:nvSpPr>
        <p:spPr>
          <a:xfrm>
            <a:off x="12847320" y="7635240"/>
            <a:ext cx="4709160" cy="1783080"/>
          </a:xfrm>
          <a:prstGeom prst="roundRect">
            <a:avLst>
              <a:gd name="adj" fmla="val 12820"/>
            </a:avLst>
          </a:prstGeom>
          <a:solidFill>
            <a:srgbClr val="FFFFFF">
              <a:alpha val="7000"/>
            </a:srgbClr>
          </a:solidFill>
          <a:ln w="12700">
            <a:solidFill>
              <a:srgbClr val="FFFFFF">
                <a:alpha val="14000"/>
              </a:srgbClr>
            </a:solidFill>
          </a:ln>
        </p:spPr>
        <p:txBody>
          <a:bodyPr rtlCol="0" anchor="ctr"/>
          <a:lstStyle/>
          <a:p/>
        </p:txBody>
      </p:sp>
      <p:sp>
        <p:nvSpPr>
          <p:cNvPr id="23" name="cellt5"/>
          <p:cNvSpPr txBox="1"/>
          <p:nvPr/>
        </p:nvSpPr>
        <p:spPr>
          <a:xfrm>
            <a:off x="13121640" y="7863840"/>
            <a:ext cx="4206240" cy="1371600"/>
          </a:xfrm>
          <a:prstGeom prst="rect">
            <a:avLst/>
          </a:prstGeom>
          <a:noFill/>
        </p:spPr>
        <p:txBody>
          <a:bodyPr wrap="square" lIns="0" rIns="0" tIns="0" bIns="0" anchor="t">
            <a:spAutoFit/>
          </a:bodyPr>
          <a:lstStyle/>
          <a:p>
            <a:pPr algn="l">
              <a:lnSpc>
                <a:spcPts val="1680"/>
              </a:lnSpc>
              <a:spcAft>
                <a:spcPts val="400"/>
              </a:spcAft>
            </a:pPr>
            <a:r>
              <a:rPr sz="1400" spc="150">
                <a:solidFill>
                  <a:srgbClr val="F2C48D"/>
                </a:solidFill>
                <a:latin typeface="Poppins Semi-Bold"/>
                <a:ea typeface="Poppins Semi-Bold"/>
                <a:cs typeface="Poppins Semi-Bold"/>
              </a:rPr>
              <a:t>MERCADO META</a:t>
            </a:r>
          </a:p>
          <a:p>
            <a:pPr algn="l">
              <a:lnSpc>
                <a:spcPts val="2600"/>
              </a:lnSpc>
            </a:pPr>
            <a:r>
              <a:rPr sz="2000">
                <a:solidFill>
                  <a:srgbClr val="FFFFFF"/>
                </a:solidFill>
                <a:latin typeface="Poppins"/>
                <a:ea typeface="Poppins"/>
                <a:cs typeface="Poppins"/>
              </a:rPr>
              <a:t>San Antonio, Texas, Estados Unidos</a:t>
            </a:r>
          </a:p>
        </p:txBody>
      </p:sp>
      <p:sp>
        <p:nvSpPr>
          <p:cNvPr id="24" name="rfc"/>
          <p:cNvSpPr txBox="1"/>
          <p:nvPr/>
        </p:nvSpPr>
        <p:spPr>
          <a:xfrm>
            <a:off x="7863840" y="9646920"/>
            <a:ext cx="9144000" cy="320040"/>
          </a:xfrm>
          <a:prstGeom prst="rect">
            <a:avLst/>
          </a:prstGeom>
          <a:noFill/>
        </p:spPr>
        <p:txBody>
          <a:bodyPr wrap="square" lIns="0" rIns="0" tIns="0" bIns="0" anchor="t">
            <a:spAutoFit/>
          </a:bodyPr>
          <a:lstStyle/>
          <a:p>
            <a:pPr algn="l">
              <a:lnSpc>
                <a:spcPts val="1560"/>
              </a:lnSpc>
            </a:pPr>
            <a:r>
              <a:rPr sz="1300">
                <a:solidFill>
                  <a:srgbClr val="F7E6D3">
                    <a:alpha val="80000"/>
                  </a:srgbClr>
                </a:solidFill>
                <a:latin typeface="Poppins"/>
                <a:ea typeface="Poppins"/>
                <a:cs typeface="Poppins"/>
              </a:rPr>
              <a:t>RFC XCM260109AB1  ·  alejandro.hernandez@xoco.mx</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sp>
        <p:nvSpPr>
          <p:cNvPr id="2" name="!!ghost"/>
          <p:cNvSpPr txBox="1"/>
          <p:nvPr/>
        </p:nvSpPr>
        <p:spPr>
          <a:xfrm>
            <a:off x="-731520" y="6675120"/>
            <a:ext cx="11887200" cy="3810000"/>
          </a:xfrm>
          <a:prstGeom prst="rect">
            <a:avLst/>
          </a:prstGeom>
          <a:noFill/>
        </p:spPr>
        <p:txBody>
          <a:bodyPr wrap="square" lIns="0" rIns="0" tIns="0" bIns="0" anchor="t">
            <a:spAutoFit/>
          </a:bodyPr>
          <a:lstStyle/>
          <a:p>
            <a:pPr algn="l">
              <a:lnSpc>
                <a:spcPts val="27000"/>
              </a:lnSpc>
            </a:pPr>
            <a:r>
              <a:rPr sz="30000" spc="-1500">
                <a:solidFill>
                  <a:srgbClr val="FFFFFF">
                    <a:alpha val="4000"/>
                  </a:srgbClr>
                </a:solidFill>
                <a:latin typeface="Archivo Black"/>
                <a:ea typeface="Archivo Black"/>
                <a:cs typeface="Archivo Black"/>
              </a:rPr>
              <a:t>XOCO</a:t>
            </a:r>
          </a:p>
        </p:txBody>
      </p:sp>
      <p:pic>
        <p:nvPicPr>
          <p:cNvPr id="3" name="!!drip" descr="image.png"/>
          <p:cNvPicPr>
            <a:picLocks noChangeAspect="1"/>
          </p:cNvPicPr>
          <p:nvPr/>
        </p:nvPicPr>
        <p:blipFill>
          <a:blip r:embed="rId3"/>
          <a:stretch>
            <a:fillRect/>
          </a:stretch>
        </p:blipFill>
        <p:spPr>
          <a:xfrm>
            <a:off x="12344400" y="-1463040"/>
            <a:ext cx="5486400" cy="2829865"/>
          </a:xfrm>
          <a:prstGeom prst="rect">
            <a:avLst/>
          </a:prstGeom>
        </p:spPr>
      </p:pic>
      <p:pic>
        <p:nvPicPr>
          <p:cNvPr id="4" name="!!splash" descr="image.png"/>
          <p:cNvPicPr>
            <a:picLocks noChangeAspect="1"/>
          </p:cNvPicPr>
          <p:nvPr/>
        </p:nvPicPr>
        <p:blipFill>
          <a:blip r:embed="rId4"/>
          <a:stretch>
            <a:fillRect/>
          </a:stretch>
        </p:blipFill>
        <p:spPr>
          <a:xfrm rot="21120000">
            <a:off x="-4206240" y="-2651760"/>
            <a:ext cx="6400800" cy="3982720"/>
          </a:xfrm>
          <a:prstGeom prst="rect">
            <a:avLst/>
          </a:prstGeom>
        </p:spPr>
      </p:pic>
      <p:pic>
        <p:nvPicPr>
          <p:cNvPr id="5" name="!!chunkA" descr="image.png"/>
          <p:cNvPicPr>
            <a:picLocks noChangeAspect="1"/>
          </p:cNvPicPr>
          <p:nvPr/>
        </p:nvPicPr>
        <p:blipFill>
          <a:blip r:embed="rId5"/>
          <a:stretch>
            <a:fillRect/>
          </a:stretch>
        </p:blipFill>
        <p:spPr>
          <a:xfrm rot="1200000">
            <a:off x="10241280" y="8229600"/>
            <a:ext cx="1554480" cy="2004583"/>
          </a:xfrm>
          <a:prstGeom prst="rect">
            <a:avLst/>
          </a:prstGeom>
        </p:spPr>
      </p:pic>
      <p:pic>
        <p:nvPicPr>
          <p:cNvPr id="6" name="!!chunkB" descr="image.png"/>
          <p:cNvPicPr>
            <a:picLocks noChangeAspect="1"/>
          </p:cNvPicPr>
          <p:nvPr/>
        </p:nvPicPr>
        <p:blipFill>
          <a:blip r:embed="rId6"/>
          <a:stretch>
            <a:fillRect/>
          </a:stretch>
        </p:blipFill>
        <p:spPr>
          <a:xfrm rot="9600000">
            <a:off x="16093440" y="-548640"/>
            <a:ext cx="2377440" cy="1937838"/>
          </a:xfrm>
          <a:prstGeom prst="rect">
            <a:avLst/>
          </a:prstGeom>
        </p:spPr>
      </p:pic>
      <p:pic>
        <p:nvPicPr>
          <p:cNvPr id="7" name="!!bars" descr="image.png"/>
          <p:cNvPicPr>
            <a:picLocks noChangeAspect="1"/>
          </p:cNvPicPr>
          <p:nvPr/>
        </p:nvPicPr>
        <p:blipFill>
          <a:blip r:embed="rId7"/>
          <a:stretch>
            <a:fillRect/>
          </a:stretch>
        </p:blipFill>
        <p:spPr>
          <a:xfrm rot="240000">
            <a:off x="14264640" y="8138160"/>
            <a:ext cx="3840480" cy="2158850"/>
          </a:xfrm>
          <a:prstGeom prst="rect">
            <a:avLst/>
          </a:prstGeom>
        </p:spPr>
      </p:pic>
      <p:pic>
        <p:nvPicPr>
          <p:cNvPr id="8" name="!!hero" descr="image.jpeg"/>
          <p:cNvPicPr>
            <a:picLocks noChangeAspect="1"/>
          </p:cNvPicPr>
          <p:nvPr/>
        </p:nvPicPr>
        <p:blipFill>
          <a:blip r:embed="rId8"/>
          <a:srcRect t="2872" b="4308"/>
          <a:stretch>
            <a:fillRect/>
          </a:stretch>
        </p:blipFill>
        <p:spPr>
          <a:xfrm>
            <a:off x="11338560" y="1005840"/>
            <a:ext cx="5943600" cy="8275320"/>
          </a:xfrm>
          <a:prstGeom prst="roundRect">
            <a:avLst>
              <a:gd name="adj" fmla="val 5384"/>
            </a:avLst>
          </a:prstGeom>
        </p:spPr>
      </p:pic>
      <p:sp>
        <p:nvSpPr>
          <p:cNvPr id="9" name="!!kick"/>
          <p:cNvSpPr txBox="1"/>
          <p:nvPr/>
        </p:nvSpPr>
        <p:spPr>
          <a:xfrm>
            <a:off x="1097280" y="731520"/>
            <a:ext cx="96012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02 · QUIÉNES SOMOS</a:t>
            </a:r>
          </a:p>
        </p:txBody>
      </p:sp>
      <p:sp>
        <p:nvSpPr>
          <p:cNvPr id="10" name="!!t1"/>
          <p:cNvSpPr txBox="1"/>
          <p:nvPr/>
        </p:nvSpPr>
        <p:spPr>
          <a:xfrm>
            <a:off x="1097280" y="1234440"/>
            <a:ext cx="96012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IDENTIDAD</a:t>
            </a:r>
          </a:p>
        </p:txBody>
      </p:sp>
      <p:sp>
        <p:nvSpPr>
          <p:cNvPr id="11" name="!!t2"/>
          <p:cNvSpPr txBox="1"/>
          <p:nvPr/>
        </p:nvSpPr>
        <p:spPr>
          <a:xfrm>
            <a:off x="1097280" y="1910080"/>
            <a:ext cx="96012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ESTRATÉGICA</a:t>
            </a:r>
          </a:p>
        </p:txBody>
      </p:sp>
      <p:sp>
        <p:nvSpPr>
          <p:cNvPr id="12" name="mv0"/>
          <p:cNvSpPr/>
          <p:nvPr/>
        </p:nvSpPr>
        <p:spPr>
          <a:xfrm>
            <a:off x="1097280" y="3566160"/>
            <a:ext cx="9509760" cy="1920240"/>
          </a:xfrm>
          <a:prstGeom prst="roundRect">
            <a:avLst>
              <a:gd name="adj" fmla="val 11904"/>
            </a:avLst>
          </a:prstGeom>
          <a:solidFill>
            <a:srgbClr val="FFFFFF">
              <a:alpha val="7000"/>
            </a:srgbClr>
          </a:solidFill>
          <a:ln w="12700">
            <a:solidFill>
              <a:srgbClr val="FFFFFF">
                <a:alpha val="16000"/>
              </a:srgbClr>
            </a:solidFill>
          </a:ln>
        </p:spPr>
        <p:txBody>
          <a:bodyPr rtlCol="0" anchor="ctr"/>
          <a:lstStyle/>
          <a:p/>
        </p:txBody>
      </p:sp>
      <p:sp>
        <p:nvSpPr>
          <p:cNvPr id="13" name="mvk0"/>
          <p:cNvSpPr txBox="1"/>
          <p:nvPr/>
        </p:nvSpPr>
        <p:spPr>
          <a:xfrm>
            <a:off x="1417320" y="3822192"/>
            <a:ext cx="2011680" cy="457200"/>
          </a:xfrm>
          <a:prstGeom prst="rect">
            <a:avLst/>
          </a:prstGeom>
          <a:noFill/>
        </p:spPr>
        <p:txBody>
          <a:bodyPr wrap="square" lIns="0" rIns="0" tIns="0" bIns="0" anchor="t">
            <a:spAutoFit/>
          </a:bodyPr>
          <a:lstStyle/>
          <a:p>
            <a:pPr algn="l">
              <a:lnSpc>
                <a:spcPts val="1920"/>
              </a:lnSpc>
            </a:pPr>
            <a:r>
              <a:rPr sz="1600" spc="200">
                <a:solidFill>
                  <a:srgbClr val="F2C48D"/>
                </a:solidFill>
                <a:latin typeface="Poppins Semi-Bold"/>
                <a:ea typeface="Poppins Semi-Bold"/>
                <a:cs typeface="Poppins Semi-Bold"/>
              </a:rPr>
              <a:t>MISIÓN</a:t>
            </a:r>
          </a:p>
        </p:txBody>
      </p:sp>
      <p:sp>
        <p:nvSpPr>
          <p:cNvPr id="14" name="mvt0"/>
          <p:cNvSpPr txBox="1"/>
          <p:nvPr/>
        </p:nvSpPr>
        <p:spPr>
          <a:xfrm>
            <a:off x="3291840" y="3794760"/>
            <a:ext cx="7040880" cy="1508760"/>
          </a:xfrm>
          <a:prstGeom prst="rect">
            <a:avLst/>
          </a:prstGeom>
          <a:noFill/>
        </p:spPr>
        <p:txBody>
          <a:bodyPr wrap="square" lIns="0" rIns="0" tIns="0" bIns="0" anchor="t">
            <a:spAutoFit/>
          </a:bodyPr>
          <a:lstStyle/>
          <a:p>
            <a:pPr algn="l">
              <a:lnSpc>
                <a:spcPts val="2565"/>
              </a:lnSpc>
            </a:pPr>
            <a:r>
              <a:rPr sz="1900">
                <a:solidFill>
                  <a:srgbClr val="FFFFFF"/>
                </a:solidFill>
                <a:latin typeface="Poppins"/>
                <a:ea typeface="Poppins"/>
                <a:cs typeface="Poppins"/>
              </a:rPr>
              <a:t>Elaborar barras de chocolate mexicano de alta calidad con cacao e ingredientes tradicionales, para ofrecer una experiencia auténtica de la riqueza cultural de México.</a:t>
            </a:r>
          </a:p>
        </p:txBody>
      </p:sp>
      <p:sp>
        <p:nvSpPr>
          <p:cNvPr id="15" name="mv1"/>
          <p:cNvSpPr/>
          <p:nvPr/>
        </p:nvSpPr>
        <p:spPr>
          <a:xfrm>
            <a:off x="1097280" y="5715000"/>
            <a:ext cx="9509760" cy="1920240"/>
          </a:xfrm>
          <a:prstGeom prst="roundRect">
            <a:avLst>
              <a:gd name="adj" fmla="val 11904"/>
            </a:avLst>
          </a:prstGeom>
          <a:solidFill>
            <a:srgbClr val="FFFFFF">
              <a:alpha val="7000"/>
            </a:srgbClr>
          </a:solidFill>
          <a:ln w="12700">
            <a:solidFill>
              <a:srgbClr val="FFFFFF">
                <a:alpha val="16000"/>
              </a:srgbClr>
            </a:solidFill>
          </a:ln>
        </p:spPr>
        <p:txBody>
          <a:bodyPr rtlCol="0" anchor="ctr"/>
          <a:lstStyle/>
          <a:p/>
        </p:txBody>
      </p:sp>
      <p:sp>
        <p:nvSpPr>
          <p:cNvPr id="16" name="mvk1"/>
          <p:cNvSpPr txBox="1"/>
          <p:nvPr/>
        </p:nvSpPr>
        <p:spPr>
          <a:xfrm>
            <a:off x="1417320" y="5971032"/>
            <a:ext cx="2011680" cy="457200"/>
          </a:xfrm>
          <a:prstGeom prst="rect">
            <a:avLst/>
          </a:prstGeom>
          <a:noFill/>
        </p:spPr>
        <p:txBody>
          <a:bodyPr wrap="square" lIns="0" rIns="0" tIns="0" bIns="0" anchor="t">
            <a:spAutoFit/>
          </a:bodyPr>
          <a:lstStyle/>
          <a:p>
            <a:pPr algn="l">
              <a:lnSpc>
                <a:spcPts val="1920"/>
              </a:lnSpc>
            </a:pPr>
            <a:r>
              <a:rPr sz="1600" spc="200">
                <a:solidFill>
                  <a:srgbClr val="F2C48D"/>
                </a:solidFill>
                <a:latin typeface="Poppins Semi-Bold"/>
                <a:ea typeface="Poppins Semi-Bold"/>
                <a:cs typeface="Poppins Semi-Bold"/>
              </a:rPr>
              <a:t>VISIÓN</a:t>
            </a:r>
          </a:p>
        </p:txBody>
      </p:sp>
      <p:sp>
        <p:nvSpPr>
          <p:cNvPr id="17" name="mvt1"/>
          <p:cNvSpPr txBox="1"/>
          <p:nvPr/>
        </p:nvSpPr>
        <p:spPr>
          <a:xfrm>
            <a:off x="3291840" y="5943600"/>
            <a:ext cx="7040880" cy="1508760"/>
          </a:xfrm>
          <a:prstGeom prst="rect">
            <a:avLst/>
          </a:prstGeom>
          <a:noFill/>
        </p:spPr>
        <p:txBody>
          <a:bodyPr wrap="square" lIns="0" rIns="0" tIns="0" bIns="0" anchor="t">
            <a:spAutoFit/>
          </a:bodyPr>
          <a:lstStyle/>
          <a:p>
            <a:pPr algn="l">
              <a:lnSpc>
                <a:spcPts val="2565"/>
              </a:lnSpc>
            </a:pPr>
            <a:r>
              <a:rPr sz="1900">
                <a:solidFill>
                  <a:srgbClr val="FFFFFF"/>
                </a:solidFill>
                <a:latin typeface="Poppins"/>
                <a:ea typeface="Poppins"/>
                <a:cs typeface="Poppins"/>
              </a:rPr>
              <a:t>Ser una marca mexicana de chocolate reconocida en EE. UU. por su calidad, innovación e identidad prehispánica.</a:t>
            </a:r>
          </a:p>
        </p:txBody>
      </p:sp>
      <p:sp>
        <p:nvSpPr>
          <p:cNvPr id="18" name="val0"/>
          <p:cNvSpPr/>
          <p:nvPr/>
        </p:nvSpPr>
        <p:spPr>
          <a:xfrm>
            <a:off x="1097280" y="8001000"/>
            <a:ext cx="3017520" cy="594360"/>
          </a:xfrm>
          <a:prstGeom prst="roundRect">
            <a:avLst>
              <a:gd name="adj" fmla="val 49230"/>
            </a:avLst>
          </a:prstGeom>
          <a:solidFill>
            <a:srgbClr val="F2C48D">
              <a:alpha val="16000"/>
            </a:srgbClr>
          </a:solidFill>
          <a:ln w="12700">
            <a:noFill/>
          </a:ln>
        </p:spPr>
        <p:txBody>
          <a:bodyPr rtlCol="0" anchor="ctr"/>
          <a:lstStyle/>
          <a:p/>
        </p:txBody>
      </p:sp>
      <p:sp>
        <p:nvSpPr>
          <p:cNvPr id="19" name="valt0"/>
          <p:cNvSpPr txBox="1"/>
          <p:nvPr/>
        </p:nvSpPr>
        <p:spPr>
          <a:xfrm>
            <a:off x="1097280" y="8001000"/>
            <a:ext cx="3017520" cy="594360"/>
          </a:xfrm>
          <a:prstGeom prst="rect">
            <a:avLst/>
          </a:prstGeom>
          <a:noFill/>
        </p:spPr>
        <p:txBody>
          <a:bodyPr wrap="square" lIns="0" rIns="0" tIns="0" bIns="0" anchor="ctr">
            <a:spAutoFit/>
          </a:bodyPr>
          <a:lstStyle/>
          <a:p>
            <a:pPr algn="ctr">
              <a:lnSpc>
                <a:spcPts val="1920"/>
              </a:lnSpc>
            </a:pPr>
            <a:r>
              <a:rPr sz="1600">
                <a:solidFill>
                  <a:srgbClr val="FFFFFF"/>
                </a:solidFill>
                <a:latin typeface="Poppins Semi-Bold"/>
                <a:ea typeface="Poppins Semi-Bold"/>
                <a:cs typeface="Poppins Semi-Bold"/>
              </a:rPr>
              <a:t>Calidad</a:t>
            </a:r>
          </a:p>
        </p:txBody>
      </p:sp>
      <p:sp>
        <p:nvSpPr>
          <p:cNvPr id="20" name="val1"/>
          <p:cNvSpPr/>
          <p:nvPr/>
        </p:nvSpPr>
        <p:spPr>
          <a:xfrm>
            <a:off x="4343400" y="8001000"/>
            <a:ext cx="3017520" cy="594360"/>
          </a:xfrm>
          <a:prstGeom prst="roundRect">
            <a:avLst>
              <a:gd name="adj" fmla="val 49230"/>
            </a:avLst>
          </a:prstGeom>
          <a:solidFill>
            <a:srgbClr val="F2C48D">
              <a:alpha val="16000"/>
            </a:srgbClr>
          </a:solidFill>
          <a:ln w="12700">
            <a:noFill/>
          </a:ln>
        </p:spPr>
        <p:txBody>
          <a:bodyPr rtlCol="0" anchor="ctr"/>
          <a:lstStyle/>
          <a:p/>
        </p:txBody>
      </p:sp>
      <p:sp>
        <p:nvSpPr>
          <p:cNvPr id="21" name="valt1"/>
          <p:cNvSpPr txBox="1"/>
          <p:nvPr/>
        </p:nvSpPr>
        <p:spPr>
          <a:xfrm>
            <a:off x="4343400" y="8001000"/>
            <a:ext cx="3017520" cy="594360"/>
          </a:xfrm>
          <a:prstGeom prst="rect">
            <a:avLst/>
          </a:prstGeom>
          <a:noFill/>
        </p:spPr>
        <p:txBody>
          <a:bodyPr wrap="square" lIns="0" rIns="0" tIns="0" bIns="0" anchor="ctr">
            <a:spAutoFit/>
          </a:bodyPr>
          <a:lstStyle/>
          <a:p>
            <a:pPr algn="ctr">
              <a:lnSpc>
                <a:spcPts val="1920"/>
              </a:lnSpc>
            </a:pPr>
            <a:r>
              <a:rPr sz="1600">
                <a:solidFill>
                  <a:srgbClr val="FFFFFF"/>
                </a:solidFill>
                <a:latin typeface="Poppins Semi-Bold"/>
                <a:ea typeface="Poppins Semi-Bold"/>
                <a:cs typeface="Poppins Semi-Bold"/>
              </a:rPr>
              <a:t>Autenticidad</a:t>
            </a:r>
          </a:p>
        </p:txBody>
      </p:sp>
      <p:sp>
        <p:nvSpPr>
          <p:cNvPr id="22" name="val2"/>
          <p:cNvSpPr/>
          <p:nvPr/>
        </p:nvSpPr>
        <p:spPr>
          <a:xfrm>
            <a:off x="7589520" y="8001000"/>
            <a:ext cx="3017520" cy="594360"/>
          </a:xfrm>
          <a:prstGeom prst="roundRect">
            <a:avLst>
              <a:gd name="adj" fmla="val 49230"/>
            </a:avLst>
          </a:prstGeom>
          <a:solidFill>
            <a:srgbClr val="F2C48D">
              <a:alpha val="16000"/>
            </a:srgbClr>
          </a:solidFill>
          <a:ln w="12700">
            <a:noFill/>
          </a:ln>
        </p:spPr>
        <p:txBody>
          <a:bodyPr rtlCol="0" anchor="ctr"/>
          <a:lstStyle/>
          <a:p/>
        </p:txBody>
      </p:sp>
      <p:sp>
        <p:nvSpPr>
          <p:cNvPr id="23" name="valt2"/>
          <p:cNvSpPr txBox="1"/>
          <p:nvPr/>
        </p:nvSpPr>
        <p:spPr>
          <a:xfrm>
            <a:off x="7589520" y="8001000"/>
            <a:ext cx="3017520" cy="594360"/>
          </a:xfrm>
          <a:prstGeom prst="rect">
            <a:avLst/>
          </a:prstGeom>
          <a:noFill/>
        </p:spPr>
        <p:txBody>
          <a:bodyPr wrap="square" lIns="0" rIns="0" tIns="0" bIns="0" anchor="ctr">
            <a:spAutoFit/>
          </a:bodyPr>
          <a:lstStyle/>
          <a:p>
            <a:pPr algn="ctr">
              <a:lnSpc>
                <a:spcPts val="1920"/>
              </a:lnSpc>
            </a:pPr>
            <a:r>
              <a:rPr sz="1600">
                <a:solidFill>
                  <a:srgbClr val="FFFFFF"/>
                </a:solidFill>
                <a:latin typeface="Poppins Semi-Bold"/>
                <a:ea typeface="Poppins Semi-Bold"/>
                <a:cs typeface="Poppins Semi-Bold"/>
              </a:rPr>
              <a:t>Responsabilidad</a:t>
            </a:r>
          </a:p>
        </p:txBody>
      </p:sp>
      <p:sp>
        <p:nvSpPr>
          <p:cNvPr id="24" name="val3"/>
          <p:cNvSpPr/>
          <p:nvPr/>
        </p:nvSpPr>
        <p:spPr>
          <a:xfrm>
            <a:off x="1097280" y="8778240"/>
            <a:ext cx="3017520" cy="594360"/>
          </a:xfrm>
          <a:prstGeom prst="roundRect">
            <a:avLst>
              <a:gd name="adj" fmla="val 49230"/>
            </a:avLst>
          </a:prstGeom>
          <a:solidFill>
            <a:srgbClr val="F2C48D">
              <a:alpha val="16000"/>
            </a:srgbClr>
          </a:solidFill>
          <a:ln w="12700">
            <a:noFill/>
          </a:ln>
        </p:spPr>
        <p:txBody>
          <a:bodyPr rtlCol="0" anchor="ctr"/>
          <a:lstStyle/>
          <a:p/>
        </p:txBody>
      </p:sp>
      <p:sp>
        <p:nvSpPr>
          <p:cNvPr id="25" name="valt3"/>
          <p:cNvSpPr txBox="1"/>
          <p:nvPr/>
        </p:nvSpPr>
        <p:spPr>
          <a:xfrm>
            <a:off x="1097280" y="8778240"/>
            <a:ext cx="3017520" cy="594360"/>
          </a:xfrm>
          <a:prstGeom prst="rect">
            <a:avLst/>
          </a:prstGeom>
          <a:noFill/>
        </p:spPr>
        <p:txBody>
          <a:bodyPr wrap="square" lIns="0" rIns="0" tIns="0" bIns="0" anchor="ctr">
            <a:spAutoFit/>
          </a:bodyPr>
          <a:lstStyle/>
          <a:p>
            <a:pPr algn="ctr">
              <a:lnSpc>
                <a:spcPts val="1920"/>
              </a:lnSpc>
            </a:pPr>
            <a:r>
              <a:rPr sz="1600">
                <a:solidFill>
                  <a:srgbClr val="FFFFFF"/>
                </a:solidFill>
                <a:latin typeface="Poppins Semi-Bold"/>
                <a:ea typeface="Poppins Semi-Bold"/>
                <a:cs typeface="Poppins Semi-Bold"/>
              </a:rPr>
              <a:t>Innovación</a:t>
            </a:r>
          </a:p>
        </p:txBody>
      </p:sp>
      <p:sp>
        <p:nvSpPr>
          <p:cNvPr id="26" name="val4"/>
          <p:cNvSpPr/>
          <p:nvPr/>
        </p:nvSpPr>
        <p:spPr>
          <a:xfrm>
            <a:off x="4343400" y="8778240"/>
            <a:ext cx="3017520" cy="594360"/>
          </a:xfrm>
          <a:prstGeom prst="roundRect">
            <a:avLst>
              <a:gd name="adj" fmla="val 49230"/>
            </a:avLst>
          </a:prstGeom>
          <a:solidFill>
            <a:srgbClr val="F2C48D">
              <a:alpha val="16000"/>
            </a:srgbClr>
          </a:solidFill>
          <a:ln w="12700">
            <a:noFill/>
          </a:ln>
        </p:spPr>
        <p:txBody>
          <a:bodyPr rtlCol="0" anchor="ctr"/>
          <a:lstStyle/>
          <a:p/>
        </p:txBody>
      </p:sp>
      <p:sp>
        <p:nvSpPr>
          <p:cNvPr id="27" name="valt4"/>
          <p:cNvSpPr txBox="1"/>
          <p:nvPr/>
        </p:nvSpPr>
        <p:spPr>
          <a:xfrm>
            <a:off x="4343400" y="8778240"/>
            <a:ext cx="3017520" cy="594360"/>
          </a:xfrm>
          <a:prstGeom prst="rect">
            <a:avLst/>
          </a:prstGeom>
          <a:noFill/>
        </p:spPr>
        <p:txBody>
          <a:bodyPr wrap="square" lIns="0" rIns="0" tIns="0" bIns="0" anchor="ctr">
            <a:spAutoFit/>
          </a:bodyPr>
          <a:lstStyle/>
          <a:p>
            <a:pPr algn="ctr">
              <a:lnSpc>
                <a:spcPts val="1920"/>
              </a:lnSpc>
            </a:pPr>
            <a:r>
              <a:rPr sz="1600">
                <a:solidFill>
                  <a:srgbClr val="FFFFFF"/>
                </a:solidFill>
                <a:latin typeface="Poppins Semi-Bold"/>
                <a:ea typeface="Poppins Semi-Bold"/>
                <a:cs typeface="Poppins Semi-Bold"/>
              </a:rPr>
              <a:t>Honestidad</a:t>
            </a:r>
          </a:p>
        </p:txBody>
      </p:sp>
      <p:sp>
        <p:nvSpPr>
          <p:cNvPr id="28" name="val5"/>
          <p:cNvSpPr/>
          <p:nvPr/>
        </p:nvSpPr>
        <p:spPr>
          <a:xfrm>
            <a:off x="7589520" y="8778240"/>
            <a:ext cx="3017520" cy="594360"/>
          </a:xfrm>
          <a:prstGeom prst="roundRect">
            <a:avLst>
              <a:gd name="adj" fmla="val 49230"/>
            </a:avLst>
          </a:prstGeom>
          <a:solidFill>
            <a:srgbClr val="F2C48D">
              <a:alpha val="16000"/>
            </a:srgbClr>
          </a:solidFill>
          <a:ln w="12700">
            <a:noFill/>
          </a:ln>
        </p:spPr>
        <p:txBody>
          <a:bodyPr rtlCol="0" anchor="ctr"/>
          <a:lstStyle/>
          <a:p/>
        </p:txBody>
      </p:sp>
      <p:sp>
        <p:nvSpPr>
          <p:cNvPr id="29" name="valt5"/>
          <p:cNvSpPr txBox="1"/>
          <p:nvPr/>
        </p:nvSpPr>
        <p:spPr>
          <a:xfrm>
            <a:off x="7589520" y="8778240"/>
            <a:ext cx="3017520" cy="594360"/>
          </a:xfrm>
          <a:prstGeom prst="rect">
            <a:avLst/>
          </a:prstGeom>
          <a:noFill/>
        </p:spPr>
        <p:txBody>
          <a:bodyPr wrap="square" lIns="0" rIns="0" tIns="0" bIns="0" anchor="ctr">
            <a:spAutoFit/>
          </a:bodyPr>
          <a:lstStyle/>
          <a:p>
            <a:pPr algn="ctr">
              <a:lnSpc>
                <a:spcPts val="1920"/>
              </a:lnSpc>
            </a:pPr>
            <a:r>
              <a:rPr sz="1600">
                <a:solidFill>
                  <a:srgbClr val="FFFFFF"/>
                </a:solidFill>
                <a:latin typeface="Poppins Semi-Bold"/>
                <a:ea typeface="Poppins Semi-Bold"/>
                <a:cs typeface="Poppins Semi-Bold"/>
              </a:rPr>
              <a:t>Sustentabilidad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sp>
        <p:nvSpPr>
          <p:cNvPr id="2" name="!!ghost"/>
          <p:cNvSpPr txBox="1"/>
          <p:nvPr/>
        </p:nvSpPr>
        <p:spPr>
          <a:xfrm>
            <a:off x="-914400" y="7498080"/>
            <a:ext cx="20116800" cy="3556000"/>
          </a:xfrm>
          <a:prstGeom prst="rect">
            <a:avLst/>
          </a:prstGeom>
          <a:noFill/>
        </p:spPr>
        <p:txBody>
          <a:bodyPr wrap="square" lIns="0" rIns="0" tIns="0" bIns="0" anchor="t">
            <a:spAutoFit/>
          </a:bodyPr>
          <a:lstStyle/>
          <a:p>
            <a:pPr algn="ctr">
              <a:lnSpc>
                <a:spcPts val="25200"/>
              </a:lnSpc>
            </a:pPr>
            <a:r>
              <a:rPr sz="28000" spc="-1500">
                <a:solidFill>
                  <a:srgbClr val="FFFFFF">
                    <a:alpha val="4000"/>
                  </a:srgbClr>
                </a:solidFill>
                <a:latin typeface="Archivo Black"/>
                <a:ea typeface="Archivo Black"/>
                <a:cs typeface="Archivo Black"/>
              </a:rPr>
              <a:t>XOCO</a:t>
            </a:r>
          </a:p>
        </p:txBody>
      </p:sp>
      <p:pic>
        <p:nvPicPr>
          <p:cNvPr id="3" name="!!drip" descr="image.png"/>
          <p:cNvPicPr>
            <a:picLocks noChangeAspect="1"/>
          </p:cNvPicPr>
          <p:nvPr/>
        </p:nvPicPr>
        <p:blipFill>
          <a:blip r:embed="rId3"/>
          <a:stretch>
            <a:fillRect/>
          </a:stretch>
        </p:blipFill>
        <p:spPr>
          <a:xfrm>
            <a:off x="13167360" y="-1188720"/>
            <a:ext cx="6400800" cy="3301509"/>
          </a:xfrm>
          <a:prstGeom prst="rect">
            <a:avLst/>
          </a:prstGeom>
        </p:spPr>
      </p:pic>
      <p:pic>
        <p:nvPicPr>
          <p:cNvPr id="4" name="!!splash" descr="image.png"/>
          <p:cNvPicPr>
            <a:picLocks noChangeAspect="1"/>
          </p:cNvPicPr>
          <p:nvPr/>
        </p:nvPicPr>
        <p:blipFill>
          <a:blip r:embed="rId4"/>
          <a:stretch>
            <a:fillRect/>
          </a:stretch>
        </p:blipFill>
        <p:spPr>
          <a:xfrm rot="720000">
            <a:off x="-3840480" y="8138160"/>
            <a:ext cx="5486400" cy="3413760"/>
          </a:xfrm>
          <a:prstGeom prst="rect">
            <a:avLst/>
          </a:prstGeom>
        </p:spPr>
      </p:pic>
      <p:pic>
        <p:nvPicPr>
          <p:cNvPr id="5" name="!!chunkA" descr="image.png"/>
          <p:cNvPicPr>
            <a:picLocks noChangeAspect="1"/>
          </p:cNvPicPr>
          <p:nvPr/>
        </p:nvPicPr>
        <p:blipFill>
          <a:blip r:embed="rId5"/>
          <a:stretch>
            <a:fillRect/>
          </a:stretch>
        </p:blipFill>
        <p:spPr>
          <a:xfrm rot="1500000">
            <a:off x="16459200" y="7955280"/>
            <a:ext cx="1463040" cy="1886667"/>
          </a:xfrm>
          <a:prstGeom prst="rect">
            <a:avLst/>
          </a:prstGeom>
        </p:spPr>
      </p:pic>
      <p:pic>
        <p:nvPicPr>
          <p:cNvPr id="6" name="!!chunkB" descr="image.png"/>
          <p:cNvPicPr>
            <a:picLocks noChangeAspect="1"/>
          </p:cNvPicPr>
          <p:nvPr/>
        </p:nvPicPr>
        <p:blipFill>
          <a:blip r:embed="rId6"/>
          <a:stretch>
            <a:fillRect/>
          </a:stretch>
        </p:blipFill>
        <p:spPr>
          <a:xfrm rot="10200000">
            <a:off x="-822960" y="-457200"/>
            <a:ext cx="2743200" cy="2235967"/>
          </a:xfrm>
          <a:prstGeom prst="rect">
            <a:avLst/>
          </a:prstGeom>
        </p:spPr>
      </p:pic>
      <p:pic>
        <p:nvPicPr>
          <p:cNvPr id="7" name="!!bars" descr="image.png"/>
          <p:cNvPicPr>
            <a:picLocks noChangeAspect="1"/>
          </p:cNvPicPr>
          <p:nvPr/>
        </p:nvPicPr>
        <p:blipFill>
          <a:blip r:embed="rId7"/>
          <a:stretch>
            <a:fillRect/>
          </a:stretch>
        </p:blipFill>
        <p:spPr>
          <a:xfrm rot="720000">
            <a:off x="14630400" y="-365760"/>
            <a:ext cx="3840480" cy="2158850"/>
          </a:xfrm>
          <a:prstGeom prst="rect">
            <a:avLst/>
          </a:prstGeom>
        </p:spPr>
      </p:pic>
      <p:sp>
        <p:nvSpPr>
          <p:cNvPr id="8" name="!!kick"/>
          <p:cNvSpPr txBox="1"/>
          <p:nvPr/>
        </p:nvSpPr>
        <p:spPr>
          <a:xfrm>
            <a:off x="914400" y="731520"/>
            <a:ext cx="16459200" cy="365760"/>
          </a:xfrm>
          <a:prstGeom prst="rect">
            <a:avLst/>
          </a:prstGeom>
          <a:noFill/>
        </p:spPr>
        <p:txBody>
          <a:bodyPr wrap="square" lIns="0" rIns="0" tIns="0" bIns="0" anchor="t">
            <a:spAutoFit/>
          </a:bodyPr>
          <a:lstStyle/>
          <a:p>
            <a:pPr algn="ctr">
              <a:lnSpc>
                <a:spcPts val="2160"/>
              </a:lnSpc>
            </a:pPr>
            <a:r>
              <a:rPr sz="1800" spc="300">
                <a:solidFill>
                  <a:srgbClr val="F2C48D"/>
                </a:solidFill>
                <a:latin typeface="Poppins Semi-Bold"/>
                <a:ea typeface="Poppins Semi-Bold"/>
                <a:cs typeface="Poppins Semi-Bold"/>
              </a:rPr>
              <a:t>03 · ÁREA</a:t>
            </a:r>
          </a:p>
        </p:txBody>
      </p:sp>
      <p:sp>
        <p:nvSpPr>
          <p:cNvPr id="9" name="!!t1"/>
          <p:cNvSpPr txBox="1"/>
          <p:nvPr/>
        </p:nvSpPr>
        <p:spPr>
          <a:xfrm>
            <a:off x="914400" y="1234440"/>
            <a:ext cx="16459200" cy="721360"/>
          </a:xfrm>
          <a:prstGeom prst="rect">
            <a:avLst/>
          </a:prstGeom>
          <a:noFill/>
        </p:spPr>
        <p:txBody>
          <a:bodyPr wrap="square" lIns="0" rIns="0" tIns="0" bIns="0" anchor="t">
            <a:spAutoFit/>
          </a:bodyPr>
          <a:lstStyle/>
          <a:p>
            <a:pPr algn="ctr">
              <a:lnSpc>
                <a:spcPts val="5320"/>
              </a:lnSpc>
            </a:pPr>
            <a:r>
              <a:rPr sz="5600" spc="-300">
                <a:solidFill>
                  <a:srgbClr val="FFFFFF"/>
                </a:solidFill>
                <a:latin typeface="Archivo Black"/>
                <a:ea typeface="Archivo Black"/>
                <a:cs typeface="Archivo Black"/>
              </a:rPr>
              <a:t>ÁREA A INTERVENIR</a:t>
            </a:r>
          </a:p>
        </p:txBody>
      </p:sp>
      <p:sp>
        <p:nvSpPr>
          <p:cNvPr id="10" name="!!t2"/>
          <p:cNvSpPr txBox="1"/>
          <p:nvPr/>
        </p:nvSpPr>
        <p:spPr>
          <a:xfrm>
            <a:off x="914400" y="1910080"/>
            <a:ext cx="16459200" cy="721360"/>
          </a:xfrm>
          <a:prstGeom prst="rect">
            <a:avLst/>
          </a:prstGeom>
          <a:noFill/>
        </p:spPr>
        <p:txBody>
          <a:bodyPr wrap="square" lIns="0" rIns="0" tIns="0" bIns="0" anchor="t">
            <a:spAutoFit/>
          </a:bodyPr>
          <a:lstStyle/>
          <a:p>
            <a:pPr algn="ctr">
              <a:lnSpc>
                <a:spcPts val="5320"/>
              </a:lnSpc>
            </a:pPr>
            <a:r>
              <a:rPr sz="5600" spc="-300">
                <a:gradFill>
                  <a:gsLst>
                    <a:gs pos="0">
                      <a:srgbClr val="E0A77C"/>
                    </a:gs>
                    <a:gs pos="100000">
                      <a:srgbClr val="FFFFFF"/>
                    </a:gs>
                  </a:gsLst>
                  <a:lin ang="0" scaled="0"/>
                </a:gradFill>
                <a:latin typeface="Archivo Black"/>
                <a:ea typeface="Archivo Black"/>
                <a:cs typeface="Archivo Black"/>
              </a:rPr>
              <a:t>COMERCIO EXTERIOR</a:t>
            </a:r>
          </a:p>
        </p:txBody>
      </p:sp>
      <p:pic>
        <p:nvPicPr>
          <p:cNvPr id="11" name="area1" descr="image.jpeg"/>
          <p:cNvPicPr>
            <a:picLocks noChangeAspect="1"/>
          </p:cNvPicPr>
          <p:nvPr/>
        </p:nvPicPr>
        <p:blipFill>
          <a:blip r:embed="rId8"/>
          <a:srcRect t="3767" b="3767"/>
          <a:stretch>
            <a:fillRect/>
          </a:stretch>
        </p:blipFill>
        <p:spPr>
          <a:xfrm>
            <a:off x="1024128" y="3611880"/>
            <a:ext cx="5340096" cy="3291840"/>
          </a:xfrm>
          <a:prstGeom prst="roundRect">
            <a:avLst>
              <a:gd name="adj" fmla="val 9722"/>
            </a:avLst>
          </a:prstGeom>
        </p:spPr>
      </p:pic>
      <p:sp>
        <p:nvSpPr>
          <p:cNvPr id="12" name="areak0"/>
          <p:cNvSpPr txBox="1"/>
          <p:nvPr/>
        </p:nvSpPr>
        <p:spPr>
          <a:xfrm>
            <a:off x="1024128" y="7178040"/>
            <a:ext cx="5340096" cy="502920"/>
          </a:xfrm>
          <a:prstGeom prst="rect">
            <a:avLst/>
          </a:prstGeom>
          <a:noFill/>
        </p:spPr>
        <p:txBody>
          <a:bodyPr wrap="square" lIns="0" rIns="0" tIns="0" bIns="0" anchor="t">
            <a:spAutoFit/>
          </a:bodyPr>
          <a:lstStyle/>
          <a:p>
            <a:pPr algn="ctr">
              <a:lnSpc>
                <a:spcPts val="2879"/>
              </a:lnSpc>
            </a:pPr>
            <a:r>
              <a:rPr sz="2400">
                <a:solidFill>
                  <a:srgbClr val="FFFFFF"/>
                </a:solidFill>
                <a:latin typeface="Poppins Bold"/>
                <a:ea typeface="Poppins Bold"/>
                <a:cs typeface="Poppins Bold"/>
              </a:rPr>
              <a:t>Comercial</a:t>
            </a:r>
          </a:p>
        </p:txBody>
      </p:sp>
      <p:sp>
        <p:nvSpPr>
          <p:cNvPr id="13" name="areav0"/>
          <p:cNvSpPr txBox="1"/>
          <p:nvPr/>
        </p:nvSpPr>
        <p:spPr>
          <a:xfrm>
            <a:off x="1298448" y="7772400"/>
            <a:ext cx="4791456" cy="1554480"/>
          </a:xfrm>
          <a:prstGeom prst="rect">
            <a:avLst/>
          </a:prstGeom>
          <a:noFill/>
        </p:spPr>
        <p:txBody>
          <a:bodyPr wrap="square" lIns="0" rIns="0" tIns="0" bIns="0" anchor="t">
            <a:spAutoFit/>
          </a:bodyPr>
          <a:lstStyle/>
          <a:p>
            <a:pPr algn="ctr">
              <a:lnSpc>
                <a:spcPts val="2565"/>
              </a:lnSpc>
            </a:pPr>
            <a:r>
              <a:rPr sz="1900">
                <a:solidFill>
                  <a:srgbClr val="F7E6D3"/>
                </a:solidFill>
                <a:latin typeface="Poppins"/>
                <a:ea typeface="Poppins"/>
                <a:cs typeface="Poppins"/>
              </a:rPr>
              <a:t>Mercado meta, precio de exportación y búsqueda de distribuidores en Texas.</a:t>
            </a:r>
          </a:p>
        </p:txBody>
      </p:sp>
      <p:pic>
        <p:nvPicPr>
          <p:cNvPr id="14" name="!!hero" descr="image.jpeg"/>
          <p:cNvPicPr>
            <a:picLocks noChangeAspect="1"/>
          </p:cNvPicPr>
          <p:nvPr/>
        </p:nvPicPr>
        <p:blipFill>
          <a:blip r:embed="rId9"/>
          <a:srcRect t="3747" b="3747"/>
          <a:stretch>
            <a:fillRect/>
          </a:stretch>
        </p:blipFill>
        <p:spPr>
          <a:xfrm>
            <a:off x="6473952" y="3611880"/>
            <a:ext cx="5340096" cy="3291840"/>
          </a:xfrm>
          <a:prstGeom prst="roundRect">
            <a:avLst>
              <a:gd name="adj" fmla="val 9722"/>
            </a:avLst>
          </a:prstGeom>
        </p:spPr>
      </p:pic>
      <p:sp>
        <p:nvSpPr>
          <p:cNvPr id="15" name="areak1"/>
          <p:cNvSpPr txBox="1"/>
          <p:nvPr/>
        </p:nvSpPr>
        <p:spPr>
          <a:xfrm>
            <a:off x="6473952" y="7178040"/>
            <a:ext cx="5340096" cy="502920"/>
          </a:xfrm>
          <a:prstGeom prst="rect">
            <a:avLst/>
          </a:prstGeom>
          <a:noFill/>
        </p:spPr>
        <p:txBody>
          <a:bodyPr wrap="square" lIns="0" rIns="0" tIns="0" bIns="0" anchor="t">
            <a:spAutoFit/>
          </a:bodyPr>
          <a:lstStyle/>
          <a:p>
            <a:pPr algn="ctr">
              <a:lnSpc>
                <a:spcPts val="2879"/>
              </a:lnSpc>
            </a:pPr>
            <a:r>
              <a:rPr sz="2400">
                <a:solidFill>
                  <a:srgbClr val="FFFFFF"/>
                </a:solidFill>
                <a:latin typeface="Poppins Bold"/>
                <a:ea typeface="Poppins Bold"/>
                <a:cs typeface="Poppins Bold"/>
              </a:rPr>
              <a:t>Regulatoria</a:t>
            </a:r>
          </a:p>
        </p:txBody>
      </p:sp>
      <p:sp>
        <p:nvSpPr>
          <p:cNvPr id="16" name="areav1"/>
          <p:cNvSpPr txBox="1"/>
          <p:nvPr/>
        </p:nvSpPr>
        <p:spPr>
          <a:xfrm>
            <a:off x="6748272" y="7772400"/>
            <a:ext cx="4791456" cy="1554480"/>
          </a:xfrm>
          <a:prstGeom prst="rect">
            <a:avLst/>
          </a:prstGeom>
          <a:noFill/>
        </p:spPr>
        <p:txBody>
          <a:bodyPr wrap="square" lIns="0" rIns="0" tIns="0" bIns="0" anchor="t">
            <a:spAutoFit/>
          </a:bodyPr>
          <a:lstStyle/>
          <a:p>
            <a:pPr algn="ctr">
              <a:lnSpc>
                <a:spcPts val="2565"/>
              </a:lnSpc>
            </a:pPr>
            <a:r>
              <a:rPr sz="1900">
                <a:solidFill>
                  <a:srgbClr val="F7E6D3"/>
                </a:solidFill>
                <a:latin typeface="Poppins"/>
                <a:ea typeface="Poppins"/>
                <a:cs typeface="Poppins"/>
              </a:rPr>
              <a:t>Requisitos de la FDA, etiquetado en inglés y documentos aduaneros.</a:t>
            </a:r>
          </a:p>
        </p:txBody>
      </p:sp>
      <p:pic>
        <p:nvPicPr>
          <p:cNvPr id="17" name="area3" descr="image.jpeg"/>
          <p:cNvPicPr>
            <a:picLocks noChangeAspect="1"/>
          </p:cNvPicPr>
          <p:nvPr/>
        </p:nvPicPr>
        <p:blipFill>
          <a:blip r:embed="rId10"/>
          <a:srcRect t="3767" b="3767"/>
          <a:stretch>
            <a:fillRect/>
          </a:stretch>
        </p:blipFill>
        <p:spPr>
          <a:xfrm>
            <a:off x="11923776" y="3611880"/>
            <a:ext cx="5340096" cy="3291840"/>
          </a:xfrm>
          <a:prstGeom prst="roundRect">
            <a:avLst>
              <a:gd name="adj" fmla="val 9722"/>
            </a:avLst>
          </a:prstGeom>
        </p:spPr>
      </p:pic>
      <p:sp>
        <p:nvSpPr>
          <p:cNvPr id="18" name="areak2"/>
          <p:cNvSpPr txBox="1"/>
          <p:nvPr/>
        </p:nvSpPr>
        <p:spPr>
          <a:xfrm>
            <a:off x="11923776" y="7178040"/>
            <a:ext cx="5340096" cy="502920"/>
          </a:xfrm>
          <a:prstGeom prst="rect">
            <a:avLst/>
          </a:prstGeom>
          <a:noFill/>
        </p:spPr>
        <p:txBody>
          <a:bodyPr wrap="square" lIns="0" rIns="0" tIns="0" bIns="0" anchor="t">
            <a:spAutoFit/>
          </a:bodyPr>
          <a:lstStyle/>
          <a:p>
            <a:pPr algn="ctr">
              <a:lnSpc>
                <a:spcPts val="2879"/>
              </a:lnSpc>
            </a:pPr>
            <a:r>
              <a:rPr sz="2400">
                <a:solidFill>
                  <a:srgbClr val="FFFFFF"/>
                </a:solidFill>
                <a:latin typeface="Poppins Bold"/>
                <a:ea typeface="Poppins Bold"/>
                <a:cs typeface="Poppins Bold"/>
              </a:rPr>
              <a:t>Logística</a:t>
            </a:r>
          </a:p>
        </p:txBody>
      </p:sp>
      <p:sp>
        <p:nvSpPr>
          <p:cNvPr id="19" name="areav2"/>
          <p:cNvSpPr txBox="1"/>
          <p:nvPr/>
        </p:nvSpPr>
        <p:spPr>
          <a:xfrm>
            <a:off x="12198096" y="7772400"/>
            <a:ext cx="4791456" cy="1554480"/>
          </a:xfrm>
          <a:prstGeom prst="rect">
            <a:avLst/>
          </a:prstGeom>
          <a:noFill/>
        </p:spPr>
        <p:txBody>
          <a:bodyPr wrap="square" lIns="0" rIns="0" tIns="0" bIns="0" anchor="t">
            <a:spAutoFit/>
          </a:bodyPr>
          <a:lstStyle/>
          <a:p>
            <a:pPr algn="ctr">
              <a:lnSpc>
                <a:spcPts val="2565"/>
              </a:lnSpc>
            </a:pPr>
            <a:r>
              <a:rPr sz="1900">
                <a:solidFill>
                  <a:srgbClr val="F7E6D3"/>
                </a:solidFill>
                <a:latin typeface="Poppins"/>
                <a:ea typeface="Poppins"/>
                <a:cs typeface="Poppins"/>
              </a:rPr>
              <a:t>Ruta, transporte y control de temperatura para que el chocolate llegue intacto.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pic>
        <p:nvPicPr>
          <p:cNvPr id="2" name="!!drip" descr="image.png"/>
          <p:cNvPicPr>
            <a:picLocks noChangeAspect="1"/>
          </p:cNvPicPr>
          <p:nvPr/>
        </p:nvPicPr>
        <p:blipFill>
          <a:blip r:embed="rId3"/>
          <a:stretch>
            <a:fillRect/>
          </a:stretch>
        </p:blipFill>
        <p:spPr>
          <a:xfrm rot="10800000">
            <a:off x="11887200" y="8229600"/>
            <a:ext cx="5486400" cy="2829865"/>
          </a:xfrm>
          <a:prstGeom prst="rect">
            <a:avLst/>
          </a:prstGeom>
        </p:spPr>
      </p:pic>
      <p:pic>
        <p:nvPicPr>
          <p:cNvPr id="3" name="!!splash" descr="image.png"/>
          <p:cNvPicPr>
            <a:picLocks noChangeAspect="1"/>
          </p:cNvPicPr>
          <p:nvPr/>
        </p:nvPicPr>
        <p:blipFill>
          <a:blip r:embed="rId4"/>
          <a:stretch>
            <a:fillRect/>
          </a:stretch>
        </p:blipFill>
        <p:spPr>
          <a:xfrm rot="10200000">
            <a:off x="14996160" y="-2194560"/>
            <a:ext cx="5120640" cy="3186176"/>
          </a:xfrm>
          <a:prstGeom prst="rect">
            <a:avLst/>
          </a:prstGeom>
        </p:spPr>
      </p:pic>
      <p:pic>
        <p:nvPicPr>
          <p:cNvPr id="4" name="!!chunkA" descr="image.png"/>
          <p:cNvPicPr>
            <a:picLocks noChangeAspect="1"/>
          </p:cNvPicPr>
          <p:nvPr/>
        </p:nvPicPr>
        <p:blipFill>
          <a:blip r:embed="rId5"/>
          <a:stretch>
            <a:fillRect/>
          </a:stretch>
        </p:blipFill>
        <p:spPr>
          <a:xfrm rot="20400000">
            <a:off x="5852160" y="274320"/>
            <a:ext cx="1645920" cy="2122500"/>
          </a:xfrm>
          <a:prstGeom prst="rect">
            <a:avLst/>
          </a:prstGeom>
        </p:spPr>
      </p:pic>
      <p:pic>
        <p:nvPicPr>
          <p:cNvPr id="5" name="!!chunkB" descr="image.png"/>
          <p:cNvPicPr>
            <a:picLocks noChangeAspect="1"/>
          </p:cNvPicPr>
          <p:nvPr/>
        </p:nvPicPr>
        <p:blipFill>
          <a:blip r:embed="rId6"/>
          <a:stretch>
            <a:fillRect/>
          </a:stretch>
        </p:blipFill>
        <p:spPr>
          <a:xfrm rot="300000">
            <a:off x="15179040" y="8229600"/>
            <a:ext cx="2743200" cy="2235967"/>
          </a:xfrm>
          <a:prstGeom prst="rect">
            <a:avLst/>
          </a:prstGeom>
        </p:spPr>
      </p:pic>
      <p:pic>
        <p:nvPicPr>
          <p:cNvPr id="6" name="!!bars" descr="image.png"/>
          <p:cNvPicPr>
            <a:picLocks noChangeAspect="1"/>
          </p:cNvPicPr>
          <p:nvPr/>
        </p:nvPicPr>
        <p:blipFill>
          <a:blip r:embed="rId7"/>
          <a:stretch>
            <a:fillRect/>
          </a:stretch>
        </p:blipFill>
        <p:spPr>
          <a:xfrm rot="20760000">
            <a:off x="4846320" y="8138160"/>
            <a:ext cx="3291840" cy="1850443"/>
          </a:xfrm>
          <a:prstGeom prst="rect">
            <a:avLst/>
          </a:prstGeom>
        </p:spPr>
      </p:pic>
      <p:pic>
        <p:nvPicPr>
          <p:cNvPr id="7" name="!!hero" descr="image.jpeg"/>
          <p:cNvPicPr>
            <a:picLocks noChangeAspect="1"/>
          </p:cNvPicPr>
          <p:nvPr/>
        </p:nvPicPr>
        <p:blipFill>
          <a:blip r:embed="rId8"/>
          <a:srcRect l="1899" r="1899"/>
          <a:stretch>
            <a:fillRect/>
          </a:stretch>
        </p:blipFill>
        <p:spPr>
          <a:xfrm>
            <a:off x="-457200" y="-274320"/>
            <a:ext cx="6949440" cy="10835640"/>
          </a:xfrm>
          <a:prstGeom prst="roundRect">
            <a:avLst>
              <a:gd name="adj" fmla="val 7894"/>
            </a:avLst>
          </a:prstGeom>
        </p:spPr>
      </p:pic>
      <p:sp>
        <p:nvSpPr>
          <p:cNvPr id="8" name="!!kick"/>
          <p:cNvSpPr txBox="1"/>
          <p:nvPr/>
        </p:nvSpPr>
        <p:spPr>
          <a:xfrm>
            <a:off x="7680960" y="914400"/>
            <a:ext cx="100584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04 · PROBLEMA</a:t>
            </a:r>
          </a:p>
        </p:txBody>
      </p:sp>
      <p:sp>
        <p:nvSpPr>
          <p:cNvPr id="9" name="!!t1"/>
          <p:cNvSpPr txBox="1"/>
          <p:nvPr/>
        </p:nvSpPr>
        <p:spPr>
          <a:xfrm>
            <a:off x="7680960" y="1417320"/>
            <a:ext cx="100584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LA PROBLEMÁTICA</a:t>
            </a:r>
          </a:p>
        </p:txBody>
      </p:sp>
      <p:sp>
        <p:nvSpPr>
          <p:cNvPr id="10" name="!!t2"/>
          <p:cNvSpPr txBox="1"/>
          <p:nvPr/>
        </p:nvSpPr>
        <p:spPr>
          <a:xfrm>
            <a:off x="7680960" y="2092960"/>
            <a:ext cx="100584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A DIAGNOSTICAR</a:t>
            </a:r>
          </a:p>
        </p:txBody>
      </p:sp>
      <p:sp>
        <p:nvSpPr>
          <p:cNvPr id="11" name="quotebox"/>
          <p:cNvSpPr/>
          <p:nvPr/>
        </p:nvSpPr>
        <p:spPr>
          <a:xfrm>
            <a:off x="7680960" y="3657600"/>
            <a:ext cx="9692640" cy="2926080"/>
          </a:xfrm>
          <a:prstGeom prst="roundRect">
            <a:avLst>
              <a:gd name="adj" fmla="val 9374"/>
            </a:avLst>
          </a:prstGeom>
          <a:solidFill>
            <a:srgbClr val="FFFFFF">
              <a:alpha val="7000"/>
            </a:srgbClr>
          </a:solidFill>
          <a:ln w="12700">
            <a:solidFill>
              <a:srgbClr val="FFFFFF">
                <a:alpha val="16000"/>
              </a:srgbClr>
            </a:solidFill>
          </a:ln>
        </p:spPr>
        <p:txBody>
          <a:bodyPr rtlCol="0" anchor="ctr"/>
          <a:lstStyle/>
          <a:p/>
        </p:txBody>
      </p:sp>
      <p:sp>
        <p:nvSpPr>
          <p:cNvPr id="12" name="qmark"/>
          <p:cNvSpPr txBox="1"/>
          <p:nvPr/>
        </p:nvSpPr>
        <p:spPr>
          <a:xfrm>
            <a:off x="8001000" y="3566160"/>
            <a:ext cx="1097280" cy="1097280"/>
          </a:xfrm>
          <a:prstGeom prst="rect">
            <a:avLst/>
          </a:prstGeom>
          <a:noFill/>
        </p:spPr>
        <p:txBody>
          <a:bodyPr wrap="square" lIns="0" rIns="0" tIns="0" bIns="0" anchor="t">
            <a:spAutoFit/>
          </a:bodyPr>
          <a:lstStyle/>
          <a:p>
            <a:pPr algn="l">
              <a:lnSpc>
                <a:spcPts val="9600"/>
              </a:lnSpc>
            </a:pPr>
            <a:r>
              <a:rPr sz="9600">
                <a:solidFill>
                  <a:srgbClr val="F2C48D"/>
                </a:solidFill>
                <a:latin typeface="Archivo Black"/>
                <a:ea typeface="Archivo Black"/>
                <a:cs typeface="Archivo Black"/>
              </a:rPr>
              <a:t>“</a:t>
            </a:r>
          </a:p>
        </p:txBody>
      </p:sp>
      <p:sp>
        <p:nvSpPr>
          <p:cNvPr id="13" name="quote"/>
          <p:cNvSpPr txBox="1"/>
          <p:nvPr/>
        </p:nvSpPr>
        <p:spPr>
          <a:xfrm>
            <a:off x="9052560" y="3977640"/>
            <a:ext cx="8046720" cy="2743200"/>
          </a:xfrm>
          <a:prstGeom prst="rect">
            <a:avLst/>
          </a:prstGeom>
          <a:noFill/>
        </p:spPr>
        <p:txBody>
          <a:bodyPr wrap="square" lIns="0" rIns="0" tIns="0" bIns="0" anchor="t">
            <a:spAutoFit/>
          </a:bodyPr>
          <a:lstStyle/>
          <a:p>
            <a:pPr algn="l">
              <a:lnSpc>
                <a:spcPts val="3359"/>
              </a:lnSpc>
            </a:pPr>
            <a:r>
              <a:rPr sz="2400">
                <a:solidFill>
                  <a:srgbClr val="FFFFFF"/>
                </a:solidFill>
                <a:latin typeface="Poppins Light"/>
                <a:ea typeface="Poppins Light"/>
                <a:cs typeface="Poppins Light"/>
              </a:rPr>
              <a:t>XOCO necesita un plan de exportación que le permita ingresar a San Antonio, Texas, cumpliendo los requisitos comerciales y sanitarios, conservando la calidad del chocolate y posicionando la marca.</a:t>
            </a:r>
          </a:p>
        </p:txBody>
      </p:sp>
      <p:sp>
        <p:nvSpPr>
          <p:cNvPr id="14" name="pk0"/>
          <p:cNvSpPr txBox="1"/>
          <p:nvPr/>
        </p:nvSpPr>
        <p:spPr>
          <a:xfrm>
            <a:off x="7680960" y="7132320"/>
            <a:ext cx="3017520" cy="457200"/>
          </a:xfrm>
          <a:prstGeom prst="rect">
            <a:avLst/>
          </a:prstGeom>
          <a:noFill/>
        </p:spPr>
        <p:txBody>
          <a:bodyPr wrap="square" lIns="0" rIns="0" tIns="0" bIns="0" anchor="t">
            <a:spAutoFit/>
          </a:bodyPr>
          <a:lstStyle/>
          <a:p>
            <a:pPr algn="l">
              <a:lnSpc>
                <a:spcPts val="2400"/>
              </a:lnSpc>
            </a:pPr>
            <a:r>
              <a:rPr sz="2000">
                <a:solidFill>
                  <a:srgbClr val="F2C48D"/>
                </a:solidFill>
                <a:latin typeface="Poppins Bold"/>
                <a:ea typeface="Poppins Bold"/>
                <a:cs typeface="Poppins Bold"/>
              </a:rPr>
              <a:t>Regulatorio</a:t>
            </a:r>
          </a:p>
        </p:txBody>
      </p:sp>
      <p:sp>
        <p:nvSpPr>
          <p:cNvPr id="15" name="pv0"/>
          <p:cNvSpPr txBox="1"/>
          <p:nvPr/>
        </p:nvSpPr>
        <p:spPr>
          <a:xfrm>
            <a:off x="7680960" y="7635240"/>
            <a:ext cx="3017520" cy="1188720"/>
          </a:xfrm>
          <a:prstGeom prst="rect">
            <a:avLst/>
          </a:prstGeom>
          <a:noFill/>
        </p:spPr>
        <p:txBody>
          <a:bodyPr wrap="square" lIns="0" rIns="0" tIns="0" bIns="0" anchor="t">
            <a:spAutoFit/>
          </a:bodyPr>
          <a:lstStyle/>
          <a:p>
            <a:pPr algn="l">
              <a:lnSpc>
                <a:spcPts val="2565"/>
              </a:lnSpc>
            </a:pPr>
            <a:r>
              <a:rPr sz="1900">
                <a:solidFill>
                  <a:srgbClr val="FFFFFF"/>
                </a:solidFill>
                <a:latin typeface="Poppins"/>
                <a:ea typeface="Poppins"/>
                <a:cs typeface="Poppins"/>
              </a:rPr>
              <a:t>Sanidad, etiquetado y documentos</a:t>
            </a:r>
          </a:p>
        </p:txBody>
      </p:sp>
      <p:sp>
        <p:nvSpPr>
          <p:cNvPr id="16" name="pk1"/>
          <p:cNvSpPr txBox="1"/>
          <p:nvPr/>
        </p:nvSpPr>
        <p:spPr>
          <a:xfrm>
            <a:off x="10972800" y="7132320"/>
            <a:ext cx="3017520" cy="457200"/>
          </a:xfrm>
          <a:prstGeom prst="rect">
            <a:avLst/>
          </a:prstGeom>
          <a:noFill/>
        </p:spPr>
        <p:txBody>
          <a:bodyPr wrap="square" lIns="0" rIns="0" tIns="0" bIns="0" anchor="t">
            <a:spAutoFit/>
          </a:bodyPr>
          <a:lstStyle/>
          <a:p>
            <a:pPr algn="l">
              <a:lnSpc>
                <a:spcPts val="2400"/>
              </a:lnSpc>
            </a:pPr>
            <a:r>
              <a:rPr sz="2000">
                <a:solidFill>
                  <a:srgbClr val="F2C48D"/>
                </a:solidFill>
                <a:latin typeface="Poppins Bold"/>
                <a:ea typeface="Poppins Bold"/>
                <a:cs typeface="Poppins Bold"/>
              </a:rPr>
              <a:t>Logístico</a:t>
            </a:r>
          </a:p>
        </p:txBody>
      </p:sp>
      <p:sp>
        <p:nvSpPr>
          <p:cNvPr id="17" name="pv1"/>
          <p:cNvSpPr txBox="1"/>
          <p:nvPr/>
        </p:nvSpPr>
        <p:spPr>
          <a:xfrm>
            <a:off x="10972800" y="7635240"/>
            <a:ext cx="3017520" cy="1188720"/>
          </a:xfrm>
          <a:prstGeom prst="rect">
            <a:avLst/>
          </a:prstGeom>
          <a:noFill/>
        </p:spPr>
        <p:txBody>
          <a:bodyPr wrap="square" lIns="0" rIns="0" tIns="0" bIns="0" anchor="t">
            <a:spAutoFit/>
          </a:bodyPr>
          <a:lstStyle/>
          <a:p>
            <a:pPr algn="l">
              <a:lnSpc>
                <a:spcPts val="2565"/>
              </a:lnSpc>
            </a:pPr>
            <a:r>
              <a:rPr sz="1900">
                <a:solidFill>
                  <a:srgbClr val="FFFFFF"/>
                </a:solidFill>
                <a:latin typeface="Poppins"/>
                <a:ea typeface="Poppins"/>
                <a:cs typeface="Poppins"/>
              </a:rPr>
              <a:t>Producto sensible al calor</a:t>
            </a:r>
          </a:p>
        </p:txBody>
      </p:sp>
      <p:sp>
        <p:nvSpPr>
          <p:cNvPr id="18" name="pk2"/>
          <p:cNvSpPr txBox="1"/>
          <p:nvPr/>
        </p:nvSpPr>
        <p:spPr>
          <a:xfrm>
            <a:off x="14264640" y="7132320"/>
            <a:ext cx="3017520" cy="457200"/>
          </a:xfrm>
          <a:prstGeom prst="rect">
            <a:avLst/>
          </a:prstGeom>
          <a:noFill/>
        </p:spPr>
        <p:txBody>
          <a:bodyPr wrap="square" lIns="0" rIns="0" tIns="0" bIns="0" anchor="t">
            <a:spAutoFit/>
          </a:bodyPr>
          <a:lstStyle/>
          <a:p>
            <a:pPr algn="l">
              <a:lnSpc>
                <a:spcPts val="2400"/>
              </a:lnSpc>
            </a:pPr>
            <a:r>
              <a:rPr sz="2000">
                <a:solidFill>
                  <a:srgbClr val="F2C48D"/>
                </a:solidFill>
                <a:latin typeface="Poppins Bold"/>
                <a:ea typeface="Poppins Bold"/>
                <a:cs typeface="Poppins Bold"/>
              </a:rPr>
              <a:t>Comercial</a:t>
            </a:r>
          </a:p>
        </p:txBody>
      </p:sp>
      <p:sp>
        <p:nvSpPr>
          <p:cNvPr id="19" name="pv2"/>
          <p:cNvSpPr txBox="1"/>
          <p:nvPr/>
        </p:nvSpPr>
        <p:spPr>
          <a:xfrm>
            <a:off x="14264640" y="7635240"/>
            <a:ext cx="3017520" cy="1188720"/>
          </a:xfrm>
          <a:prstGeom prst="rect">
            <a:avLst/>
          </a:prstGeom>
          <a:noFill/>
        </p:spPr>
        <p:txBody>
          <a:bodyPr wrap="square" lIns="0" rIns="0" tIns="0" bIns="0" anchor="t">
            <a:spAutoFit/>
          </a:bodyPr>
          <a:lstStyle/>
          <a:p>
            <a:pPr algn="l">
              <a:lnSpc>
                <a:spcPts val="2565"/>
              </a:lnSpc>
            </a:pPr>
            <a:r>
              <a:rPr sz="1900">
                <a:solidFill>
                  <a:srgbClr val="FFFFFF"/>
                </a:solidFill>
                <a:latin typeface="Poppins"/>
                <a:ea typeface="Poppins"/>
                <a:cs typeface="Poppins"/>
              </a:rPr>
              <a:t>Competencia ya posicionada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pic>
        <p:nvPicPr>
          <p:cNvPr id="2" name="!!drip" descr="image.png"/>
          <p:cNvPicPr>
            <a:picLocks noChangeAspect="1"/>
          </p:cNvPicPr>
          <p:nvPr/>
        </p:nvPicPr>
        <p:blipFill>
          <a:blip r:embed="rId3"/>
          <a:stretch>
            <a:fillRect/>
          </a:stretch>
        </p:blipFill>
        <p:spPr>
          <a:xfrm>
            <a:off x="12435840" y="-914400"/>
            <a:ext cx="4754880" cy="2452549"/>
          </a:xfrm>
          <a:prstGeom prst="rect">
            <a:avLst/>
          </a:prstGeom>
        </p:spPr>
      </p:pic>
      <p:pic>
        <p:nvPicPr>
          <p:cNvPr id="3" name="!!splash" descr="image.png"/>
          <p:cNvPicPr>
            <a:picLocks noChangeAspect="1"/>
          </p:cNvPicPr>
          <p:nvPr/>
        </p:nvPicPr>
        <p:blipFill>
          <a:blip r:embed="rId4"/>
          <a:stretch>
            <a:fillRect/>
          </a:stretch>
        </p:blipFill>
        <p:spPr>
          <a:xfrm rot="600000">
            <a:off x="-2560320" y="7223760"/>
            <a:ext cx="5486400" cy="3413760"/>
          </a:xfrm>
          <a:prstGeom prst="rect">
            <a:avLst/>
          </a:prstGeom>
        </p:spPr>
      </p:pic>
      <p:pic>
        <p:nvPicPr>
          <p:cNvPr id="4" name="!!chunkA" descr="image.png"/>
          <p:cNvPicPr>
            <a:picLocks noChangeAspect="1"/>
          </p:cNvPicPr>
          <p:nvPr/>
        </p:nvPicPr>
        <p:blipFill>
          <a:blip r:embed="rId5"/>
          <a:stretch>
            <a:fillRect/>
          </a:stretch>
        </p:blipFill>
        <p:spPr>
          <a:xfrm rot="1800000">
            <a:off x="11338560" y="182880"/>
            <a:ext cx="1280160" cy="1650833"/>
          </a:xfrm>
          <a:prstGeom prst="rect">
            <a:avLst/>
          </a:prstGeom>
        </p:spPr>
      </p:pic>
      <p:pic>
        <p:nvPicPr>
          <p:cNvPr id="5" name="!!chunkB" descr="image.png"/>
          <p:cNvPicPr>
            <a:picLocks noChangeAspect="1"/>
          </p:cNvPicPr>
          <p:nvPr/>
        </p:nvPicPr>
        <p:blipFill>
          <a:blip r:embed="rId6"/>
          <a:stretch>
            <a:fillRect/>
          </a:stretch>
        </p:blipFill>
        <p:spPr>
          <a:xfrm rot="10500000">
            <a:off x="-731520" y="-548640"/>
            <a:ext cx="2377440" cy="1937838"/>
          </a:xfrm>
          <a:prstGeom prst="rect">
            <a:avLst/>
          </a:prstGeom>
        </p:spPr>
      </p:pic>
      <p:pic>
        <p:nvPicPr>
          <p:cNvPr id="6" name="!!bars" descr="image.png"/>
          <p:cNvPicPr>
            <a:picLocks noChangeAspect="1"/>
          </p:cNvPicPr>
          <p:nvPr/>
        </p:nvPicPr>
        <p:blipFill>
          <a:blip r:embed="rId7"/>
          <a:stretch>
            <a:fillRect/>
          </a:stretch>
        </p:blipFill>
        <p:spPr>
          <a:xfrm>
            <a:off x="7680960" y="9646920"/>
            <a:ext cx="2926080" cy="1644838"/>
          </a:xfrm>
          <a:prstGeom prst="rect">
            <a:avLst/>
          </a:prstGeom>
        </p:spPr>
      </p:pic>
      <p:pic>
        <p:nvPicPr>
          <p:cNvPr id="7" name="!!hero" descr="image.jpeg"/>
          <p:cNvPicPr>
            <a:picLocks noChangeAspect="1"/>
          </p:cNvPicPr>
          <p:nvPr/>
        </p:nvPicPr>
        <p:blipFill>
          <a:blip r:embed="rId8"/>
          <a:srcRect t="20000" b="13333"/>
          <a:stretch>
            <a:fillRect/>
          </a:stretch>
        </p:blipFill>
        <p:spPr>
          <a:xfrm>
            <a:off x="14813280" y="731520"/>
            <a:ext cx="2651760" cy="2651760"/>
          </a:xfrm>
          <a:prstGeom prst="roundRect">
            <a:avLst>
              <a:gd name="adj" fmla="val 50000"/>
            </a:avLst>
          </a:prstGeom>
        </p:spPr>
      </p:pic>
      <p:sp>
        <p:nvSpPr>
          <p:cNvPr id="8" name="!!kick"/>
          <p:cNvSpPr txBox="1"/>
          <p:nvPr/>
        </p:nvSpPr>
        <p:spPr>
          <a:xfrm>
            <a:off x="1097280" y="731520"/>
            <a:ext cx="128016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05 · AFECTACIONES</a:t>
            </a:r>
          </a:p>
        </p:txBody>
      </p:sp>
      <p:sp>
        <p:nvSpPr>
          <p:cNvPr id="9" name="!!t1"/>
          <p:cNvSpPr txBox="1"/>
          <p:nvPr/>
        </p:nvSpPr>
        <p:spPr>
          <a:xfrm>
            <a:off x="1097280" y="1234440"/>
            <a:ext cx="128016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¿QUÉ PASA SI</a:t>
            </a:r>
          </a:p>
        </p:txBody>
      </p:sp>
      <p:sp>
        <p:nvSpPr>
          <p:cNvPr id="10" name="!!t2"/>
          <p:cNvSpPr txBox="1"/>
          <p:nvPr/>
        </p:nvSpPr>
        <p:spPr>
          <a:xfrm>
            <a:off x="1097280" y="1910080"/>
            <a:ext cx="128016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NO ACTUAMOS?</a:t>
            </a:r>
          </a:p>
        </p:txBody>
      </p:sp>
      <p:sp>
        <p:nvSpPr>
          <p:cNvPr id="11" name="risk0"/>
          <p:cNvSpPr/>
          <p:nvPr/>
        </p:nvSpPr>
        <p:spPr>
          <a:xfrm>
            <a:off x="1097280" y="3657600"/>
            <a:ext cx="7863840" cy="2788920"/>
          </a:xfrm>
          <a:prstGeom prst="roundRect">
            <a:avLst>
              <a:gd name="adj" fmla="val 9836"/>
            </a:avLst>
          </a:prstGeom>
          <a:solidFill>
            <a:srgbClr val="FFFFFF">
              <a:alpha val="7000"/>
            </a:srgbClr>
          </a:solidFill>
          <a:ln w="12700">
            <a:solidFill>
              <a:srgbClr val="FFFFFF">
                <a:alpha val="16000"/>
              </a:srgbClr>
            </a:solidFill>
          </a:ln>
        </p:spPr>
        <p:txBody>
          <a:bodyPr rtlCol="0" anchor="ctr"/>
          <a:lstStyle/>
          <a:p/>
        </p:txBody>
      </p:sp>
      <p:sp>
        <p:nvSpPr>
          <p:cNvPr id="12" name="riskn0"/>
          <p:cNvSpPr txBox="1"/>
          <p:nvPr/>
        </p:nvSpPr>
        <p:spPr>
          <a:xfrm>
            <a:off x="1417320" y="3931920"/>
            <a:ext cx="1463040" cy="822960"/>
          </a:xfrm>
          <a:prstGeom prst="rect">
            <a:avLst/>
          </a:prstGeom>
          <a:noFill/>
        </p:spPr>
        <p:txBody>
          <a:bodyPr wrap="square" lIns="0" rIns="0" tIns="0" bIns="0" anchor="t">
            <a:spAutoFit/>
          </a:bodyPr>
          <a:lstStyle/>
          <a:p>
            <a:pPr algn="l">
              <a:lnSpc>
                <a:spcPts val="4400"/>
              </a:lnSpc>
            </a:pPr>
            <a:r>
              <a:rPr sz="4400">
                <a:solidFill>
                  <a:srgbClr val="F2C48D"/>
                </a:solidFill>
                <a:latin typeface="Archivo Black"/>
                <a:ea typeface="Archivo Black"/>
                <a:cs typeface="Archivo Black"/>
              </a:rPr>
              <a:t>01</a:t>
            </a:r>
          </a:p>
        </p:txBody>
      </p:sp>
      <p:sp>
        <p:nvSpPr>
          <p:cNvPr id="13" name="riskk0"/>
          <p:cNvSpPr txBox="1"/>
          <p:nvPr/>
        </p:nvSpPr>
        <p:spPr>
          <a:xfrm>
            <a:off x="2926080" y="3977640"/>
            <a:ext cx="57607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Regulatorio y documental</a:t>
            </a:r>
          </a:p>
        </p:txBody>
      </p:sp>
      <p:sp>
        <p:nvSpPr>
          <p:cNvPr id="14" name="riski0"/>
          <p:cNvSpPr txBox="1"/>
          <p:nvPr/>
        </p:nvSpPr>
        <p:spPr>
          <a:xfrm>
            <a:off x="2926080" y="4572000"/>
            <a:ext cx="5760720" cy="1737360"/>
          </a:xfrm>
          <a:prstGeom prst="rect">
            <a:avLst/>
          </a:prstGeom>
          <a:noFill/>
        </p:spPr>
        <p:txBody>
          <a:bodyPr wrap="square" lIns="0" rIns="0" tIns="0" bIns="0" anchor="t">
            <a:spAutoFit/>
          </a:bodyPr>
          <a:lstStyle/>
          <a:p>
            <a:pPr algn="l">
              <a:lnSpc>
                <a:spcPts val="2430"/>
              </a:lnSpc>
            </a:pPr>
            <a:r>
              <a:rPr sz="1800">
                <a:solidFill>
                  <a:srgbClr val="F7E6D3"/>
                </a:solidFill>
                <a:latin typeface="Poppins"/>
                <a:ea typeface="Poppins"/>
                <a:cs typeface="Poppins"/>
              </a:rPr>
              <a:t>·  Retraso en el inicio de exportaciones</a:t>
            </a:r>
          </a:p>
          <a:p>
            <a:pPr algn="l">
              <a:lnSpc>
                <a:spcPts val="2430"/>
              </a:lnSpc>
            </a:pPr>
            <a:r>
              <a:rPr sz="1800">
                <a:solidFill>
                  <a:srgbClr val="F7E6D3"/>
                </a:solidFill>
                <a:latin typeface="Poppins"/>
                <a:ea typeface="Poppins"/>
                <a:cs typeface="Poppins"/>
              </a:rPr>
              <a:t>·  Errores en documentos aduaneros</a:t>
            </a:r>
          </a:p>
          <a:p>
            <a:pPr algn="l">
              <a:lnSpc>
                <a:spcPts val="2430"/>
              </a:lnSpc>
            </a:pPr>
            <a:r>
              <a:rPr sz="1800">
                <a:solidFill>
                  <a:srgbClr val="F7E6D3"/>
                </a:solidFill>
                <a:latin typeface="Poppins"/>
                <a:ea typeface="Poppins"/>
                <a:cs typeface="Poppins"/>
              </a:rPr>
              <a:t>·  Retención o rechazo de mercancía</a:t>
            </a:r>
          </a:p>
        </p:txBody>
      </p:sp>
      <p:sp>
        <p:nvSpPr>
          <p:cNvPr id="15" name="risk1"/>
          <p:cNvSpPr/>
          <p:nvPr/>
        </p:nvSpPr>
        <p:spPr>
          <a:xfrm>
            <a:off x="9326880" y="3657600"/>
            <a:ext cx="7863840" cy="2788920"/>
          </a:xfrm>
          <a:prstGeom prst="roundRect">
            <a:avLst>
              <a:gd name="adj" fmla="val 9836"/>
            </a:avLst>
          </a:prstGeom>
          <a:solidFill>
            <a:srgbClr val="FFFFFF">
              <a:alpha val="7000"/>
            </a:srgbClr>
          </a:solidFill>
          <a:ln w="12700">
            <a:solidFill>
              <a:srgbClr val="FFFFFF">
                <a:alpha val="16000"/>
              </a:srgbClr>
            </a:solidFill>
          </a:ln>
        </p:spPr>
        <p:txBody>
          <a:bodyPr rtlCol="0" anchor="ctr"/>
          <a:lstStyle/>
          <a:p/>
        </p:txBody>
      </p:sp>
      <p:sp>
        <p:nvSpPr>
          <p:cNvPr id="16" name="riskn1"/>
          <p:cNvSpPr txBox="1"/>
          <p:nvPr/>
        </p:nvSpPr>
        <p:spPr>
          <a:xfrm>
            <a:off x="9646920" y="3931920"/>
            <a:ext cx="1463040" cy="822960"/>
          </a:xfrm>
          <a:prstGeom prst="rect">
            <a:avLst/>
          </a:prstGeom>
          <a:noFill/>
        </p:spPr>
        <p:txBody>
          <a:bodyPr wrap="square" lIns="0" rIns="0" tIns="0" bIns="0" anchor="t">
            <a:spAutoFit/>
          </a:bodyPr>
          <a:lstStyle/>
          <a:p>
            <a:pPr algn="l">
              <a:lnSpc>
                <a:spcPts val="4400"/>
              </a:lnSpc>
            </a:pPr>
            <a:r>
              <a:rPr sz="4400">
                <a:solidFill>
                  <a:srgbClr val="F2C48D"/>
                </a:solidFill>
                <a:latin typeface="Archivo Black"/>
                <a:ea typeface="Archivo Black"/>
                <a:cs typeface="Archivo Black"/>
              </a:rPr>
              <a:t>02</a:t>
            </a:r>
          </a:p>
        </p:txBody>
      </p:sp>
      <p:sp>
        <p:nvSpPr>
          <p:cNvPr id="17" name="riskk1"/>
          <p:cNvSpPr txBox="1"/>
          <p:nvPr/>
        </p:nvSpPr>
        <p:spPr>
          <a:xfrm>
            <a:off x="11155680" y="3977640"/>
            <a:ext cx="57607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Económico</a:t>
            </a:r>
          </a:p>
        </p:txBody>
      </p:sp>
      <p:sp>
        <p:nvSpPr>
          <p:cNvPr id="18" name="riski1"/>
          <p:cNvSpPr txBox="1"/>
          <p:nvPr/>
        </p:nvSpPr>
        <p:spPr>
          <a:xfrm>
            <a:off x="11155680" y="4572000"/>
            <a:ext cx="5760720" cy="1737360"/>
          </a:xfrm>
          <a:prstGeom prst="rect">
            <a:avLst/>
          </a:prstGeom>
          <a:noFill/>
        </p:spPr>
        <p:txBody>
          <a:bodyPr wrap="square" lIns="0" rIns="0" tIns="0" bIns="0" anchor="t">
            <a:spAutoFit/>
          </a:bodyPr>
          <a:lstStyle/>
          <a:p>
            <a:pPr algn="l">
              <a:lnSpc>
                <a:spcPts val="2430"/>
              </a:lnSpc>
            </a:pPr>
            <a:r>
              <a:rPr sz="1800">
                <a:solidFill>
                  <a:srgbClr val="F7E6D3"/>
                </a:solidFill>
                <a:latin typeface="Poppins"/>
                <a:ea typeface="Poppins"/>
                <a:cs typeface="Poppins"/>
              </a:rPr>
              <a:t>·  Multas, devoluciones y pérdidas</a:t>
            </a:r>
          </a:p>
          <a:p>
            <a:pPr algn="l">
              <a:lnSpc>
                <a:spcPts val="2430"/>
              </a:lnSpc>
            </a:pPr>
            <a:r>
              <a:rPr sz="1800">
                <a:solidFill>
                  <a:srgbClr val="F7E6D3"/>
                </a:solidFill>
                <a:latin typeface="Poppins"/>
                <a:ea typeface="Poppins"/>
                <a:cs typeface="Poppins"/>
              </a:rPr>
              <a:t>·  Costos por rehacer etiquetas y empaques</a:t>
            </a:r>
          </a:p>
          <a:p>
            <a:pPr algn="l">
              <a:lnSpc>
                <a:spcPts val="2430"/>
              </a:lnSpc>
            </a:pPr>
            <a:r>
              <a:rPr sz="1800">
                <a:solidFill>
                  <a:srgbClr val="F7E6D3"/>
                </a:solidFill>
                <a:latin typeface="Poppins"/>
                <a:ea typeface="Poppins"/>
                <a:cs typeface="Poppins"/>
              </a:rPr>
              <a:t>·  Precio final de exportación incierto</a:t>
            </a:r>
          </a:p>
        </p:txBody>
      </p:sp>
      <p:sp>
        <p:nvSpPr>
          <p:cNvPr id="19" name="risk2"/>
          <p:cNvSpPr/>
          <p:nvPr/>
        </p:nvSpPr>
        <p:spPr>
          <a:xfrm>
            <a:off x="1097280" y="6720840"/>
            <a:ext cx="7863840" cy="2788920"/>
          </a:xfrm>
          <a:prstGeom prst="roundRect">
            <a:avLst>
              <a:gd name="adj" fmla="val 9836"/>
            </a:avLst>
          </a:prstGeom>
          <a:solidFill>
            <a:srgbClr val="FFFFFF">
              <a:alpha val="7000"/>
            </a:srgbClr>
          </a:solidFill>
          <a:ln w="12700">
            <a:solidFill>
              <a:srgbClr val="FFFFFF">
                <a:alpha val="16000"/>
              </a:srgbClr>
            </a:solidFill>
          </a:ln>
        </p:spPr>
        <p:txBody>
          <a:bodyPr rtlCol="0" anchor="ctr"/>
          <a:lstStyle/>
          <a:p/>
        </p:txBody>
      </p:sp>
      <p:sp>
        <p:nvSpPr>
          <p:cNvPr id="20" name="riskn2"/>
          <p:cNvSpPr txBox="1"/>
          <p:nvPr/>
        </p:nvSpPr>
        <p:spPr>
          <a:xfrm>
            <a:off x="1417320" y="6995160"/>
            <a:ext cx="1463040" cy="822960"/>
          </a:xfrm>
          <a:prstGeom prst="rect">
            <a:avLst/>
          </a:prstGeom>
          <a:noFill/>
        </p:spPr>
        <p:txBody>
          <a:bodyPr wrap="square" lIns="0" rIns="0" tIns="0" bIns="0" anchor="t">
            <a:spAutoFit/>
          </a:bodyPr>
          <a:lstStyle/>
          <a:p>
            <a:pPr algn="l">
              <a:lnSpc>
                <a:spcPts val="4400"/>
              </a:lnSpc>
            </a:pPr>
            <a:r>
              <a:rPr sz="4400">
                <a:solidFill>
                  <a:srgbClr val="F2C48D"/>
                </a:solidFill>
                <a:latin typeface="Archivo Black"/>
                <a:ea typeface="Archivo Black"/>
                <a:cs typeface="Archivo Black"/>
              </a:rPr>
              <a:t>03</a:t>
            </a:r>
          </a:p>
        </p:txBody>
      </p:sp>
      <p:sp>
        <p:nvSpPr>
          <p:cNvPr id="21" name="riskk2"/>
          <p:cNvSpPr txBox="1"/>
          <p:nvPr/>
        </p:nvSpPr>
        <p:spPr>
          <a:xfrm>
            <a:off x="2926080" y="7040880"/>
            <a:ext cx="57607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Calidad del producto</a:t>
            </a:r>
          </a:p>
        </p:txBody>
      </p:sp>
      <p:sp>
        <p:nvSpPr>
          <p:cNvPr id="22" name="riski2"/>
          <p:cNvSpPr txBox="1"/>
          <p:nvPr/>
        </p:nvSpPr>
        <p:spPr>
          <a:xfrm>
            <a:off x="2926080" y="7635240"/>
            <a:ext cx="5760720" cy="1737360"/>
          </a:xfrm>
          <a:prstGeom prst="rect">
            <a:avLst/>
          </a:prstGeom>
          <a:noFill/>
        </p:spPr>
        <p:txBody>
          <a:bodyPr wrap="square" lIns="0" rIns="0" tIns="0" bIns="0" anchor="t">
            <a:spAutoFit/>
          </a:bodyPr>
          <a:lstStyle/>
          <a:p>
            <a:pPr algn="l">
              <a:lnSpc>
                <a:spcPts val="2430"/>
              </a:lnSpc>
            </a:pPr>
            <a:r>
              <a:rPr sz="1800">
                <a:solidFill>
                  <a:srgbClr val="F7E6D3"/>
                </a:solidFill>
                <a:latin typeface="Poppins"/>
                <a:ea typeface="Poppins"/>
                <a:cs typeface="Poppins"/>
              </a:rPr>
              <a:t>·  Chocolate dañado durante el traslado</a:t>
            </a:r>
          </a:p>
          <a:p>
            <a:pPr algn="l">
              <a:lnSpc>
                <a:spcPts val="2430"/>
              </a:lnSpc>
            </a:pPr>
            <a:r>
              <a:rPr sz="1800">
                <a:solidFill>
                  <a:srgbClr val="F7E6D3"/>
                </a:solidFill>
                <a:latin typeface="Poppins"/>
                <a:ea typeface="Poppins"/>
                <a:cs typeface="Poppins"/>
              </a:rPr>
              <a:t>·  Menor vida de anaquel</a:t>
            </a:r>
          </a:p>
          <a:p>
            <a:pPr algn="l">
              <a:lnSpc>
                <a:spcPts val="2430"/>
              </a:lnSpc>
            </a:pPr>
            <a:r>
              <a:rPr sz="1800">
                <a:solidFill>
                  <a:srgbClr val="F7E6D3"/>
                </a:solidFill>
                <a:latin typeface="Poppins"/>
                <a:ea typeface="Poppins"/>
                <a:cs typeface="Poppins"/>
              </a:rPr>
              <a:t>·  Pérdida de presentación y textura</a:t>
            </a:r>
          </a:p>
        </p:txBody>
      </p:sp>
      <p:sp>
        <p:nvSpPr>
          <p:cNvPr id="23" name="risk3"/>
          <p:cNvSpPr/>
          <p:nvPr/>
        </p:nvSpPr>
        <p:spPr>
          <a:xfrm>
            <a:off x="9326880" y="6720840"/>
            <a:ext cx="7863840" cy="2788920"/>
          </a:xfrm>
          <a:prstGeom prst="roundRect">
            <a:avLst>
              <a:gd name="adj" fmla="val 9836"/>
            </a:avLst>
          </a:prstGeom>
          <a:solidFill>
            <a:srgbClr val="FFFFFF">
              <a:alpha val="7000"/>
            </a:srgbClr>
          </a:solidFill>
          <a:ln w="12700">
            <a:solidFill>
              <a:srgbClr val="FFFFFF">
                <a:alpha val="16000"/>
              </a:srgbClr>
            </a:solidFill>
          </a:ln>
        </p:spPr>
        <p:txBody>
          <a:bodyPr rtlCol="0" anchor="ctr"/>
          <a:lstStyle/>
          <a:p/>
        </p:txBody>
      </p:sp>
      <p:sp>
        <p:nvSpPr>
          <p:cNvPr id="24" name="riskn3"/>
          <p:cNvSpPr txBox="1"/>
          <p:nvPr/>
        </p:nvSpPr>
        <p:spPr>
          <a:xfrm>
            <a:off x="9646920" y="6995160"/>
            <a:ext cx="1463040" cy="822960"/>
          </a:xfrm>
          <a:prstGeom prst="rect">
            <a:avLst/>
          </a:prstGeom>
          <a:noFill/>
        </p:spPr>
        <p:txBody>
          <a:bodyPr wrap="square" lIns="0" rIns="0" tIns="0" bIns="0" anchor="t">
            <a:spAutoFit/>
          </a:bodyPr>
          <a:lstStyle/>
          <a:p>
            <a:pPr algn="l">
              <a:lnSpc>
                <a:spcPts val="4400"/>
              </a:lnSpc>
            </a:pPr>
            <a:r>
              <a:rPr sz="4400">
                <a:solidFill>
                  <a:srgbClr val="F2C48D"/>
                </a:solidFill>
                <a:latin typeface="Archivo Black"/>
                <a:ea typeface="Archivo Black"/>
                <a:cs typeface="Archivo Black"/>
              </a:rPr>
              <a:t>04</a:t>
            </a:r>
          </a:p>
        </p:txBody>
      </p:sp>
      <p:sp>
        <p:nvSpPr>
          <p:cNvPr id="25" name="riskk3"/>
          <p:cNvSpPr txBox="1"/>
          <p:nvPr/>
        </p:nvSpPr>
        <p:spPr>
          <a:xfrm>
            <a:off x="11155680" y="7040880"/>
            <a:ext cx="57607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Mercado y marca</a:t>
            </a:r>
          </a:p>
        </p:txBody>
      </p:sp>
      <p:sp>
        <p:nvSpPr>
          <p:cNvPr id="26" name="riski3"/>
          <p:cNvSpPr txBox="1"/>
          <p:nvPr/>
        </p:nvSpPr>
        <p:spPr>
          <a:xfrm>
            <a:off x="11155680" y="7635240"/>
            <a:ext cx="5760720" cy="1737360"/>
          </a:xfrm>
          <a:prstGeom prst="rect">
            <a:avLst/>
          </a:prstGeom>
          <a:noFill/>
        </p:spPr>
        <p:txBody>
          <a:bodyPr wrap="square" lIns="0" rIns="0" tIns="0" bIns="0" anchor="t">
            <a:spAutoFit/>
          </a:bodyPr>
          <a:lstStyle/>
          <a:p>
            <a:pPr algn="l">
              <a:lnSpc>
                <a:spcPts val="2430"/>
              </a:lnSpc>
            </a:pPr>
            <a:r>
              <a:rPr sz="1800">
                <a:solidFill>
                  <a:srgbClr val="F7E6D3"/>
                </a:solidFill>
                <a:latin typeface="Poppins"/>
                <a:ea typeface="Poppins"/>
                <a:cs typeface="Poppins"/>
              </a:rPr>
              <a:t>·  Difícil entrada a tiendas en EE. UU.</a:t>
            </a:r>
          </a:p>
          <a:p>
            <a:pPr algn="l">
              <a:lnSpc>
                <a:spcPts val="2430"/>
              </a:lnSpc>
            </a:pPr>
            <a:r>
              <a:rPr sz="1800">
                <a:solidFill>
                  <a:srgbClr val="F7E6D3"/>
                </a:solidFill>
                <a:latin typeface="Poppins"/>
                <a:ea typeface="Poppins"/>
                <a:cs typeface="Poppins"/>
              </a:rPr>
              <a:t>·  Sin importadores ni distribuidores</a:t>
            </a:r>
          </a:p>
          <a:p>
            <a:pPr algn="l">
              <a:lnSpc>
                <a:spcPts val="2430"/>
              </a:lnSpc>
            </a:pPr>
            <a:r>
              <a:rPr sz="1800">
                <a:solidFill>
                  <a:srgbClr val="F7E6D3"/>
                </a:solidFill>
                <a:latin typeface="Poppins"/>
                <a:ea typeface="Poppins"/>
                <a:cs typeface="Poppins"/>
              </a:rPr>
              <a:t>·  Baja competitividad frente a marcas líderes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pic>
        <p:nvPicPr>
          <p:cNvPr id="2" name="!!drip" descr="image.png"/>
          <p:cNvPicPr>
            <a:picLocks noChangeAspect="1"/>
          </p:cNvPicPr>
          <p:nvPr/>
        </p:nvPicPr>
        <p:blipFill>
          <a:blip r:embed="rId3"/>
          <a:stretch>
            <a:fillRect/>
          </a:stretch>
        </p:blipFill>
        <p:spPr>
          <a:xfrm>
            <a:off x="14081760" y="-1371600"/>
            <a:ext cx="4572000" cy="2358221"/>
          </a:xfrm>
          <a:prstGeom prst="rect">
            <a:avLst/>
          </a:prstGeom>
        </p:spPr>
      </p:pic>
      <p:pic>
        <p:nvPicPr>
          <p:cNvPr id="3" name="!!splash" descr="image.png"/>
          <p:cNvPicPr>
            <a:picLocks noChangeAspect="1"/>
          </p:cNvPicPr>
          <p:nvPr/>
        </p:nvPicPr>
        <p:blipFill>
          <a:blip r:embed="rId4"/>
          <a:stretch>
            <a:fillRect/>
          </a:stretch>
        </p:blipFill>
        <p:spPr>
          <a:xfrm rot="960000">
            <a:off x="-2377440" y="7680960"/>
            <a:ext cx="5120640" cy="3186176"/>
          </a:xfrm>
          <a:prstGeom prst="rect">
            <a:avLst/>
          </a:prstGeom>
        </p:spPr>
      </p:pic>
      <p:pic>
        <p:nvPicPr>
          <p:cNvPr id="4" name="!!chunkA" descr="image.png"/>
          <p:cNvPicPr>
            <a:picLocks noChangeAspect="1"/>
          </p:cNvPicPr>
          <p:nvPr/>
        </p:nvPicPr>
        <p:blipFill>
          <a:blip r:embed="rId5"/>
          <a:stretch>
            <a:fillRect/>
          </a:stretch>
        </p:blipFill>
        <p:spPr>
          <a:xfrm rot="19200000">
            <a:off x="6492240" y="365760"/>
            <a:ext cx="1188720" cy="1532917"/>
          </a:xfrm>
          <a:prstGeom prst="rect">
            <a:avLst/>
          </a:prstGeom>
        </p:spPr>
      </p:pic>
      <p:pic>
        <p:nvPicPr>
          <p:cNvPr id="5" name="!!chunkB" descr="image.png"/>
          <p:cNvPicPr>
            <a:picLocks noChangeAspect="1"/>
          </p:cNvPicPr>
          <p:nvPr/>
        </p:nvPicPr>
        <p:blipFill>
          <a:blip r:embed="rId6"/>
          <a:stretch>
            <a:fillRect/>
          </a:stretch>
        </p:blipFill>
        <p:spPr>
          <a:xfrm rot="600000">
            <a:off x="-640080" y="8778240"/>
            <a:ext cx="2011680" cy="1639709"/>
          </a:xfrm>
          <a:prstGeom prst="rect">
            <a:avLst/>
          </a:prstGeom>
        </p:spPr>
      </p:pic>
      <p:pic>
        <p:nvPicPr>
          <p:cNvPr id="6" name="!!bars" descr="image.png"/>
          <p:cNvPicPr>
            <a:picLocks noChangeAspect="1"/>
          </p:cNvPicPr>
          <p:nvPr/>
        </p:nvPicPr>
        <p:blipFill>
          <a:blip r:embed="rId7"/>
          <a:stretch>
            <a:fillRect/>
          </a:stretch>
        </p:blipFill>
        <p:spPr>
          <a:xfrm rot="21120000">
            <a:off x="4754880" y="9601200"/>
            <a:ext cx="2377440" cy="1336431"/>
          </a:xfrm>
          <a:prstGeom prst="rect">
            <a:avLst/>
          </a:prstGeom>
        </p:spPr>
      </p:pic>
      <p:sp>
        <p:nvSpPr>
          <p:cNvPr id="7" name="!!kick"/>
          <p:cNvSpPr txBox="1"/>
          <p:nvPr/>
        </p:nvSpPr>
        <p:spPr>
          <a:xfrm>
            <a:off x="1097280" y="731520"/>
            <a:ext cx="82296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06 · DIAGNÓSTICO</a:t>
            </a:r>
          </a:p>
        </p:txBody>
      </p:sp>
      <p:sp>
        <p:nvSpPr>
          <p:cNvPr id="8" name="!!t1"/>
          <p:cNvSpPr txBox="1"/>
          <p:nvPr/>
        </p:nvSpPr>
        <p:spPr>
          <a:xfrm>
            <a:off x="1097280" y="1234440"/>
            <a:ext cx="8229600" cy="600710"/>
          </a:xfrm>
          <a:prstGeom prst="rect">
            <a:avLst/>
          </a:prstGeom>
          <a:noFill/>
        </p:spPr>
        <p:txBody>
          <a:bodyPr wrap="square" lIns="0" rIns="0" tIns="0" bIns="0" anchor="t">
            <a:spAutoFit/>
          </a:bodyPr>
          <a:lstStyle/>
          <a:p>
            <a:pPr algn="l">
              <a:lnSpc>
                <a:spcPts val="4370"/>
              </a:lnSpc>
            </a:pPr>
            <a:r>
              <a:rPr sz="4600" spc="-300">
                <a:solidFill>
                  <a:srgbClr val="FFFFFF"/>
                </a:solidFill>
                <a:latin typeface="Archivo Black"/>
                <a:ea typeface="Archivo Black"/>
                <a:cs typeface="Archivo Black"/>
              </a:rPr>
              <a:t>RESULTADOS DEL</a:t>
            </a:r>
          </a:p>
        </p:txBody>
      </p:sp>
      <p:sp>
        <p:nvSpPr>
          <p:cNvPr id="9" name="!!t2"/>
          <p:cNvSpPr txBox="1"/>
          <p:nvPr/>
        </p:nvSpPr>
        <p:spPr>
          <a:xfrm>
            <a:off x="1097280" y="1789430"/>
            <a:ext cx="8229600" cy="600710"/>
          </a:xfrm>
          <a:prstGeom prst="rect">
            <a:avLst/>
          </a:prstGeom>
          <a:noFill/>
        </p:spPr>
        <p:txBody>
          <a:bodyPr wrap="square" lIns="0" rIns="0" tIns="0" bIns="0" anchor="t">
            <a:spAutoFit/>
          </a:bodyPr>
          <a:lstStyle/>
          <a:p>
            <a:pPr algn="l">
              <a:lnSpc>
                <a:spcPts val="4370"/>
              </a:lnSpc>
            </a:pPr>
            <a:r>
              <a:rPr sz="4600" spc="-300">
                <a:gradFill>
                  <a:gsLst>
                    <a:gs pos="0">
                      <a:srgbClr val="E0A77C"/>
                    </a:gs>
                    <a:gs pos="100000">
                      <a:srgbClr val="FFFFFF"/>
                    </a:gs>
                  </a:gsLst>
                  <a:lin ang="0" scaled="0"/>
                </a:gradFill>
                <a:latin typeface="Archivo Black"/>
                <a:ea typeface="Archivo Black"/>
                <a:cs typeface="Archivo Black"/>
              </a:rPr>
              <a:t>DIAGNÓSTICO</a:t>
            </a:r>
          </a:p>
        </p:txBody>
      </p:sp>
      <p:sp>
        <p:nvSpPr>
          <p:cNvPr id="10" name="statn0"/>
          <p:cNvSpPr txBox="1"/>
          <p:nvPr/>
        </p:nvSpPr>
        <p:spPr>
          <a:xfrm>
            <a:off x="1097280" y="3246120"/>
            <a:ext cx="2743200" cy="1188720"/>
          </a:xfrm>
          <a:prstGeom prst="rect">
            <a:avLst/>
          </a:prstGeom>
          <a:noFill/>
        </p:spPr>
        <p:txBody>
          <a:bodyPr wrap="square" lIns="0" rIns="0" tIns="0" bIns="0" anchor="ctr">
            <a:spAutoFit/>
          </a:bodyPr>
          <a:lstStyle/>
          <a:p>
            <a:pPr algn="l">
              <a:lnSpc>
                <a:spcPts val="6000"/>
              </a:lnSpc>
            </a:pPr>
            <a:r>
              <a:rPr sz="6000" spc="-200">
                <a:solidFill>
                  <a:srgbClr val="F2C48D"/>
                </a:solidFill>
                <a:latin typeface="Archivo Black"/>
                <a:ea typeface="Archivo Black"/>
                <a:cs typeface="Archivo Black"/>
              </a:rPr>
              <a:t>0</a:t>
            </a:r>
          </a:p>
        </p:txBody>
      </p:sp>
      <p:sp>
        <p:nvSpPr>
          <p:cNvPr id="11" name="statl0"/>
          <p:cNvSpPr txBox="1"/>
          <p:nvPr/>
        </p:nvSpPr>
        <p:spPr>
          <a:xfrm>
            <a:off x="3657600" y="3429000"/>
            <a:ext cx="4206240" cy="1005840"/>
          </a:xfrm>
          <a:prstGeom prst="rect">
            <a:avLst/>
          </a:prstGeom>
          <a:noFill/>
        </p:spPr>
        <p:txBody>
          <a:bodyPr wrap="square" lIns="0" rIns="0" tIns="0" bIns="0" anchor="ctr">
            <a:spAutoFit/>
          </a:bodyPr>
          <a:lstStyle/>
          <a:p>
            <a:pPr algn="l">
              <a:lnSpc>
                <a:spcPts val="2470"/>
              </a:lnSpc>
            </a:pPr>
            <a:r>
              <a:rPr sz="1900">
                <a:solidFill>
                  <a:srgbClr val="FFFFFF"/>
                </a:solidFill>
                <a:latin typeface="Poppins"/>
                <a:ea typeface="Poppins"/>
                <a:cs typeface="Poppins"/>
              </a:rPr>
              <a:t>experiencia previa en
comercio exterior</a:t>
            </a:r>
          </a:p>
        </p:txBody>
      </p:sp>
      <p:sp>
        <p:nvSpPr>
          <p:cNvPr id="12" name="statn1"/>
          <p:cNvSpPr txBox="1"/>
          <p:nvPr/>
        </p:nvSpPr>
        <p:spPr>
          <a:xfrm>
            <a:off x="1097280" y="5120640"/>
            <a:ext cx="2743200" cy="1188720"/>
          </a:xfrm>
          <a:prstGeom prst="rect">
            <a:avLst/>
          </a:prstGeom>
          <a:noFill/>
        </p:spPr>
        <p:txBody>
          <a:bodyPr wrap="square" lIns="0" rIns="0" tIns="0" bIns="0" anchor="ctr">
            <a:spAutoFit/>
          </a:bodyPr>
          <a:lstStyle/>
          <a:p>
            <a:pPr algn="l">
              <a:lnSpc>
                <a:spcPts val="4800"/>
              </a:lnSpc>
            </a:pPr>
            <a:r>
              <a:rPr sz="4800" spc="-200">
                <a:solidFill>
                  <a:srgbClr val="F2C48D"/>
                </a:solidFill>
                <a:latin typeface="Archivo Black"/>
                <a:ea typeface="Archivo Black"/>
                <a:cs typeface="Archivo Black"/>
              </a:rPr>
              <a:t>1.9/4</a:t>
            </a:r>
          </a:p>
        </p:txBody>
      </p:sp>
      <p:sp>
        <p:nvSpPr>
          <p:cNvPr id="13" name="statl1"/>
          <p:cNvSpPr txBox="1"/>
          <p:nvPr/>
        </p:nvSpPr>
        <p:spPr>
          <a:xfrm>
            <a:off x="3657600" y="5303520"/>
            <a:ext cx="4206240" cy="1005840"/>
          </a:xfrm>
          <a:prstGeom prst="rect">
            <a:avLst/>
          </a:prstGeom>
          <a:noFill/>
        </p:spPr>
        <p:txBody>
          <a:bodyPr wrap="square" lIns="0" rIns="0" tIns="0" bIns="0" anchor="ctr">
            <a:spAutoFit/>
          </a:bodyPr>
          <a:lstStyle/>
          <a:p>
            <a:pPr algn="l">
              <a:lnSpc>
                <a:spcPts val="2470"/>
              </a:lnSpc>
            </a:pPr>
            <a:r>
              <a:rPr sz="1900">
                <a:solidFill>
                  <a:srgbClr val="FFFFFF"/>
                </a:solidFill>
                <a:latin typeface="Poppins"/>
                <a:ea typeface="Poppins"/>
                <a:cs typeface="Poppins"/>
              </a:rPr>
              <a:t>nivel promedio de
preparación para exportar</a:t>
            </a:r>
          </a:p>
        </p:txBody>
      </p:sp>
      <p:sp>
        <p:nvSpPr>
          <p:cNvPr id="14" name="keybox"/>
          <p:cNvSpPr/>
          <p:nvPr/>
        </p:nvSpPr>
        <p:spPr>
          <a:xfrm>
            <a:off x="1097280" y="7178040"/>
            <a:ext cx="6766560" cy="1737360"/>
          </a:xfrm>
          <a:prstGeom prst="roundRect">
            <a:avLst>
              <a:gd name="adj" fmla="val 15789"/>
            </a:avLst>
          </a:prstGeom>
          <a:solidFill>
            <a:srgbClr val="F2C48D">
              <a:alpha val="16000"/>
            </a:srgbClr>
          </a:solidFill>
          <a:ln w="12700">
            <a:noFill/>
          </a:ln>
        </p:spPr>
        <p:txBody>
          <a:bodyPr rtlCol="0" anchor="ctr"/>
          <a:lstStyle/>
          <a:p/>
        </p:txBody>
      </p:sp>
      <p:sp>
        <p:nvSpPr>
          <p:cNvPr id="15" name="keyt"/>
          <p:cNvSpPr txBox="1"/>
          <p:nvPr/>
        </p:nvSpPr>
        <p:spPr>
          <a:xfrm>
            <a:off x="1417320" y="7406640"/>
            <a:ext cx="6217920" cy="1828800"/>
          </a:xfrm>
          <a:prstGeom prst="rect">
            <a:avLst/>
          </a:prstGeom>
          <a:noFill/>
        </p:spPr>
        <p:txBody>
          <a:bodyPr wrap="square" lIns="0" rIns="0" tIns="0" bIns="0" anchor="t">
            <a:spAutoFit/>
          </a:bodyPr>
          <a:lstStyle/>
          <a:p>
            <a:pPr algn="l">
              <a:lnSpc>
                <a:spcPts val="1820"/>
              </a:lnSpc>
              <a:spcAft>
                <a:spcPts val="600"/>
              </a:spcAft>
            </a:pPr>
            <a:r>
              <a:rPr sz="1400" spc="150">
                <a:solidFill>
                  <a:srgbClr val="F2C48D"/>
                </a:solidFill>
                <a:latin typeface="Poppins Semi-Bold"/>
                <a:ea typeface="Poppins Semi-Bold"/>
                <a:cs typeface="Poppins Semi-Bold"/>
              </a:rPr>
              <a:t>PRINCIPAL DIFICULTAD SEGÚN EL DIRECTOR</a:t>
            </a:r>
          </a:p>
          <a:p>
            <a:pPr algn="l">
              <a:lnSpc>
                <a:spcPts val="2879"/>
              </a:lnSpc>
            </a:pPr>
            <a:r>
              <a:rPr sz="2400">
                <a:solidFill>
                  <a:srgbClr val="FFFFFF"/>
                </a:solidFill>
                <a:latin typeface="Poppins Bold"/>
                <a:ea typeface="Poppins Bold"/>
                <a:cs typeface="Poppins Bold"/>
              </a:rPr>
              <a:t>Cumplimiento sanitario y etiquetado</a:t>
            </a:r>
          </a:p>
        </p:txBody>
      </p:sp>
      <p:graphicFrame>
        <p:nvGraphicFramePr>
          <p:cNvPr id="16" name="!!chart"/>
          <p:cNvGraphicFramePr>
            <a:graphicFrameLocks noGrp="1"/>
          </p:cNvGraphicFramePr>
          <p:nvPr/>
        </p:nvGraphicFramePr>
        <p:xfrm>
          <a:off x="8503920" y="685800"/>
          <a:ext cx="9326880" cy="9052560"/>
        </p:xfrm>
        <a:graphic>
          <a:graphicData uri="http://schemas.openxmlformats.org/drawingml/2006/chart">
            <c:chart xmlns:c="http://schemas.openxmlformats.org/drawingml/2006/chart" r:id="rId8"/>
          </a:graphicData>
        </a:graphic>
      </p:graphicFrame>
      <p:sp>
        <p:nvSpPr>
          <p:cNvPr id="17" name="scale"/>
          <p:cNvSpPr txBox="1"/>
          <p:nvPr/>
        </p:nvSpPr>
        <p:spPr>
          <a:xfrm>
            <a:off x="8503920" y="9738360"/>
            <a:ext cx="9326880" cy="320040"/>
          </a:xfrm>
          <a:prstGeom prst="rect">
            <a:avLst/>
          </a:prstGeom>
          <a:noFill/>
        </p:spPr>
        <p:txBody>
          <a:bodyPr wrap="square" lIns="0" rIns="0" tIns="0" bIns="0" anchor="t">
            <a:spAutoFit/>
          </a:bodyPr>
          <a:lstStyle/>
          <a:p>
            <a:pPr algn="r">
              <a:lnSpc>
                <a:spcPts val="1439"/>
              </a:lnSpc>
            </a:pPr>
            <a:r>
              <a:rPr sz="1200">
                <a:solidFill>
                  <a:srgbClr val="F7E6D3"/>
                </a:solidFill>
                <a:latin typeface="Poppins"/>
                <a:ea typeface="Poppins"/>
                <a:cs typeface="Poppins"/>
              </a:rPr>
              <a:t>Escala: 1 Ninguno · 2 Básico · 3 Intermedio · 4 Avanzado (nivel requerido para exportar)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pic>
        <p:nvPicPr>
          <p:cNvPr id="2" name="!!drip" descr="image.png"/>
          <p:cNvPicPr>
            <a:picLocks noChangeAspect="1"/>
          </p:cNvPicPr>
          <p:nvPr/>
        </p:nvPicPr>
        <p:blipFill>
          <a:blip r:embed="rId3"/>
          <a:stretch>
            <a:fillRect/>
          </a:stretch>
        </p:blipFill>
        <p:spPr>
          <a:xfrm>
            <a:off x="-2743200" y="-1097280"/>
            <a:ext cx="5669280" cy="2924193"/>
          </a:xfrm>
          <a:prstGeom prst="rect">
            <a:avLst/>
          </a:prstGeom>
        </p:spPr>
      </p:pic>
      <p:pic>
        <p:nvPicPr>
          <p:cNvPr id="3" name="!!splash" descr="image.png"/>
          <p:cNvPicPr>
            <a:picLocks noChangeAspect="1"/>
          </p:cNvPicPr>
          <p:nvPr/>
        </p:nvPicPr>
        <p:blipFill>
          <a:blip r:embed="rId4"/>
          <a:stretch>
            <a:fillRect/>
          </a:stretch>
        </p:blipFill>
        <p:spPr>
          <a:xfrm>
            <a:off x="13898880" y="-1463040"/>
            <a:ext cx="5852160" cy="3641344"/>
          </a:xfrm>
          <a:prstGeom prst="rect">
            <a:avLst/>
          </a:prstGeom>
        </p:spPr>
      </p:pic>
      <p:pic>
        <p:nvPicPr>
          <p:cNvPr id="4" name="!!chunkA" descr="image.png"/>
          <p:cNvPicPr>
            <a:picLocks noChangeAspect="1"/>
          </p:cNvPicPr>
          <p:nvPr/>
        </p:nvPicPr>
        <p:blipFill>
          <a:blip r:embed="rId5"/>
          <a:stretch>
            <a:fillRect/>
          </a:stretch>
        </p:blipFill>
        <p:spPr>
          <a:xfrm rot="900000">
            <a:off x="6675120" y="8595360"/>
            <a:ext cx="1280160" cy="1650833"/>
          </a:xfrm>
          <a:prstGeom prst="rect">
            <a:avLst/>
          </a:prstGeom>
        </p:spPr>
      </p:pic>
      <p:pic>
        <p:nvPicPr>
          <p:cNvPr id="5" name="!!chunkB" descr="image.png"/>
          <p:cNvPicPr>
            <a:picLocks noChangeAspect="1"/>
          </p:cNvPicPr>
          <p:nvPr/>
        </p:nvPicPr>
        <p:blipFill>
          <a:blip r:embed="rId6"/>
          <a:stretch>
            <a:fillRect/>
          </a:stretch>
        </p:blipFill>
        <p:spPr>
          <a:xfrm rot="480000">
            <a:off x="15910560" y="8412480"/>
            <a:ext cx="2560320" cy="2086902"/>
          </a:xfrm>
          <a:prstGeom prst="rect">
            <a:avLst/>
          </a:prstGeom>
        </p:spPr>
      </p:pic>
      <p:pic>
        <p:nvPicPr>
          <p:cNvPr id="6" name="!!bars" descr="image.png"/>
          <p:cNvPicPr>
            <a:picLocks noChangeAspect="1"/>
          </p:cNvPicPr>
          <p:nvPr/>
        </p:nvPicPr>
        <p:blipFill>
          <a:blip r:embed="rId7"/>
          <a:stretch>
            <a:fillRect/>
          </a:stretch>
        </p:blipFill>
        <p:spPr>
          <a:xfrm rot="360000">
            <a:off x="3291840" y="8412480"/>
            <a:ext cx="3657600" cy="2056047"/>
          </a:xfrm>
          <a:prstGeom prst="rect">
            <a:avLst/>
          </a:prstGeom>
        </p:spPr>
      </p:pic>
      <p:pic>
        <p:nvPicPr>
          <p:cNvPr id="7" name="!!hero" descr="image.jpeg"/>
          <p:cNvPicPr>
            <a:picLocks noChangeAspect="1"/>
          </p:cNvPicPr>
          <p:nvPr/>
        </p:nvPicPr>
        <p:blipFill>
          <a:blip r:embed="rId8"/>
          <a:srcRect l="51564" r="12891"/>
          <a:stretch>
            <a:fillRect/>
          </a:stretch>
        </p:blipFill>
        <p:spPr>
          <a:xfrm>
            <a:off x="-1737360" y="1005840"/>
            <a:ext cx="4389120" cy="8229600"/>
          </a:xfrm>
          <a:prstGeom prst="roundRect">
            <a:avLst>
              <a:gd name="adj" fmla="val 7291"/>
            </a:avLst>
          </a:prstGeom>
        </p:spPr>
      </p:pic>
      <p:pic>
        <p:nvPicPr>
          <p:cNvPr id="8" name="hero2" descr="image.jpeg"/>
          <p:cNvPicPr>
            <a:picLocks noChangeAspect="1"/>
          </p:cNvPicPr>
          <p:nvPr/>
        </p:nvPicPr>
        <p:blipFill>
          <a:blip r:embed="rId9"/>
          <a:srcRect l="4997" r="4997"/>
          <a:stretch>
            <a:fillRect/>
          </a:stretch>
        </p:blipFill>
        <p:spPr>
          <a:xfrm>
            <a:off x="2880360" y="1005840"/>
            <a:ext cx="4389120" cy="8229600"/>
          </a:xfrm>
          <a:prstGeom prst="roundRect">
            <a:avLst>
              <a:gd name="adj" fmla="val 7291"/>
            </a:avLst>
          </a:prstGeom>
        </p:spPr>
      </p:pic>
      <p:sp>
        <p:nvSpPr>
          <p:cNvPr id="9" name="!!kick"/>
          <p:cNvSpPr txBox="1"/>
          <p:nvPr/>
        </p:nvSpPr>
        <p:spPr>
          <a:xfrm>
            <a:off x="7955280" y="731520"/>
            <a:ext cx="96012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07 · OBJETIVOS</a:t>
            </a:r>
          </a:p>
        </p:txBody>
      </p:sp>
      <p:sp>
        <p:nvSpPr>
          <p:cNvPr id="10" name="!!t1"/>
          <p:cNvSpPr txBox="1"/>
          <p:nvPr/>
        </p:nvSpPr>
        <p:spPr>
          <a:xfrm>
            <a:off x="7955280" y="1234440"/>
            <a:ext cx="96012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OBJETIVOS</a:t>
            </a:r>
          </a:p>
        </p:txBody>
      </p:sp>
      <p:sp>
        <p:nvSpPr>
          <p:cNvPr id="11" name="!!t2"/>
          <p:cNvSpPr txBox="1"/>
          <p:nvPr/>
        </p:nvSpPr>
        <p:spPr>
          <a:xfrm>
            <a:off x="7955280" y="1910080"/>
            <a:ext cx="96012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DEL PROYECTO</a:t>
            </a:r>
          </a:p>
        </p:txBody>
      </p:sp>
      <p:sp>
        <p:nvSpPr>
          <p:cNvPr id="12" name="objg"/>
          <p:cNvSpPr txBox="1"/>
          <p:nvPr/>
        </p:nvSpPr>
        <p:spPr>
          <a:xfrm>
            <a:off x="7955280" y="3246120"/>
            <a:ext cx="9418320" cy="1737360"/>
          </a:xfrm>
          <a:prstGeom prst="rect">
            <a:avLst/>
          </a:prstGeom>
          <a:noFill/>
        </p:spPr>
        <p:txBody>
          <a:bodyPr wrap="square" lIns="0" rIns="0" tIns="0" bIns="0" anchor="t">
            <a:spAutoFit/>
          </a:bodyPr>
          <a:lstStyle/>
          <a:p>
            <a:pPr algn="l">
              <a:lnSpc>
                <a:spcPts val="1820"/>
              </a:lnSpc>
              <a:spcAft>
                <a:spcPts val="400"/>
              </a:spcAft>
            </a:pPr>
            <a:r>
              <a:rPr sz="1400" spc="150">
                <a:solidFill>
                  <a:srgbClr val="F2C48D"/>
                </a:solidFill>
                <a:latin typeface="Poppins Semi-Bold"/>
                <a:ea typeface="Poppins Semi-Bold"/>
                <a:cs typeface="Poppins Semi-Bold"/>
              </a:rPr>
              <a:t>OBJETIVO GENERAL</a:t>
            </a:r>
          </a:p>
          <a:p>
            <a:pPr algn="l">
              <a:lnSpc>
                <a:spcPts val="2430"/>
              </a:lnSpc>
            </a:pPr>
            <a:r>
              <a:rPr sz="1800">
                <a:solidFill>
                  <a:srgbClr val="FFFFFF"/>
                </a:solidFill>
                <a:latin typeface="Poppins"/>
                <a:ea typeface="Poppins"/>
                <a:cs typeface="Poppins"/>
              </a:rPr>
              <a:t>Posicionar las barras XOCO en San Antonio, Texas, con una estrategia de exportación que destaque su origen mexicano, calidad artesanal y diseño prehispánico.</a:t>
            </a:r>
          </a:p>
        </p:txBody>
      </p:sp>
      <p:sp>
        <p:nvSpPr>
          <p:cNvPr id="13" name="objn0"/>
          <p:cNvSpPr txBox="1"/>
          <p:nvPr/>
        </p:nvSpPr>
        <p:spPr>
          <a:xfrm>
            <a:off x="7955280" y="5440680"/>
            <a:ext cx="914400" cy="731520"/>
          </a:xfrm>
          <a:prstGeom prst="rect">
            <a:avLst/>
          </a:prstGeom>
          <a:noFill/>
        </p:spPr>
        <p:txBody>
          <a:bodyPr wrap="square" lIns="0" rIns="0" tIns="0" bIns="0" anchor="t">
            <a:spAutoFit/>
          </a:bodyPr>
          <a:lstStyle/>
          <a:p>
            <a:pPr algn="l">
              <a:lnSpc>
                <a:spcPts val="3000"/>
              </a:lnSpc>
            </a:pPr>
            <a:r>
              <a:rPr sz="3000">
                <a:solidFill>
                  <a:srgbClr val="F2C48D"/>
                </a:solidFill>
                <a:latin typeface="Archivo Black"/>
                <a:ea typeface="Archivo Black"/>
                <a:cs typeface="Archivo Black"/>
              </a:rPr>
              <a:t>01</a:t>
            </a:r>
          </a:p>
        </p:txBody>
      </p:sp>
      <p:sp>
        <p:nvSpPr>
          <p:cNvPr id="14" name="objt0"/>
          <p:cNvSpPr txBox="1"/>
          <p:nvPr/>
        </p:nvSpPr>
        <p:spPr>
          <a:xfrm>
            <a:off x="8869680" y="5440680"/>
            <a:ext cx="3657600" cy="1280160"/>
          </a:xfrm>
          <a:prstGeom prst="rect">
            <a:avLst/>
          </a:prstGeom>
          <a:noFill/>
        </p:spPr>
        <p:txBody>
          <a:bodyPr wrap="square" lIns="0" rIns="0" tIns="0" bIns="0" anchor="t">
            <a:spAutoFit/>
          </a:bodyPr>
          <a:lstStyle/>
          <a:p>
            <a:pPr algn="l">
              <a:lnSpc>
                <a:spcPts val="2015"/>
              </a:lnSpc>
            </a:pPr>
            <a:r>
              <a:rPr sz="1550">
                <a:solidFill>
                  <a:srgbClr val="FFFFFF"/>
                </a:solidFill>
                <a:latin typeface="Poppins"/>
                <a:ea typeface="Poppins"/>
                <a:cs typeface="Poppins"/>
              </a:rPr>
              <a:t>Cumplir requisitos sanitarios, de etiquetado y comerciales de EE. UU.</a:t>
            </a:r>
          </a:p>
        </p:txBody>
      </p:sp>
      <p:sp>
        <p:nvSpPr>
          <p:cNvPr id="15" name="objn1"/>
          <p:cNvSpPr txBox="1"/>
          <p:nvPr/>
        </p:nvSpPr>
        <p:spPr>
          <a:xfrm>
            <a:off x="7955280" y="6858000"/>
            <a:ext cx="914400" cy="731520"/>
          </a:xfrm>
          <a:prstGeom prst="rect">
            <a:avLst/>
          </a:prstGeom>
          <a:noFill/>
        </p:spPr>
        <p:txBody>
          <a:bodyPr wrap="square" lIns="0" rIns="0" tIns="0" bIns="0" anchor="t">
            <a:spAutoFit/>
          </a:bodyPr>
          <a:lstStyle/>
          <a:p>
            <a:pPr algn="l">
              <a:lnSpc>
                <a:spcPts val="3000"/>
              </a:lnSpc>
            </a:pPr>
            <a:r>
              <a:rPr sz="3000">
                <a:solidFill>
                  <a:srgbClr val="F2C48D"/>
                </a:solidFill>
                <a:latin typeface="Archivo Black"/>
                <a:ea typeface="Archivo Black"/>
                <a:cs typeface="Archivo Black"/>
              </a:rPr>
              <a:t>02</a:t>
            </a:r>
          </a:p>
        </p:txBody>
      </p:sp>
      <p:sp>
        <p:nvSpPr>
          <p:cNvPr id="16" name="objt1"/>
          <p:cNvSpPr txBox="1"/>
          <p:nvPr/>
        </p:nvSpPr>
        <p:spPr>
          <a:xfrm>
            <a:off x="8869680" y="6858000"/>
            <a:ext cx="3657600" cy="1280160"/>
          </a:xfrm>
          <a:prstGeom prst="rect">
            <a:avLst/>
          </a:prstGeom>
          <a:noFill/>
        </p:spPr>
        <p:txBody>
          <a:bodyPr wrap="square" lIns="0" rIns="0" tIns="0" bIns="0" anchor="t">
            <a:spAutoFit/>
          </a:bodyPr>
          <a:lstStyle/>
          <a:p>
            <a:pPr algn="l">
              <a:lnSpc>
                <a:spcPts val="2015"/>
              </a:lnSpc>
            </a:pPr>
            <a:r>
              <a:rPr sz="1550">
                <a:solidFill>
                  <a:srgbClr val="FFFFFF"/>
                </a:solidFill>
                <a:latin typeface="Poppins"/>
                <a:ea typeface="Poppins"/>
                <a:cs typeface="Poppins"/>
              </a:rPr>
              <a:t>Introducir XOCO en tiendas especializadas y de productos mexicanos.</a:t>
            </a:r>
          </a:p>
        </p:txBody>
      </p:sp>
      <p:sp>
        <p:nvSpPr>
          <p:cNvPr id="17" name="objn2"/>
          <p:cNvSpPr txBox="1"/>
          <p:nvPr/>
        </p:nvSpPr>
        <p:spPr>
          <a:xfrm>
            <a:off x="7955280" y="8275320"/>
            <a:ext cx="914400" cy="731520"/>
          </a:xfrm>
          <a:prstGeom prst="rect">
            <a:avLst/>
          </a:prstGeom>
          <a:noFill/>
        </p:spPr>
        <p:txBody>
          <a:bodyPr wrap="square" lIns="0" rIns="0" tIns="0" bIns="0" anchor="t">
            <a:spAutoFit/>
          </a:bodyPr>
          <a:lstStyle/>
          <a:p>
            <a:pPr algn="l">
              <a:lnSpc>
                <a:spcPts val="3000"/>
              </a:lnSpc>
            </a:pPr>
            <a:r>
              <a:rPr sz="3000">
                <a:solidFill>
                  <a:srgbClr val="F2C48D"/>
                </a:solidFill>
                <a:latin typeface="Archivo Black"/>
                <a:ea typeface="Archivo Black"/>
                <a:cs typeface="Archivo Black"/>
              </a:rPr>
              <a:t>03</a:t>
            </a:r>
          </a:p>
        </p:txBody>
      </p:sp>
      <p:sp>
        <p:nvSpPr>
          <p:cNvPr id="18" name="objt2"/>
          <p:cNvSpPr txBox="1"/>
          <p:nvPr/>
        </p:nvSpPr>
        <p:spPr>
          <a:xfrm>
            <a:off x="8869680" y="8275320"/>
            <a:ext cx="3657600" cy="1280160"/>
          </a:xfrm>
          <a:prstGeom prst="rect">
            <a:avLst/>
          </a:prstGeom>
          <a:noFill/>
        </p:spPr>
        <p:txBody>
          <a:bodyPr wrap="square" lIns="0" rIns="0" tIns="0" bIns="0" anchor="t">
            <a:spAutoFit/>
          </a:bodyPr>
          <a:lstStyle/>
          <a:p>
            <a:pPr algn="l">
              <a:lnSpc>
                <a:spcPts val="2015"/>
              </a:lnSpc>
            </a:pPr>
            <a:r>
              <a:rPr sz="1550">
                <a:solidFill>
                  <a:srgbClr val="FFFFFF"/>
                </a:solidFill>
                <a:latin typeface="Poppins"/>
                <a:ea typeface="Poppins"/>
                <a:cs typeface="Poppins"/>
              </a:rPr>
              <a:t>Generar reconocimiento de marca entre consumidores de lo artesanal.</a:t>
            </a:r>
          </a:p>
        </p:txBody>
      </p:sp>
      <p:sp>
        <p:nvSpPr>
          <p:cNvPr id="19" name="objn3"/>
          <p:cNvSpPr txBox="1"/>
          <p:nvPr/>
        </p:nvSpPr>
        <p:spPr>
          <a:xfrm>
            <a:off x="12847320" y="5440680"/>
            <a:ext cx="914400" cy="731520"/>
          </a:xfrm>
          <a:prstGeom prst="rect">
            <a:avLst/>
          </a:prstGeom>
          <a:noFill/>
        </p:spPr>
        <p:txBody>
          <a:bodyPr wrap="square" lIns="0" rIns="0" tIns="0" bIns="0" anchor="t">
            <a:spAutoFit/>
          </a:bodyPr>
          <a:lstStyle/>
          <a:p>
            <a:pPr algn="l">
              <a:lnSpc>
                <a:spcPts val="3000"/>
              </a:lnSpc>
            </a:pPr>
            <a:r>
              <a:rPr sz="3000">
                <a:solidFill>
                  <a:srgbClr val="F2C48D"/>
                </a:solidFill>
                <a:latin typeface="Archivo Black"/>
                <a:ea typeface="Archivo Black"/>
                <a:cs typeface="Archivo Black"/>
              </a:rPr>
              <a:t>04</a:t>
            </a:r>
          </a:p>
        </p:txBody>
      </p:sp>
      <p:sp>
        <p:nvSpPr>
          <p:cNvPr id="20" name="objt3"/>
          <p:cNvSpPr txBox="1"/>
          <p:nvPr/>
        </p:nvSpPr>
        <p:spPr>
          <a:xfrm>
            <a:off x="13761720" y="5440680"/>
            <a:ext cx="3657600" cy="1280160"/>
          </a:xfrm>
          <a:prstGeom prst="rect">
            <a:avLst/>
          </a:prstGeom>
          <a:noFill/>
        </p:spPr>
        <p:txBody>
          <a:bodyPr wrap="square" lIns="0" rIns="0" tIns="0" bIns="0" anchor="t">
            <a:spAutoFit/>
          </a:bodyPr>
          <a:lstStyle/>
          <a:p>
            <a:pPr algn="l">
              <a:lnSpc>
                <a:spcPts val="2015"/>
              </a:lnSpc>
            </a:pPr>
            <a:r>
              <a:rPr sz="1550">
                <a:solidFill>
                  <a:srgbClr val="FFFFFF"/>
                </a:solidFill>
                <a:latin typeface="Poppins"/>
                <a:ea typeface="Poppins"/>
                <a:cs typeface="Poppins"/>
              </a:rPr>
              <a:t>Promover 6 sabores: oscuro, café, canela, chile, vainilla y naranja.</a:t>
            </a:r>
          </a:p>
        </p:txBody>
      </p:sp>
      <p:sp>
        <p:nvSpPr>
          <p:cNvPr id="21" name="objn4"/>
          <p:cNvSpPr txBox="1"/>
          <p:nvPr/>
        </p:nvSpPr>
        <p:spPr>
          <a:xfrm>
            <a:off x="12847320" y="6858000"/>
            <a:ext cx="914400" cy="731520"/>
          </a:xfrm>
          <a:prstGeom prst="rect">
            <a:avLst/>
          </a:prstGeom>
          <a:noFill/>
        </p:spPr>
        <p:txBody>
          <a:bodyPr wrap="square" lIns="0" rIns="0" tIns="0" bIns="0" anchor="t">
            <a:spAutoFit/>
          </a:bodyPr>
          <a:lstStyle/>
          <a:p>
            <a:pPr algn="l">
              <a:lnSpc>
                <a:spcPts val="3000"/>
              </a:lnSpc>
            </a:pPr>
            <a:r>
              <a:rPr sz="3000">
                <a:solidFill>
                  <a:srgbClr val="F2C48D"/>
                </a:solidFill>
                <a:latin typeface="Archivo Black"/>
                <a:ea typeface="Archivo Black"/>
                <a:cs typeface="Archivo Black"/>
              </a:rPr>
              <a:t>05</a:t>
            </a:r>
          </a:p>
        </p:txBody>
      </p:sp>
      <p:sp>
        <p:nvSpPr>
          <p:cNvPr id="22" name="objt4"/>
          <p:cNvSpPr txBox="1"/>
          <p:nvPr/>
        </p:nvSpPr>
        <p:spPr>
          <a:xfrm>
            <a:off x="13761720" y="6858000"/>
            <a:ext cx="3657600" cy="1280160"/>
          </a:xfrm>
          <a:prstGeom prst="rect">
            <a:avLst/>
          </a:prstGeom>
          <a:noFill/>
        </p:spPr>
        <p:txBody>
          <a:bodyPr wrap="square" lIns="0" rIns="0" tIns="0" bIns="0" anchor="t">
            <a:spAutoFit/>
          </a:bodyPr>
          <a:lstStyle/>
          <a:p>
            <a:pPr algn="l">
              <a:lnSpc>
                <a:spcPts val="2015"/>
              </a:lnSpc>
            </a:pPr>
            <a:r>
              <a:rPr sz="1550">
                <a:solidFill>
                  <a:srgbClr val="FFFFFF"/>
                </a:solidFill>
                <a:latin typeface="Poppins"/>
                <a:ea typeface="Poppins"/>
                <a:cs typeface="Poppins"/>
              </a:rPr>
              <a:t>Establecer relaciones con distribuidores ubicados en Texas.</a:t>
            </a:r>
          </a:p>
        </p:txBody>
      </p:sp>
      <p:sp>
        <p:nvSpPr>
          <p:cNvPr id="23" name="objn5"/>
          <p:cNvSpPr txBox="1"/>
          <p:nvPr/>
        </p:nvSpPr>
        <p:spPr>
          <a:xfrm>
            <a:off x="12847320" y="8275320"/>
            <a:ext cx="914400" cy="731520"/>
          </a:xfrm>
          <a:prstGeom prst="rect">
            <a:avLst/>
          </a:prstGeom>
          <a:noFill/>
        </p:spPr>
        <p:txBody>
          <a:bodyPr wrap="square" lIns="0" rIns="0" tIns="0" bIns="0" anchor="t">
            <a:spAutoFit/>
          </a:bodyPr>
          <a:lstStyle/>
          <a:p>
            <a:pPr algn="l">
              <a:lnSpc>
                <a:spcPts val="3000"/>
              </a:lnSpc>
            </a:pPr>
            <a:r>
              <a:rPr sz="3000">
                <a:solidFill>
                  <a:srgbClr val="F2C48D"/>
                </a:solidFill>
                <a:latin typeface="Archivo Black"/>
                <a:ea typeface="Archivo Black"/>
                <a:cs typeface="Archivo Black"/>
              </a:rPr>
              <a:t>06</a:t>
            </a:r>
          </a:p>
        </p:txBody>
      </p:sp>
      <p:sp>
        <p:nvSpPr>
          <p:cNvPr id="24" name="objt5"/>
          <p:cNvSpPr txBox="1"/>
          <p:nvPr/>
        </p:nvSpPr>
        <p:spPr>
          <a:xfrm>
            <a:off x="13761720" y="8275320"/>
            <a:ext cx="3657600" cy="1280160"/>
          </a:xfrm>
          <a:prstGeom prst="rect">
            <a:avLst/>
          </a:prstGeom>
          <a:noFill/>
        </p:spPr>
        <p:txBody>
          <a:bodyPr wrap="square" lIns="0" rIns="0" tIns="0" bIns="0" anchor="t">
            <a:spAutoFit/>
          </a:bodyPr>
          <a:lstStyle/>
          <a:p>
            <a:pPr algn="l">
              <a:lnSpc>
                <a:spcPts val="2015"/>
              </a:lnSpc>
            </a:pPr>
            <a:r>
              <a:rPr sz="1550">
                <a:solidFill>
                  <a:srgbClr val="FFFFFF"/>
                </a:solidFill>
                <a:latin typeface="Poppins"/>
                <a:ea typeface="Poppins"/>
                <a:cs typeface="Poppins"/>
              </a:rPr>
              <a:t>Crecer en ventas y expandirse a otras ciudades de EE. UU.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pic>
        <p:nvPicPr>
          <p:cNvPr id="2" name="!!drip" descr="image.png"/>
          <p:cNvPicPr>
            <a:picLocks noChangeAspect="1"/>
          </p:cNvPicPr>
          <p:nvPr/>
        </p:nvPicPr>
        <p:blipFill>
          <a:blip r:embed="rId3"/>
          <a:stretch>
            <a:fillRect/>
          </a:stretch>
        </p:blipFill>
        <p:spPr>
          <a:xfrm>
            <a:off x="-2926080" y="-1188720"/>
            <a:ext cx="5669280" cy="2924193"/>
          </a:xfrm>
          <a:prstGeom prst="rect">
            <a:avLst/>
          </a:prstGeom>
        </p:spPr>
      </p:pic>
      <p:pic>
        <p:nvPicPr>
          <p:cNvPr id="3" name="!!splash" descr="image.png"/>
          <p:cNvPicPr>
            <a:picLocks noChangeAspect="1"/>
          </p:cNvPicPr>
          <p:nvPr/>
        </p:nvPicPr>
        <p:blipFill>
          <a:blip r:embed="rId4"/>
          <a:stretch>
            <a:fillRect/>
          </a:stretch>
        </p:blipFill>
        <p:spPr>
          <a:xfrm rot="10320000">
            <a:off x="13533120" y="-1554480"/>
            <a:ext cx="6035040" cy="3755136"/>
          </a:xfrm>
          <a:prstGeom prst="rect">
            <a:avLst/>
          </a:prstGeom>
        </p:spPr>
      </p:pic>
      <p:pic>
        <p:nvPicPr>
          <p:cNvPr id="4" name="!!chunkA" descr="image.png"/>
          <p:cNvPicPr>
            <a:picLocks noChangeAspect="1"/>
          </p:cNvPicPr>
          <p:nvPr/>
        </p:nvPicPr>
        <p:blipFill>
          <a:blip r:embed="rId5"/>
          <a:stretch>
            <a:fillRect/>
          </a:stretch>
        </p:blipFill>
        <p:spPr>
          <a:xfrm rot="720000">
            <a:off x="-640080" y="9326880"/>
            <a:ext cx="1188720" cy="1532917"/>
          </a:xfrm>
          <a:prstGeom prst="rect">
            <a:avLst/>
          </a:prstGeom>
        </p:spPr>
      </p:pic>
      <p:pic>
        <p:nvPicPr>
          <p:cNvPr id="5" name="!!chunkB" descr="image.png"/>
          <p:cNvPicPr>
            <a:picLocks noChangeAspect="1"/>
          </p:cNvPicPr>
          <p:nvPr/>
        </p:nvPicPr>
        <p:blipFill>
          <a:blip r:embed="rId6"/>
          <a:stretch>
            <a:fillRect/>
          </a:stretch>
        </p:blipFill>
        <p:spPr>
          <a:xfrm rot="21360000">
            <a:off x="16733520" y="9326880"/>
            <a:ext cx="2011680" cy="1639709"/>
          </a:xfrm>
          <a:prstGeom prst="rect">
            <a:avLst/>
          </a:prstGeom>
        </p:spPr>
      </p:pic>
      <p:pic>
        <p:nvPicPr>
          <p:cNvPr id="6" name="!!bars" descr="image.png"/>
          <p:cNvPicPr>
            <a:picLocks noChangeAspect="1"/>
          </p:cNvPicPr>
          <p:nvPr/>
        </p:nvPicPr>
        <p:blipFill>
          <a:blip r:embed="rId7"/>
          <a:stretch>
            <a:fillRect/>
          </a:stretch>
        </p:blipFill>
        <p:spPr>
          <a:xfrm rot="21120000">
            <a:off x="15270480" y="2148840"/>
            <a:ext cx="2468880" cy="1387832"/>
          </a:xfrm>
          <a:prstGeom prst="rect">
            <a:avLst/>
          </a:prstGeom>
        </p:spPr>
      </p:pic>
      <p:sp>
        <p:nvSpPr>
          <p:cNvPr id="7" name="!!kick"/>
          <p:cNvSpPr txBox="1"/>
          <p:nvPr/>
        </p:nvSpPr>
        <p:spPr>
          <a:xfrm>
            <a:off x="1097280" y="731520"/>
            <a:ext cx="100584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08 · ALCANCE</a:t>
            </a:r>
          </a:p>
        </p:txBody>
      </p:sp>
      <p:sp>
        <p:nvSpPr>
          <p:cNvPr id="8" name="!!t1"/>
          <p:cNvSpPr txBox="1"/>
          <p:nvPr/>
        </p:nvSpPr>
        <p:spPr>
          <a:xfrm>
            <a:off x="1097280" y="1234440"/>
            <a:ext cx="100584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ALCANCE Y</a:t>
            </a:r>
          </a:p>
        </p:txBody>
      </p:sp>
      <p:sp>
        <p:nvSpPr>
          <p:cNvPr id="9" name="!!t2"/>
          <p:cNvSpPr txBox="1"/>
          <p:nvPr/>
        </p:nvSpPr>
        <p:spPr>
          <a:xfrm>
            <a:off x="1097280" y="1910080"/>
            <a:ext cx="100584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RUTA LOGÍSTICA</a:t>
            </a:r>
          </a:p>
        </p:txBody>
      </p:sp>
      <p:cxnSp>
        <p:nvCxnSpPr>
          <p:cNvPr id="10" name="route"/>
          <p:cNvCxnSpPr/>
          <p:nvPr/>
        </p:nvCxnSpPr>
        <p:spPr>
          <a:xfrm>
            <a:off x="2926080" y="4069080"/>
            <a:ext cx="12435840" cy="0"/>
          </a:xfrm>
          <a:prstGeom prst="line">
            <a:avLst/>
          </a:prstGeom>
          <a:ln w="38100">
            <a:solidFill>
              <a:srgbClr val="F2C48D"/>
            </a:solidFill>
            <a:prstDash val="dash"/>
          </a:ln>
        </p:spPr>
        <p:style>
          <a:lnRef idx="2">
            <a:schemeClr val="accent1"/>
          </a:lnRef>
          <a:fillRef idx="0">
            <a:schemeClr val="accent1"/>
          </a:fillRef>
          <a:effectRef idx="1">
            <a:schemeClr val="accent1"/>
          </a:effectRef>
          <a:fontRef idx="minor">
            <a:schemeClr val="tx1"/>
          </a:fontRef>
        </p:style>
      </p:cxnSp>
      <p:sp>
        <p:nvSpPr>
          <p:cNvPr id="11" name="node0"/>
          <p:cNvSpPr/>
          <p:nvPr/>
        </p:nvSpPr>
        <p:spPr>
          <a:xfrm>
            <a:off x="2651760" y="3794760"/>
            <a:ext cx="548640" cy="548640"/>
          </a:xfrm>
          <a:prstGeom prst="ellipse">
            <a:avLst/>
          </a:prstGeom>
          <a:solidFill>
            <a:srgbClr val="F2C48D">
              <a:alpha val="100000"/>
            </a:srgbClr>
          </a:solidFill>
          <a:ln w="12700">
            <a:noFill/>
          </a:ln>
        </p:spPr>
        <p:txBody>
          <a:bodyPr rtlCol="0" anchor="ctr"/>
          <a:lstStyle/>
          <a:p/>
        </p:txBody>
      </p:sp>
      <p:sp>
        <p:nvSpPr>
          <p:cNvPr id="12" name="nodeh0"/>
          <p:cNvSpPr/>
          <p:nvPr/>
        </p:nvSpPr>
        <p:spPr>
          <a:xfrm>
            <a:off x="2468880" y="3611880"/>
            <a:ext cx="914400" cy="914400"/>
          </a:xfrm>
          <a:prstGeom prst="ellipse">
            <a:avLst/>
          </a:prstGeom>
          <a:solidFill>
            <a:srgbClr val="F2C48D">
              <a:alpha val="22000"/>
            </a:srgbClr>
          </a:solidFill>
          <a:ln w="12700">
            <a:noFill/>
          </a:ln>
        </p:spPr>
        <p:txBody>
          <a:bodyPr rtlCol="0" anchor="ctr"/>
          <a:lstStyle/>
          <a:p/>
        </p:txBody>
      </p:sp>
      <p:sp>
        <p:nvSpPr>
          <p:cNvPr id="13" name="nodek0"/>
          <p:cNvSpPr txBox="1"/>
          <p:nvPr/>
        </p:nvSpPr>
        <p:spPr>
          <a:xfrm>
            <a:off x="731520" y="4709160"/>
            <a:ext cx="4389120" cy="457200"/>
          </a:xfrm>
          <a:prstGeom prst="rect">
            <a:avLst/>
          </a:prstGeom>
          <a:noFill/>
        </p:spPr>
        <p:txBody>
          <a:bodyPr wrap="square" lIns="0" rIns="0" tIns="0" bIns="0" anchor="t">
            <a:spAutoFit/>
          </a:bodyPr>
          <a:lstStyle/>
          <a:p>
            <a:pPr algn="ctr">
              <a:lnSpc>
                <a:spcPts val="2520"/>
              </a:lnSpc>
            </a:pPr>
            <a:r>
              <a:rPr sz="2100">
                <a:solidFill>
                  <a:srgbClr val="FFFFFF"/>
                </a:solidFill>
                <a:latin typeface="Poppins Bold"/>
                <a:ea typeface="Poppins Bold"/>
                <a:cs typeface="Poppins Bold"/>
              </a:rPr>
              <a:t>Aguascalientes</a:t>
            </a:r>
          </a:p>
        </p:txBody>
      </p:sp>
      <p:sp>
        <p:nvSpPr>
          <p:cNvPr id="14" name="nodev0"/>
          <p:cNvSpPr txBox="1"/>
          <p:nvPr/>
        </p:nvSpPr>
        <p:spPr>
          <a:xfrm>
            <a:off x="731520" y="5166360"/>
            <a:ext cx="4389120" cy="411480"/>
          </a:xfrm>
          <a:prstGeom prst="rect">
            <a:avLst/>
          </a:prstGeom>
          <a:noFill/>
        </p:spPr>
        <p:txBody>
          <a:bodyPr wrap="square" lIns="0" rIns="0" tIns="0" bIns="0" anchor="t">
            <a:spAutoFit/>
          </a:bodyPr>
          <a:lstStyle/>
          <a:p>
            <a:pPr algn="ctr">
              <a:lnSpc>
                <a:spcPts val="1800"/>
              </a:lnSpc>
            </a:pPr>
            <a:r>
              <a:rPr sz="1500">
                <a:solidFill>
                  <a:srgbClr val="F7E6D3"/>
                </a:solidFill>
                <a:latin typeface="Poppins"/>
                <a:ea typeface="Poppins"/>
                <a:cs typeface="Poppins"/>
              </a:rPr>
              <a:t>Origen · producción</a:t>
            </a:r>
          </a:p>
        </p:txBody>
      </p:sp>
      <p:sp>
        <p:nvSpPr>
          <p:cNvPr id="15" name="node1"/>
          <p:cNvSpPr/>
          <p:nvPr/>
        </p:nvSpPr>
        <p:spPr>
          <a:xfrm>
            <a:off x="8869680" y="3794760"/>
            <a:ext cx="548640" cy="548640"/>
          </a:xfrm>
          <a:prstGeom prst="ellipse">
            <a:avLst/>
          </a:prstGeom>
          <a:solidFill>
            <a:srgbClr val="F2C48D">
              <a:alpha val="100000"/>
            </a:srgbClr>
          </a:solidFill>
          <a:ln w="12700">
            <a:noFill/>
          </a:ln>
        </p:spPr>
        <p:txBody>
          <a:bodyPr rtlCol="0" anchor="ctr"/>
          <a:lstStyle/>
          <a:p/>
        </p:txBody>
      </p:sp>
      <p:sp>
        <p:nvSpPr>
          <p:cNvPr id="16" name="nodeh1"/>
          <p:cNvSpPr/>
          <p:nvPr/>
        </p:nvSpPr>
        <p:spPr>
          <a:xfrm>
            <a:off x="8686800" y="3611880"/>
            <a:ext cx="914400" cy="914400"/>
          </a:xfrm>
          <a:prstGeom prst="ellipse">
            <a:avLst/>
          </a:prstGeom>
          <a:solidFill>
            <a:srgbClr val="F2C48D">
              <a:alpha val="22000"/>
            </a:srgbClr>
          </a:solidFill>
          <a:ln w="12700">
            <a:noFill/>
          </a:ln>
        </p:spPr>
        <p:txBody>
          <a:bodyPr rtlCol="0" anchor="ctr"/>
          <a:lstStyle/>
          <a:p/>
        </p:txBody>
      </p:sp>
      <p:sp>
        <p:nvSpPr>
          <p:cNvPr id="17" name="nodek1"/>
          <p:cNvSpPr txBox="1"/>
          <p:nvPr/>
        </p:nvSpPr>
        <p:spPr>
          <a:xfrm>
            <a:off x="6949440" y="4709160"/>
            <a:ext cx="4389120" cy="457200"/>
          </a:xfrm>
          <a:prstGeom prst="rect">
            <a:avLst/>
          </a:prstGeom>
          <a:noFill/>
        </p:spPr>
        <p:txBody>
          <a:bodyPr wrap="square" lIns="0" rIns="0" tIns="0" bIns="0" anchor="t">
            <a:spAutoFit/>
          </a:bodyPr>
          <a:lstStyle/>
          <a:p>
            <a:pPr algn="ctr">
              <a:lnSpc>
                <a:spcPts val="2520"/>
              </a:lnSpc>
            </a:pPr>
            <a:r>
              <a:rPr sz="2100">
                <a:solidFill>
                  <a:srgbClr val="FFFFFF"/>
                </a:solidFill>
                <a:latin typeface="Poppins Bold"/>
                <a:ea typeface="Poppins Bold"/>
                <a:cs typeface="Poppins Bold"/>
              </a:rPr>
              <a:t>Nuevo Laredo</a:t>
            </a:r>
          </a:p>
        </p:txBody>
      </p:sp>
      <p:sp>
        <p:nvSpPr>
          <p:cNvPr id="18" name="nodev1"/>
          <p:cNvSpPr txBox="1"/>
          <p:nvPr/>
        </p:nvSpPr>
        <p:spPr>
          <a:xfrm>
            <a:off x="6949440" y="5166360"/>
            <a:ext cx="4389120" cy="411480"/>
          </a:xfrm>
          <a:prstGeom prst="rect">
            <a:avLst/>
          </a:prstGeom>
          <a:noFill/>
        </p:spPr>
        <p:txBody>
          <a:bodyPr wrap="square" lIns="0" rIns="0" tIns="0" bIns="0" anchor="t">
            <a:spAutoFit/>
          </a:bodyPr>
          <a:lstStyle/>
          <a:p>
            <a:pPr algn="ctr">
              <a:lnSpc>
                <a:spcPts val="1800"/>
              </a:lnSpc>
            </a:pPr>
            <a:r>
              <a:rPr sz="1500">
                <a:solidFill>
                  <a:srgbClr val="F7E6D3"/>
                </a:solidFill>
                <a:latin typeface="Poppins"/>
                <a:ea typeface="Poppins"/>
                <a:cs typeface="Poppins"/>
              </a:rPr>
              <a:t>Aduana · beneficios T-MEC</a:t>
            </a:r>
          </a:p>
        </p:txBody>
      </p:sp>
      <p:sp>
        <p:nvSpPr>
          <p:cNvPr id="19" name="node2"/>
          <p:cNvSpPr/>
          <p:nvPr/>
        </p:nvSpPr>
        <p:spPr>
          <a:xfrm>
            <a:off x="15087600" y="3794760"/>
            <a:ext cx="548640" cy="548640"/>
          </a:xfrm>
          <a:prstGeom prst="ellipse">
            <a:avLst/>
          </a:prstGeom>
          <a:solidFill>
            <a:srgbClr val="F2C48D">
              <a:alpha val="100000"/>
            </a:srgbClr>
          </a:solidFill>
          <a:ln w="12700">
            <a:noFill/>
          </a:ln>
        </p:spPr>
        <p:txBody>
          <a:bodyPr rtlCol="0" anchor="ctr"/>
          <a:lstStyle/>
          <a:p/>
        </p:txBody>
      </p:sp>
      <p:sp>
        <p:nvSpPr>
          <p:cNvPr id="20" name="nodeh2"/>
          <p:cNvSpPr/>
          <p:nvPr/>
        </p:nvSpPr>
        <p:spPr>
          <a:xfrm>
            <a:off x="14904720" y="3611880"/>
            <a:ext cx="914400" cy="914400"/>
          </a:xfrm>
          <a:prstGeom prst="ellipse">
            <a:avLst/>
          </a:prstGeom>
          <a:solidFill>
            <a:srgbClr val="F2C48D">
              <a:alpha val="22000"/>
            </a:srgbClr>
          </a:solidFill>
          <a:ln w="12700">
            <a:noFill/>
          </a:ln>
        </p:spPr>
        <p:txBody>
          <a:bodyPr rtlCol="0" anchor="ctr"/>
          <a:lstStyle/>
          <a:p/>
        </p:txBody>
      </p:sp>
      <p:sp>
        <p:nvSpPr>
          <p:cNvPr id="21" name="nodek2"/>
          <p:cNvSpPr txBox="1"/>
          <p:nvPr/>
        </p:nvSpPr>
        <p:spPr>
          <a:xfrm>
            <a:off x="13167360" y="4709160"/>
            <a:ext cx="4389120" cy="457200"/>
          </a:xfrm>
          <a:prstGeom prst="rect">
            <a:avLst/>
          </a:prstGeom>
          <a:noFill/>
        </p:spPr>
        <p:txBody>
          <a:bodyPr wrap="square" lIns="0" rIns="0" tIns="0" bIns="0" anchor="t">
            <a:spAutoFit/>
          </a:bodyPr>
          <a:lstStyle/>
          <a:p>
            <a:pPr algn="ctr">
              <a:lnSpc>
                <a:spcPts val="2520"/>
              </a:lnSpc>
            </a:pPr>
            <a:r>
              <a:rPr sz="2100">
                <a:solidFill>
                  <a:srgbClr val="FFFFFF"/>
                </a:solidFill>
                <a:latin typeface="Poppins Bold"/>
                <a:ea typeface="Poppins Bold"/>
                <a:cs typeface="Poppins Bold"/>
              </a:rPr>
              <a:t>San Antonio, TX</a:t>
            </a:r>
          </a:p>
        </p:txBody>
      </p:sp>
      <p:sp>
        <p:nvSpPr>
          <p:cNvPr id="22" name="nodev2"/>
          <p:cNvSpPr txBox="1"/>
          <p:nvPr/>
        </p:nvSpPr>
        <p:spPr>
          <a:xfrm>
            <a:off x="13167360" y="5166360"/>
            <a:ext cx="4389120" cy="411480"/>
          </a:xfrm>
          <a:prstGeom prst="rect">
            <a:avLst/>
          </a:prstGeom>
          <a:noFill/>
        </p:spPr>
        <p:txBody>
          <a:bodyPr wrap="square" lIns="0" rIns="0" tIns="0" bIns="0" anchor="t">
            <a:spAutoFit/>
          </a:bodyPr>
          <a:lstStyle/>
          <a:p>
            <a:pPr algn="ctr">
              <a:lnSpc>
                <a:spcPts val="1800"/>
              </a:lnSpc>
            </a:pPr>
            <a:r>
              <a:rPr sz="1500">
                <a:solidFill>
                  <a:srgbClr val="F7E6D3"/>
                </a:solidFill>
                <a:latin typeface="Poppins"/>
                <a:ea typeface="Poppins"/>
                <a:cs typeface="Poppins"/>
              </a:rPr>
              <a:t>Mercado meta</a:t>
            </a:r>
          </a:p>
        </p:txBody>
      </p:sp>
      <p:sp>
        <p:nvSpPr>
          <p:cNvPr id="23" name="ph0"/>
          <p:cNvSpPr/>
          <p:nvPr/>
        </p:nvSpPr>
        <p:spPr>
          <a:xfrm>
            <a:off x="1097280" y="6080760"/>
            <a:ext cx="3072384" cy="3063240"/>
          </a:xfrm>
          <a:prstGeom prst="roundRect">
            <a:avLst>
              <a:gd name="adj" fmla="val 7462"/>
            </a:avLst>
          </a:prstGeom>
          <a:solidFill>
            <a:srgbClr val="FFFFFF">
              <a:alpha val="7000"/>
            </a:srgbClr>
          </a:solidFill>
          <a:ln w="12700">
            <a:solidFill>
              <a:srgbClr val="FFFFFF">
                <a:alpha val="16000"/>
              </a:srgbClr>
            </a:solidFill>
          </a:ln>
        </p:spPr>
        <p:txBody>
          <a:bodyPr rtlCol="0" anchor="ctr"/>
          <a:lstStyle/>
          <a:p/>
        </p:txBody>
      </p:sp>
      <p:sp>
        <p:nvSpPr>
          <p:cNvPr id="24" name="phn0"/>
          <p:cNvSpPr txBox="1"/>
          <p:nvPr/>
        </p:nvSpPr>
        <p:spPr>
          <a:xfrm>
            <a:off x="1371600" y="6309360"/>
            <a:ext cx="2560320" cy="548640"/>
          </a:xfrm>
          <a:prstGeom prst="rect">
            <a:avLst/>
          </a:prstGeom>
          <a:noFill/>
        </p:spPr>
        <p:txBody>
          <a:bodyPr wrap="square" lIns="0" rIns="0" tIns="0" bIns="0" anchor="t">
            <a:spAutoFit/>
          </a:bodyPr>
          <a:lstStyle/>
          <a:p>
            <a:pPr algn="l">
              <a:lnSpc>
                <a:spcPts val="1560"/>
              </a:lnSpc>
            </a:pPr>
            <a:r>
              <a:rPr sz="1300" spc="150">
                <a:solidFill>
                  <a:srgbClr val="F2C48D"/>
                </a:solidFill>
                <a:latin typeface="Poppins Semi-Bold"/>
                <a:ea typeface="Poppins Semi-Bold"/>
                <a:cs typeface="Poppins Semi-Bold"/>
              </a:rPr>
              <a:t>ETAPA 1</a:t>
            </a:r>
          </a:p>
        </p:txBody>
      </p:sp>
      <p:sp>
        <p:nvSpPr>
          <p:cNvPr id="25" name="phk0"/>
          <p:cNvSpPr txBox="1"/>
          <p:nvPr/>
        </p:nvSpPr>
        <p:spPr>
          <a:xfrm>
            <a:off x="1371600" y="6720840"/>
            <a:ext cx="25603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Diagnóstico</a:t>
            </a:r>
          </a:p>
        </p:txBody>
      </p:sp>
      <p:sp>
        <p:nvSpPr>
          <p:cNvPr id="26" name="phv0"/>
          <p:cNvSpPr txBox="1"/>
          <p:nvPr/>
        </p:nvSpPr>
        <p:spPr>
          <a:xfrm>
            <a:off x="1371600" y="7315200"/>
            <a:ext cx="2560320" cy="1920240"/>
          </a:xfrm>
          <a:prstGeom prst="rect">
            <a:avLst/>
          </a:prstGeom>
          <a:noFill/>
        </p:spPr>
        <p:txBody>
          <a:bodyPr wrap="square" lIns="0" rIns="0" tIns="0" bIns="0" anchor="t">
            <a:spAutoFit/>
          </a:bodyPr>
          <a:lstStyle/>
          <a:p>
            <a:pPr algn="l">
              <a:lnSpc>
                <a:spcPts val="2295"/>
              </a:lnSpc>
            </a:pPr>
            <a:r>
              <a:rPr sz="1700">
                <a:solidFill>
                  <a:srgbClr val="F7E6D3"/>
                </a:solidFill>
                <a:latin typeface="Poppins"/>
                <a:ea typeface="Poppins"/>
                <a:cs typeface="Poppins"/>
              </a:rPr>
              <a:t>Análisis interno, entorno del sector y DAFO internacional</a:t>
            </a:r>
          </a:p>
        </p:txBody>
      </p:sp>
      <p:sp>
        <p:nvSpPr>
          <p:cNvPr id="27" name="ph1"/>
          <p:cNvSpPr/>
          <p:nvPr/>
        </p:nvSpPr>
        <p:spPr>
          <a:xfrm>
            <a:off x="4352544" y="6080760"/>
            <a:ext cx="3072384" cy="3063240"/>
          </a:xfrm>
          <a:prstGeom prst="roundRect">
            <a:avLst>
              <a:gd name="adj" fmla="val 7462"/>
            </a:avLst>
          </a:prstGeom>
          <a:solidFill>
            <a:srgbClr val="FFFFFF">
              <a:alpha val="7000"/>
            </a:srgbClr>
          </a:solidFill>
          <a:ln w="12700">
            <a:solidFill>
              <a:srgbClr val="FFFFFF">
                <a:alpha val="16000"/>
              </a:srgbClr>
            </a:solidFill>
          </a:ln>
        </p:spPr>
        <p:txBody>
          <a:bodyPr rtlCol="0" anchor="ctr"/>
          <a:lstStyle/>
          <a:p/>
        </p:txBody>
      </p:sp>
      <p:sp>
        <p:nvSpPr>
          <p:cNvPr id="28" name="phn1"/>
          <p:cNvSpPr txBox="1"/>
          <p:nvPr/>
        </p:nvSpPr>
        <p:spPr>
          <a:xfrm>
            <a:off x="4626864" y="6309360"/>
            <a:ext cx="2560320" cy="548640"/>
          </a:xfrm>
          <a:prstGeom prst="rect">
            <a:avLst/>
          </a:prstGeom>
          <a:noFill/>
        </p:spPr>
        <p:txBody>
          <a:bodyPr wrap="square" lIns="0" rIns="0" tIns="0" bIns="0" anchor="t">
            <a:spAutoFit/>
          </a:bodyPr>
          <a:lstStyle/>
          <a:p>
            <a:pPr algn="l">
              <a:lnSpc>
                <a:spcPts val="1560"/>
              </a:lnSpc>
            </a:pPr>
            <a:r>
              <a:rPr sz="1300" spc="150">
                <a:solidFill>
                  <a:srgbClr val="F2C48D"/>
                </a:solidFill>
                <a:latin typeface="Poppins Semi-Bold"/>
                <a:ea typeface="Poppins Semi-Bold"/>
                <a:cs typeface="Poppins Semi-Bold"/>
              </a:rPr>
              <a:t>ETAPA 2</a:t>
            </a:r>
          </a:p>
        </p:txBody>
      </p:sp>
      <p:sp>
        <p:nvSpPr>
          <p:cNvPr id="29" name="phk1"/>
          <p:cNvSpPr txBox="1"/>
          <p:nvPr/>
        </p:nvSpPr>
        <p:spPr>
          <a:xfrm>
            <a:off x="4626864" y="6720840"/>
            <a:ext cx="25603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Cumplimiento</a:t>
            </a:r>
          </a:p>
        </p:txBody>
      </p:sp>
      <p:sp>
        <p:nvSpPr>
          <p:cNvPr id="30" name="phv1"/>
          <p:cNvSpPr txBox="1"/>
          <p:nvPr/>
        </p:nvSpPr>
        <p:spPr>
          <a:xfrm>
            <a:off x="4626864" y="7315200"/>
            <a:ext cx="2560320" cy="1920240"/>
          </a:xfrm>
          <a:prstGeom prst="rect">
            <a:avLst/>
          </a:prstGeom>
          <a:noFill/>
        </p:spPr>
        <p:txBody>
          <a:bodyPr wrap="square" lIns="0" rIns="0" tIns="0" bIns="0" anchor="t">
            <a:spAutoFit/>
          </a:bodyPr>
          <a:lstStyle/>
          <a:p>
            <a:pPr algn="l">
              <a:lnSpc>
                <a:spcPts val="2295"/>
              </a:lnSpc>
            </a:pPr>
            <a:r>
              <a:rPr sz="1700">
                <a:solidFill>
                  <a:srgbClr val="F7E6D3"/>
                </a:solidFill>
                <a:latin typeface="Poppins"/>
                <a:ea typeface="Poppins"/>
                <a:cs typeface="Poppins"/>
              </a:rPr>
              <a:t>Requisitos sanitarios, etiquetado, T-MEC y documentación</a:t>
            </a:r>
          </a:p>
        </p:txBody>
      </p:sp>
      <p:sp>
        <p:nvSpPr>
          <p:cNvPr id="31" name="ph2"/>
          <p:cNvSpPr/>
          <p:nvPr/>
        </p:nvSpPr>
        <p:spPr>
          <a:xfrm>
            <a:off x="7607808" y="6080760"/>
            <a:ext cx="3072384" cy="3063240"/>
          </a:xfrm>
          <a:prstGeom prst="roundRect">
            <a:avLst>
              <a:gd name="adj" fmla="val 7462"/>
            </a:avLst>
          </a:prstGeom>
          <a:solidFill>
            <a:srgbClr val="FFFFFF">
              <a:alpha val="7000"/>
            </a:srgbClr>
          </a:solidFill>
          <a:ln w="12700">
            <a:solidFill>
              <a:srgbClr val="FFFFFF">
                <a:alpha val="16000"/>
              </a:srgbClr>
            </a:solidFill>
          </a:ln>
        </p:spPr>
        <p:txBody>
          <a:bodyPr rtlCol="0" anchor="ctr"/>
          <a:lstStyle/>
          <a:p/>
        </p:txBody>
      </p:sp>
      <p:sp>
        <p:nvSpPr>
          <p:cNvPr id="32" name="phn2"/>
          <p:cNvSpPr txBox="1"/>
          <p:nvPr/>
        </p:nvSpPr>
        <p:spPr>
          <a:xfrm>
            <a:off x="7882128" y="6309360"/>
            <a:ext cx="2560320" cy="548640"/>
          </a:xfrm>
          <a:prstGeom prst="rect">
            <a:avLst/>
          </a:prstGeom>
          <a:noFill/>
        </p:spPr>
        <p:txBody>
          <a:bodyPr wrap="square" lIns="0" rIns="0" tIns="0" bIns="0" anchor="t">
            <a:spAutoFit/>
          </a:bodyPr>
          <a:lstStyle/>
          <a:p>
            <a:pPr algn="l">
              <a:lnSpc>
                <a:spcPts val="1560"/>
              </a:lnSpc>
            </a:pPr>
            <a:r>
              <a:rPr sz="1300" spc="150">
                <a:solidFill>
                  <a:srgbClr val="F2C48D"/>
                </a:solidFill>
                <a:latin typeface="Poppins Semi-Bold"/>
                <a:ea typeface="Poppins Semi-Bold"/>
                <a:cs typeface="Poppins Semi-Bold"/>
              </a:rPr>
              <a:t>ETAPA 3</a:t>
            </a:r>
          </a:p>
        </p:txBody>
      </p:sp>
      <p:sp>
        <p:nvSpPr>
          <p:cNvPr id="33" name="phk2"/>
          <p:cNvSpPr txBox="1"/>
          <p:nvPr/>
        </p:nvSpPr>
        <p:spPr>
          <a:xfrm>
            <a:off x="7882128" y="6720840"/>
            <a:ext cx="25603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Logística</a:t>
            </a:r>
          </a:p>
        </p:txBody>
      </p:sp>
      <p:sp>
        <p:nvSpPr>
          <p:cNvPr id="34" name="phv2"/>
          <p:cNvSpPr txBox="1"/>
          <p:nvPr/>
        </p:nvSpPr>
        <p:spPr>
          <a:xfrm>
            <a:off x="7882128" y="7315200"/>
            <a:ext cx="2560320" cy="1920240"/>
          </a:xfrm>
          <a:prstGeom prst="rect">
            <a:avLst/>
          </a:prstGeom>
          <a:noFill/>
        </p:spPr>
        <p:txBody>
          <a:bodyPr wrap="square" lIns="0" rIns="0" tIns="0" bIns="0" anchor="t">
            <a:spAutoFit/>
          </a:bodyPr>
          <a:lstStyle/>
          <a:p>
            <a:pPr algn="l">
              <a:lnSpc>
                <a:spcPts val="2295"/>
              </a:lnSpc>
            </a:pPr>
            <a:r>
              <a:rPr sz="1700">
                <a:solidFill>
                  <a:srgbClr val="F7E6D3"/>
                </a:solidFill>
                <a:latin typeface="Poppins"/>
                <a:ea typeface="Poppins"/>
                <a:cs typeface="Poppins"/>
              </a:rPr>
              <a:t>Transporte adecuado y control de temperatura</a:t>
            </a:r>
          </a:p>
        </p:txBody>
      </p:sp>
      <p:sp>
        <p:nvSpPr>
          <p:cNvPr id="35" name="ph3"/>
          <p:cNvSpPr/>
          <p:nvPr/>
        </p:nvSpPr>
        <p:spPr>
          <a:xfrm>
            <a:off x="10863072" y="6080760"/>
            <a:ext cx="3072384" cy="3063240"/>
          </a:xfrm>
          <a:prstGeom prst="roundRect">
            <a:avLst>
              <a:gd name="adj" fmla="val 7462"/>
            </a:avLst>
          </a:prstGeom>
          <a:solidFill>
            <a:srgbClr val="FFFFFF">
              <a:alpha val="7000"/>
            </a:srgbClr>
          </a:solidFill>
          <a:ln w="12700">
            <a:solidFill>
              <a:srgbClr val="FFFFFF">
                <a:alpha val="16000"/>
              </a:srgbClr>
            </a:solidFill>
          </a:ln>
        </p:spPr>
        <p:txBody>
          <a:bodyPr rtlCol="0" anchor="ctr"/>
          <a:lstStyle/>
          <a:p/>
        </p:txBody>
      </p:sp>
      <p:sp>
        <p:nvSpPr>
          <p:cNvPr id="36" name="phn3"/>
          <p:cNvSpPr txBox="1"/>
          <p:nvPr/>
        </p:nvSpPr>
        <p:spPr>
          <a:xfrm>
            <a:off x="11137392" y="6309360"/>
            <a:ext cx="2560320" cy="548640"/>
          </a:xfrm>
          <a:prstGeom prst="rect">
            <a:avLst/>
          </a:prstGeom>
          <a:noFill/>
        </p:spPr>
        <p:txBody>
          <a:bodyPr wrap="square" lIns="0" rIns="0" tIns="0" bIns="0" anchor="t">
            <a:spAutoFit/>
          </a:bodyPr>
          <a:lstStyle/>
          <a:p>
            <a:pPr algn="l">
              <a:lnSpc>
                <a:spcPts val="1560"/>
              </a:lnSpc>
            </a:pPr>
            <a:r>
              <a:rPr sz="1300" spc="150">
                <a:solidFill>
                  <a:srgbClr val="F2C48D"/>
                </a:solidFill>
                <a:latin typeface="Poppins Semi-Bold"/>
                <a:ea typeface="Poppins Semi-Bold"/>
                <a:cs typeface="Poppins Semi-Bold"/>
              </a:rPr>
              <a:t>ETAPA 4</a:t>
            </a:r>
          </a:p>
        </p:txBody>
      </p:sp>
      <p:sp>
        <p:nvSpPr>
          <p:cNvPr id="37" name="phk3"/>
          <p:cNvSpPr txBox="1"/>
          <p:nvPr/>
        </p:nvSpPr>
        <p:spPr>
          <a:xfrm>
            <a:off x="11137392" y="6720840"/>
            <a:ext cx="25603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Mercado</a:t>
            </a:r>
          </a:p>
        </p:txBody>
      </p:sp>
      <p:sp>
        <p:nvSpPr>
          <p:cNvPr id="38" name="phv3"/>
          <p:cNvSpPr txBox="1"/>
          <p:nvPr/>
        </p:nvSpPr>
        <p:spPr>
          <a:xfrm>
            <a:off x="11137392" y="7315200"/>
            <a:ext cx="2560320" cy="1920240"/>
          </a:xfrm>
          <a:prstGeom prst="rect">
            <a:avLst/>
          </a:prstGeom>
          <a:noFill/>
        </p:spPr>
        <p:txBody>
          <a:bodyPr wrap="square" lIns="0" rIns="0" tIns="0" bIns="0" anchor="t">
            <a:spAutoFit/>
          </a:bodyPr>
          <a:lstStyle/>
          <a:p>
            <a:pPr algn="l">
              <a:lnSpc>
                <a:spcPts val="2295"/>
              </a:lnSpc>
            </a:pPr>
            <a:r>
              <a:rPr sz="1700">
                <a:solidFill>
                  <a:srgbClr val="F7E6D3"/>
                </a:solidFill>
                <a:latin typeface="Poppins"/>
                <a:ea typeface="Poppins"/>
                <a:cs typeface="Poppins"/>
              </a:rPr>
              <a:t>Mercado objetivo, posicionamiento y distribuidores en Texas</a:t>
            </a:r>
          </a:p>
        </p:txBody>
      </p:sp>
      <p:sp>
        <p:nvSpPr>
          <p:cNvPr id="39" name="ph4"/>
          <p:cNvSpPr/>
          <p:nvPr/>
        </p:nvSpPr>
        <p:spPr>
          <a:xfrm>
            <a:off x="14118336" y="6080760"/>
            <a:ext cx="3072384" cy="3063240"/>
          </a:xfrm>
          <a:prstGeom prst="roundRect">
            <a:avLst>
              <a:gd name="adj" fmla="val 7462"/>
            </a:avLst>
          </a:prstGeom>
          <a:solidFill>
            <a:srgbClr val="F2C48D">
              <a:alpha val="0"/>
            </a:srgbClr>
          </a:solidFill>
          <a:ln w="12700">
            <a:solidFill>
              <a:srgbClr val="FFFFFF">
                <a:alpha val="16000"/>
              </a:srgbClr>
            </a:solidFill>
          </a:ln>
        </p:spPr>
        <p:txBody>
          <a:bodyPr rtlCol="0" anchor="ctr"/>
          <a:lstStyle/>
          <a:p/>
        </p:txBody>
      </p:sp>
      <p:sp>
        <p:nvSpPr>
          <p:cNvPr id="40" name="ph4b"/>
          <p:cNvSpPr/>
          <p:nvPr/>
        </p:nvSpPr>
        <p:spPr>
          <a:xfrm>
            <a:off x="14118336" y="6080760"/>
            <a:ext cx="3072384" cy="3063240"/>
          </a:xfrm>
          <a:prstGeom prst="roundRect">
            <a:avLst>
              <a:gd name="adj" fmla="val 7462"/>
            </a:avLst>
          </a:prstGeom>
          <a:solidFill>
            <a:srgbClr val="F2C48D">
              <a:alpha val="18000"/>
            </a:srgbClr>
          </a:solidFill>
          <a:ln w="12700">
            <a:noFill/>
          </a:ln>
        </p:spPr>
        <p:txBody>
          <a:bodyPr rtlCol="0" anchor="ctr"/>
          <a:lstStyle/>
          <a:p/>
        </p:txBody>
      </p:sp>
      <p:sp>
        <p:nvSpPr>
          <p:cNvPr id="41" name="phn4"/>
          <p:cNvSpPr txBox="1"/>
          <p:nvPr/>
        </p:nvSpPr>
        <p:spPr>
          <a:xfrm>
            <a:off x="14392656" y="6309360"/>
            <a:ext cx="2560320" cy="548640"/>
          </a:xfrm>
          <a:prstGeom prst="rect">
            <a:avLst/>
          </a:prstGeom>
          <a:noFill/>
        </p:spPr>
        <p:txBody>
          <a:bodyPr wrap="square" lIns="0" rIns="0" tIns="0" bIns="0" anchor="t">
            <a:spAutoFit/>
          </a:bodyPr>
          <a:lstStyle/>
          <a:p>
            <a:pPr algn="l">
              <a:lnSpc>
                <a:spcPts val="1560"/>
              </a:lnSpc>
            </a:pPr>
            <a:r>
              <a:rPr sz="1300" spc="150">
                <a:solidFill>
                  <a:srgbClr val="F2C48D"/>
                </a:solidFill>
                <a:latin typeface="Poppins Semi-Bold"/>
                <a:ea typeface="Poppins Semi-Bold"/>
                <a:cs typeface="Poppins Semi-Bold"/>
              </a:rPr>
              <a:t>ETAPA 5</a:t>
            </a:r>
          </a:p>
        </p:txBody>
      </p:sp>
      <p:sp>
        <p:nvSpPr>
          <p:cNvPr id="42" name="phk4"/>
          <p:cNvSpPr txBox="1"/>
          <p:nvPr/>
        </p:nvSpPr>
        <p:spPr>
          <a:xfrm>
            <a:off x="14392656" y="6720840"/>
            <a:ext cx="2560320" cy="502920"/>
          </a:xfrm>
          <a:prstGeom prst="rect">
            <a:avLst/>
          </a:prstGeom>
          <a:noFill/>
        </p:spPr>
        <p:txBody>
          <a:bodyPr wrap="square" lIns="0" rIns="0" tIns="0" bIns="0" anchor="t">
            <a:spAutoFit/>
          </a:bodyPr>
          <a:lstStyle/>
          <a:p>
            <a:pPr algn="l">
              <a:lnSpc>
                <a:spcPts val="2520"/>
              </a:lnSpc>
            </a:pPr>
            <a:r>
              <a:rPr sz="2100">
                <a:solidFill>
                  <a:srgbClr val="FFFFFF"/>
                </a:solidFill>
                <a:latin typeface="Poppins Bold"/>
                <a:ea typeface="Poppins Bold"/>
                <a:cs typeface="Poppins Bold"/>
              </a:rPr>
              <a:t>Piloto</a:t>
            </a:r>
          </a:p>
        </p:txBody>
      </p:sp>
      <p:sp>
        <p:nvSpPr>
          <p:cNvPr id="43" name="phv4"/>
          <p:cNvSpPr txBox="1"/>
          <p:nvPr/>
        </p:nvSpPr>
        <p:spPr>
          <a:xfrm>
            <a:off x="14392656" y="7315200"/>
            <a:ext cx="2560320" cy="1920240"/>
          </a:xfrm>
          <a:prstGeom prst="rect">
            <a:avLst/>
          </a:prstGeom>
          <a:noFill/>
        </p:spPr>
        <p:txBody>
          <a:bodyPr wrap="square" lIns="0" rIns="0" tIns="0" bIns="0" anchor="t">
            <a:spAutoFit/>
          </a:bodyPr>
          <a:lstStyle/>
          <a:p>
            <a:pPr algn="l">
              <a:lnSpc>
                <a:spcPts val="2295"/>
              </a:lnSpc>
            </a:pPr>
            <a:r>
              <a:rPr sz="1700">
                <a:solidFill>
                  <a:srgbClr val="F7E6D3"/>
                </a:solidFill>
                <a:latin typeface="Poppins"/>
                <a:ea typeface="Poppins"/>
                <a:cs typeface="Poppins"/>
              </a:rPr>
              <a:t>Primer embarque para evaluar ruta, tiempos y calidad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pic>
        <p:nvPicPr>
          <p:cNvPr id="2" name="!!drip" descr="image.png"/>
          <p:cNvPicPr>
            <a:picLocks noChangeAspect="1"/>
          </p:cNvPicPr>
          <p:nvPr/>
        </p:nvPicPr>
        <p:blipFill>
          <a:blip r:embed="rId3"/>
          <a:stretch>
            <a:fillRect/>
          </a:stretch>
        </p:blipFill>
        <p:spPr>
          <a:xfrm>
            <a:off x="-2926080" y="-1280160"/>
            <a:ext cx="5669280" cy="2924193"/>
          </a:xfrm>
          <a:prstGeom prst="rect">
            <a:avLst/>
          </a:prstGeom>
        </p:spPr>
      </p:pic>
      <p:pic>
        <p:nvPicPr>
          <p:cNvPr id="3" name="!!splash" descr="image.png"/>
          <p:cNvPicPr>
            <a:picLocks noChangeAspect="1"/>
          </p:cNvPicPr>
          <p:nvPr/>
        </p:nvPicPr>
        <p:blipFill>
          <a:blip r:embed="rId4"/>
          <a:stretch>
            <a:fillRect/>
          </a:stretch>
        </p:blipFill>
        <p:spPr>
          <a:xfrm rot="480000">
            <a:off x="-4023360" y="8778240"/>
            <a:ext cx="4572000" cy="2844800"/>
          </a:xfrm>
          <a:prstGeom prst="rect">
            <a:avLst/>
          </a:prstGeom>
        </p:spPr>
      </p:pic>
      <p:pic>
        <p:nvPicPr>
          <p:cNvPr id="4" name="!!chunkA" descr="image.png"/>
          <p:cNvPicPr>
            <a:picLocks noChangeAspect="1"/>
          </p:cNvPicPr>
          <p:nvPr/>
        </p:nvPicPr>
        <p:blipFill>
          <a:blip r:embed="rId5"/>
          <a:stretch>
            <a:fillRect/>
          </a:stretch>
        </p:blipFill>
        <p:spPr>
          <a:xfrm rot="20100000">
            <a:off x="10972800" y="274320"/>
            <a:ext cx="1280160" cy="1650833"/>
          </a:xfrm>
          <a:prstGeom prst="rect">
            <a:avLst/>
          </a:prstGeom>
        </p:spPr>
      </p:pic>
      <p:pic>
        <p:nvPicPr>
          <p:cNvPr id="5" name="!!chunkB" descr="image.png"/>
          <p:cNvPicPr>
            <a:picLocks noChangeAspect="1"/>
          </p:cNvPicPr>
          <p:nvPr/>
        </p:nvPicPr>
        <p:blipFill>
          <a:blip r:embed="rId6"/>
          <a:stretch>
            <a:fillRect/>
          </a:stretch>
        </p:blipFill>
        <p:spPr>
          <a:xfrm rot="720000">
            <a:off x="10332720" y="9464040"/>
            <a:ext cx="1828800" cy="1490645"/>
          </a:xfrm>
          <a:prstGeom prst="rect">
            <a:avLst/>
          </a:prstGeom>
        </p:spPr>
      </p:pic>
      <p:pic>
        <p:nvPicPr>
          <p:cNvPr id="6" name="!!bars" descr="image.png"/>
          <p:cNvPicPr>
            <a:picLocks noChangeAspect="1"/>
          </p:cNvPicPr>
          <p:nvPr/>
        </p:nvPicPr>
        <p:blipFill>
          <a:blip r:embed="rId7"/>
          <a:stretch>
            <a:fillRect/>
          </a:stretch>
        </p:blipFill>
        <p:spPr>
          <a:xfrm rot="10200000">
            <a:off x="7863840" y="-457200"/>
            <a:ext cx="3108960" cy="1747640"/>
          </a:xfrm>
          <a:prstGeom prst="rect">
            <a:avLst/>
          </a:prstGeom>
        </p:spPr>
      </p:pic>
      <p:pic>
        <p:nvPicPr>
          <p:cNvPr id="7" name="!!hero" descr="image.jpeg"/>
          <p:cNvPicPr>
            <a:picLocks noChangeAspect="1"/>
          </p:cNvPicPr>
          <p:nvPr/>
        </p:nvPicPr>
        <p:blipFill>
          <a:blip r:embed="rId8"/>
          <a:srcRect t="1238" b="1238"/>
          <a:stretch>
            <a:fillRect/>
          </a:stretch>
        </p:blipFill>
        <p:spPr>
          <a:xfrm>
            <a:off x="12252960" y="-274320"/>
            <a:ext cx="6583680" cy="10835640"/>
          </a:xfrm>
          <a:prstGeom prst="roundRect">
            <a:avLst>
              <a:gd name="adj" fmla="val 8333"/>
            </a:avLst>
          </a:prstGeom>
        </p:spPr>
      </p:pic>
      <p:sp>
        <p:nvSpPr>
          <p:cNvPr id="8" name="!!kick"/>
          <p:cNvSpPr txBox="1"/>
          <p:nvPr/>
        </p:nvSpPr>
        <p:spPr>
          <a:xfrm>
            <a:off x="1097280" y="731520"/>
            <a:ext cx="105156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09 · METODOLOGÍA</a:t>
            </a:r>
          </a:p>
        </p:txBody>
      </p:sp>
      <p:sp>
        <p:nvSpPr>
          <p:cNvPr id="9" name="!!t1"/>
          <p:cNvSpPr txBox="1"/>
          <p:nvPr/>
        </p:nvSpPr>
        <p:spPr>
          <a:xfrm>
            <a:off x="1097280" y="1234440"/>
            <a:ext cx="105156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¿CÓMO LO</a:t>
            </a:r>
          </a:p>
        </p:txBody>
      </p:sp>
      <p:sp>
        <p:nvSpPr>
          <p:cNvPr id="10" name="!!t2"/>
          <p:cNvSpPr txBox="1"/>
          <p:nvPr/>
        </p:nvSpPr>
        <p:spPr>
          <a:xfrm>
            <a:off x="1097280" y="1910080"/>
            <a:ext cx="105156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INVESTIGAMOS?</a:t>
            </a:r>
          </a:p>
        </p:txBody>
      </p:sp>
      <p:sp>
        <p:nvSpPr>
          <p:cNvPr id="11" name="mc0"/>
          <p:cNvSpPr/>
          <p:nvPr/>
        </p:nvSpPr>
        <p:spPr>
          <a:xfrm>
            <a:off x="1097280" y="3566160"/>
            <a:ext cx="5166360" cy="5806440"/>
          </a:xfrm>
          <a:prstGeom prst="roundRect">
            <a:avLst>
              <a:gd name="adj" fmla="val 5309"/>
            </a:avLst>
          </a:prstGeom>
          <a:solidFill>
            <a:srgbClr val="FFFFFF">
              <a:alpha val="7000"/>
            </a:srgbClr>
          </a:solidFill>
          <a:ln w="12700">
            <a:solidFill>
              <a:srgbClr val="FFFFFF">
                <a:alpha val="16000"/>
              </a:srgbClr>
            </a:solidFill>
          </a:ln>
        </p:spPr>
        <p:txBody>
          <a:bodyPr rtlCol="0" anchor="ctr"/>
          <a:lstStyle/>
          <a:p/>
        </p:txBody>
      </p:sp>
      <p:sp>
        <p:nvSpPr>
          <p:cNvPr id="12" name="mck0"/>
          <p:cNvSpPr txBox="1"/>
          <p:nvPr/>
        </p:nvSpPr>
        <p:spPr>
          <a:xfrm>
            <a:off x="1463040" y="3886200"/>
            <a:ext cx="4480560" cy="502920"/>
          </a:xfrm>
          <a:prstGeom prst="rect">
            <a:avLst/>
          </a:prstGeom>
          <a:noFill/>
        </p:spPr>
        <p:txBody>
          <a:bodyPr wrap="square" lIns="0" rIns="0" tIns="0" bIns="0" anchor="t">
            <a:spAutoFit/>
          </a:bodyPr>
          <a:lstStyle/>
          <a:p>
            <a:pPr algn="l">
              <a:lnSpc>
                <a:spcPts val="2640"/>
              </a:lnSpc>
            </a:pPr>
            <a:r>
              <a:rPr sz="2200">
                <a:solidFill>
                  <a:srgbClr val="F2C48D"/>
                </a:solidFill>
                <a:latin typeface="Poppins Bold"/>
                <a:ea typeface="Poppins Bold"/>
                <a:cs typeface="Poppins Bold"/>
              </a:rPr>
              <a:t>Información interna</a:t>
            </a:r>
          </a:p>
        </p:txBody>
      </p:sp>
      <p:pic>
        <p:nvPicPr>
          <p:cNvPr id="13" name="mci0_0" descr="image.png"/>
          <p:cNvPicPr>
            <a:picLocks noChangeAspect="1"/>
          </p:cNvPicPr>
          <p:nvPr/>
        </p:nvPicPr>
        <p:blipFill>
          <a:blip r:embed="rId5"/>
          <a:stretch>
            <a:fillRect/>
          </a:stretch>
        </p:blipFill>
        <p:spPr>
          <a:xfrm>
            <a:off x="1463040" y="4727448"/>
            <a:ext cx="329184" cy="424500"/>
          </a:xfrm>
          <a:prstGeom prst="rect">
            <a:avLst/>
          </a:prstGeom>
        </p:spPr>
      </p:pic>
      <p:sp>
        <p:nvSpPr>
          <p:cNvPr id="14" name="mct0_0"/>
          <p:cNvSpPr txBox="1"/>
          <p:nvPr/>
        </p:nvSpPr>
        <p:spPr>
          <a:xfrm>
            <a:off x="2011680" y="4709160"/>
            <a:ext cx="3977640" cy="914400"/>
          </a:xfrm>
          <a:prstGeom prst="rect">
            <a:avLst/>
          </a:prstGeom>
          <a:noFill/>
        </p:spPr>
        <p:txBody>
          <a:bodyPr wrap="square" lIns="0" rIns="0" tIns="0" bIns="0" anchor="t">
            <a:spAutoFit/>
          </a:bodyPr>
          <a:lstStyle/>
          <a:p>
            <a:pPr algn="l">
              <a:lnSpc>
                <a:spcPts val="2470"/>
              </a:lnSpc>
            </a:pPr>
            <a:r>
              <a:rPr sz="1900">
                <a:solidFill>
                  <a:srgbClr val="FFFFFF"/>
                </a:solidFill>
                <a:latin typeface="Poppins"/>
                <a:ea typeface="Poppins"/>
                <a:cs typeface="Poppins"/>
              </a:rPr>
              <a:t>Cuestionario al director general</a:t>
            </a:r>
          </a:p>
        </p:txBody>
      </p:sp>
      <p:pic>
        <p:nvPicPr>
          <p:cNvPr id="15" name="mci0_1" descr="image.png"/>
          <p:cNvPicPr>
            <a:picLocks noChangeAspect="1"/>
          </p:cNvPicPr>
          <p:nvPr/>
        </p:nvPicPr>
        <p:blipFill>
          <a:blip r:embed="rId5"/>
          <a:stretch>
            <a:fillRect/>
          </a:stretch>
        </p:blipFill>
        <p:spPr>
          <a:xfrm>
            <a:off x="1463040" y="5824728"/>
            <a:ext cx="329184" cy="424500"/>
          </a:xfrm>
          <a:prstGeom prst="rect">
            <a:avLst/>
          </a:prstGeom>
        </p:spPr>
      </p:pic>
      <p:sp>
        <p:nvSpPr>
          <p:cNvPr id="16" name="mct0_1"/>
          <p:cNvSpPr txBox="1"/>
          <p:nvPr/>
        </p:nvSpPr>
        <p:spPr>
          <a:xfrm>
            <a:off x="2011680" y="5806440"/>
            <a:ext cx="3977640" cy="914400"/>
          </a:xfrm>
          <a:prstGeom prst="rect">
            <a:avLst/>
          </a:prstGeom>
          <a:noFill/>
        </p:spPr>
        <p:txBody>
          <a:bodyPr wrap="square" lIns="0" rIns="0" tIns="0" bIns="0" anchor="t">
            <a:spAutoFit/>
          </a:bodyPr>
          <a:lstStyle/>
          <a:p>
            <a:pPr algn="l">
              <a:lnSpc>
                <a:spcPts val="2470"/>
              </a:lnSpc>
            </a:pPr>
            <a:r>
              <a:rPr sz="1900">
                <a:solidFill>
                  <a:srgbClr val="FFFFFF"/>
                </a:solidFill>
                <a:latin typeface="Poppins"/>
                <a:ea typeface="Poppins"/>
                <a:cs typeface="Poppins"/>
              </a:rPr>
              <a:t>Producción, costos y capacidad</a:t>
            </a:r>
          </a:p>
        </p:txBody>
      </p:sp>
      <p:pic>
        <p:nvPicPr>
          <p:cNvPr id="17" name="mci0_2" descr="image.png"/>
          <p:cNvPicPr>
            <a:picLocks noChangeAspect="1"/>
          </p:cNvPicPr>
          <p:nvPr/>
        </p:nvPicPr>
        <p:blipFill>
          <a:blip r:embed="rId5"/>
          <a:stretch>
            <a:fillRect/>
          </a:stretch>
        </p:blipFill>
        <p:spPr>
          <a:xfrm>
            <a:off x="1463040" y="6922008"/>
            <a:ext cx="329184" cy="424500"/>
          </a:xfrm>
          <a:prstGeom prst="rect">
            <a:avLst/>
          </a:prstGeom>
        </p:spPr>
      </p:pic>
      <p:sp>
        <p:nvSpPr>
          <p:cNvPr id="18" name="mct0_2"/>
          <p:cNvSpPr txBox="1"/>
          <p:nvPr/>
        </p:nvSpPr>
        <p:spPr>
          <a:xfrm>
            <a:off x="2011680" y="6903720"/>
            <a:ext cx="3977640" cy="914400"/>
          </a:xfrm>
          <a:prstGeom prst="rect">
            <a:avLst/>
          </a:prstGeom>
          <a:noFill/>
        </p:spPr>
        <p:txBody>
          <a:bodyPr wrap="square" lIns="0" rIns="0" tIns="0" bIns="0" anchor="t">
            <a:spAutoFit/>
          </a:bodyPr>
          <a:lstStyle/>
          <a:p>
            <a:pPr algn="l">
              <a:lnSpc>
                <a:spcPts val="2470"/>
              </a:lnSpc>
            </a:pPr>
            <a:r>
              <a:rPr sz="1900">
                <a:solidFill>
                  <a:srgbClr val="FFFFFF"/>
                </a:solidFill>
                <a:latin typeface="Poppins"/>
                <a:ea typeface="Poppins"/>
                <a:cs typeface="Poppins"/>
              </a:rPr>
              <a:t>Empaque, embalaje y etiquetas</a:t>
            </a:r>
          </a:p>
        </p:txBody>
      </p:sp>
      <p:pic>
        <p:nvPicPr>
          <p:cNvPr id="19" name="mci0_3" descr="image.png"/>
          <p:cNvPicPr>
            <a:picLocks noChangeAspect="1"/>
          </p:cNvPicPr>
          <p:nvPr/>
        </p:nvPicPr>
        <p:blipFill>
          <a:blip r:embed="rId5"/>
          <a:stretch>
            <a:fillRect/>
          </a:stretch>
        </p:blipFill>
        <p:spPr>
          <a:xfrm>
            <a:off x="1463040" y="8019288"/>
            <a:ext cx="329184" cy="424500"/>
          </a:xfrm>
          <a:prstGeom prst="rect">
            <a:avLst/>
          </a:prstGeom>
        </p:spPr>
      </p:pic>
      <p:sp>
        <p:nvSpPr>
          <p:cNvPr id="20" name="mct0_3"/>
          <p:cNvSpPr txBox="1"/>
          <p:nvPr/>
        </p:nvSpPr>
        <p:spPr>
          <a:xfrm>
            <a:off x="2011680" y="8001000"/>
            <a:ext cx="3977640" cy="914400"/>
          </a:xfrm>
          <a:prstGeom prst="rect">
            <a:avLst/>
          </a:prstGeom>
          <a:noFill/>
        </p:spPr>
        <p:txBody>
          <a:bodyPr wrap="square" lIns="0" rIns="0" tIns="0" bIns="0" anchor="t">
            <a:spAutoFit/>
          </a:bodyPr>
          <a:lstStyle/>
          <a:p>
            <a:pPr algn="l">
              <a:lnSpc>
                <a:spcPts val="2470"/>
              </a:lnSpc>
            </a:pPr>
            <a:r>
              <a:rPr sz="1900">
                <a:solidFill>
                  <a:srgbClr val="FFFFFF"/>
                </a:solidFill>
                <a:latin typeface="Poppins"/>
                <a:ea typeface="Poppins"/>
                <a:cs typeface="Poppins"/>
              </a:rPr>
              <a:t>Proveedores y personal disponible</a:t>
            </a:r>
          </a:p>
        </p:txBody>
      </p:sp>
      <p:sp>
        <p:nvSpPr>
          <p:cNvPr id="21" name="mc1"/>
          <p:cNvSpPr/>
          <p:nvPr/>
        </p:nvSpPr>
        <p:spPr>
          <a:xfrm>
            <a:off x="6537960" y="3566160"/>
            <a:ext cx="5166360" cy="5806440"/>
          </a:xfrm>
          <a:prstGeom prst="roundRect">
            <a:avLst>
              <a:gd name="adj" fmla="val 5309"/>
            </a:avLst>
          </a:prstGeom>
          <a:solidFill>
            <a:srgbClr val="FFFFFF">
              <a:alpha val="7000"/>
            </a:srgbClr>
          </a:solidFill>
          <a:ln w="12700">
            <a:solidFill>
              <a:srgbClr val="FFFFFF">
                <a:alpha val="16000"/>
              </a:srgbClr>
            </a:solidFill>
          </a:ln>
        </p:spPr>
        <p:txBody>
          <a:bodyPr rtlCol="0" anchor="ctr"/>
          <a:lstStyle/>
          <a:p/>
        </p:txBody>
      </p:sp>
      <p:sp>
        <p:nvSpPr>
          <p:cNvPr id="22" name="mck1"/>
          <p:cNvSpPr txBox="1"/>
          <p:nvPr/>
        </p:nvSpPr>
        <p:spPr>
          <a:xfrm>
            <a:off x="6903720" y="3886200"/>
            <a:ext cx="4480560" cy="502920"/>
          </a:xfrm>
          <a:prstGeom prst="rect">
            <a:avLst/>
          </a:prstGeom>
          <a:noFill/>
        </p:spPr>
        <p:txBody>
          <a:bodyPr wrap="square" lIns="0" rIns="0" tIns="0" bIns="0" anchor="t">
            <a:spAutoFit/>
          </a:bodyPr>
          <a:lstStyle/>
          <a:p>
            <a:pPr algn="l">
              <a:lnSpc>
                <a:spcPts val="2640"/>
              </a:lnSpc>
            </a:pPr>
            <a:r>
              <a:rPr sz="2200">
                <a:solidFill>
                  <a:srgbClr val="F2C48D"/>
                </a:solidFill>
                <a:latin typeface="Poppins Bold"/>
                <a:ea typeface="Poppins Bold"/>
                <a:cs typeface="Poppins Bold"/>
              </a:rPr>
              <a:t>Información externa</a:t>
            </a:r>
          </a:p>
        </p:txBody>
      </p:sp>
      <p:pic>
        <p:nvPicPr>
          <p:cNvPr id="23" name="mci1_0" descr="image.png"/>
          <p:cNvPicPr>
            <a:picLocks noChangeAspect="1"/>
          </p:cNvPicPr>
          <p:nvPr/>
        </p:nvPicPr>
        <p:blipFill>
          <a:blip r:embed="rId5"/>
          <a:stretch>
            <a:fillRect/>
          </a:stretch>
        </p:blipFill>
        <p:spPr>
          <a:xfrm>
            <a:off x="6903720" y="4727448"/>
            <a:ext cx="329184" cy="424500"/>
          </a:xfrm>
          <a:prstGeom prst="rect">
            <a:avLst/>
          </a:prstGeom>
        </p:spPr>
      </p:pic>
      <p:sp>
        <p:nvSpPr>
          <p:cNvPr id="24" name="mct1_0"/>
          <p:cNvSpPr txBox="1"/>
          <p:nvPr/>
        </p:nvSpPr>
        <p:spPr>
          <a:xfrm>
            <a:off x="7452360" y="4709160"/>
            <a:ext cx="3977640" cy="914400"/>
          </a:xfrm>
          <a:prstGeom prst="rect">
            <a:avLst/>
          </a:prstGeom>
          <a:noFill/>
        </p:spPr>
        <p:txBody>
          <a:bodyPr wrap="square" lIns="0" rIns="0" tIns="0" bIns="0" anchor="t">
            <a:spAutoFit/>
          </a:bodyPr>
          <a:lstStyle/>
          <a:p>
            <a:pPr algn="l">
              <a:lnSpc>
                <a:spcPts val="2470"/>
              </a:lnSpc>
            </a:pPr>
            <a:r>
              <a:rPr sz="1900">
                <a:solidFill>
                  <a:srgbClr val="FFFFFF"/>
                </a:solidFill>
                <a:latin typeface="Poppins"/>
                <a:ea typeface="Poppins"/>
                <a:cs typeface="Poppins"/>
              </a:rPr>
              <a:t>FDA y CBP (Estados Unidos)</a:t>
            </a:r>
          </a:p>
        </p:txBody>
      </p:sp>
      <p:pic>
        <p:nvPicPr>
          <p:cNvPr id="25" name="mci1_1" descr="image.png"/>
          <p:cNvPicPr>
            <a:picLocks noChangeAspect="1"/>
          </p:cNvPicPr>
          <p:nvPr/>
        </p:nvPicPr>
        <p:blipFill>
          <a:blip r:embed="rId5"/>
          <a:stretch>
            <a:fillRect/>
          </a:stretch>
        </p:blipFill>
        <p:spPr>
          <a:xfrm>
            <a:off x="6903720" y="5824728"/>
            <a:ext cx="329184" cy="424500"/>
          </a:xfrm>
          <a:prstGeom prst="rect">
            <a:avLst/>
          </a:prstGeom>
        </p:spPr>
      </p:pic>
      <p:sp>
        <p:nvSpPr>
          <p:cNvPr id="26" name="mct1_1"/>
          <p:cNvSpPr txBox="1"/>
          <p:nvPr/>
        </p:nvSpPr>
        <p:spPr>
          <a:xfrm>
            <a:off x="7452360" y="5806440"/>
            <a:ext cx="3977640" cy="914400"/>
          </a:xfrm>
          <a:prstGeom prst="rect">
            <a:avLst/>
          </a:prstGeom>
          <a:noFill/>
        </p:spPr>
        <p:txBody>
          <a:bodyPr wrap="square" lIns="0" rIns="0" tIns="0" bIns="0" anchor="t">
            <a:spAutoFit/>
          </a:bodyPr>
          <a:lstStyle/>
          <a:p>
            <a:pPr algn="l">
              <a:lnSpc>
                <a:spcPts val="2470"/>
              </a:lnSpc>
            </a:pPr>
            <a:r>
              <a:rPr sz="1900">
                <a:solidFill>
                  <a:srgbClr val="FFFFFF"/>
                </a:solidFill>
                <a:latin typeface="Poppins"/>
                <a:ea typeface="Poppins"/>
                <a:cs typeface="Poppins"/>
              </a:rPr>
              <a:t>SAT, Secretaría de Economía, SADER</a:t>
            </a:r>
          </a:p>
        </p:txBody>
      </p:sp>
      <p:pic>
        <p:nvPicPr>
          <p:cNvPr id="27" name="mci1_2" descr="image.png"/>
          <p:cNvPicPr>
            <a:picLocks noChangeAspect="1"/>
          </p:cNvPicPr>
          <p:nvPr/>
        </p:nvPicPr>
        <p:blipFill>
          <a:blip r:embed="rId5"/>
          <a:stretch>
            <a:fillRect/>
          </a:stretch>
        </p:blipFill>
        <p:spPr>
          <a:xfrm>
            <a:off x="6903720" y="6922008"/>
            <a:ext cx="329184" cy="424500"/>
          </a:xfrm>
          <a:prstGeom prst="rect">
            <a:avLst/>
          </a:prstGeom>
        </p:spPr>
      </p:pic>
      <p:sp>
        <p:nvSpPr>
          <p:cNvPr id="28" name="mct1_2"/>
          <p:cNvSpPr txBox="1"/>
          <p:nvPr/>
        </p:nvSpPr>
        <p:spPr>
          <a:xfrm>
            <a:off x="7452360" y="6903720"/>
            <a:ext cx="3977640" cy="914400"/>
          </a:xfrm>
          <a:prstGeom prst="rect">
            <a:avLst/>
          </a:prstGeom>
          <a:noFill/>
        </p:spPr>
        <p:txBody>
          <a:bodyPr wrap="square" lIns="0" rIns="0" tIns="0" bIns="0" anchor="t">
            <a:spAutoFit/>
          </a:bodyPr>
          <a:lstStyle/>
          <a:p>
            <a:pPr algn="l">
              <a:lnSpc>
                <a:spcPts val="2470"/>
              </a:lnSpc>
            </a:pPr>
            <a:r>
              <a:rPr sz="1900">
                <a:solidFill>
                  <a:srgbClr val="FFFFFF"/>
                </a:solidFill>
                <a:latin typeface="Poppins"/>
                <a:ea typeface="Poppins"/>
                <a:cs typeface="Poppins"/>
              </a:rPr>
              <a:t>U.S. Census Bureau: estadísticas</a:t>
            </a:r>
          </a:p>
        </p:txBody>
      </p:sp>
      <p:pic>
        <p:nvPicPr>
          <p:cNvPr id="29" name="mci1_3" descr="image.png"/>
          <p:cNvPicPr>
            <a:picLocks noChangeAspect="1"/>
          </p:cNvPicPr>
          <p:nvPr/>
        </p:nvPicPr>
        <p:blipFill>
          <a:blip r:embed="rId5"/>
          <a:stretch>
            <a:fillRect/>
          </a:stretch>
        </p:blipFill>
        <p:spPr>
          <a:xfrm>
            <a:off x="6903720" y="8019288"/>
            <a:ext cx="329184" cy="424500"/>
          </a:xfrm>
          <a:prstGeom prst="rect">
            <a:avLst/>
          </a:prstGeom>
        </p:spPr>
      </p:pic>
      <p:sp>
        <p:nvSpPr>
          <p:cNvPr id="30" name="mct1_3"/>
          <p:cNvSpPr txBox="1"/>
          <p:nvPr/>
        </p:nvSpPr>
        <p:spPr>
          <a:xfrm>
            <a:off x="7452360" y="8001000"/>
            <a:ext cx="3977640" cy="914400"/>
          </a:xfrm>
          <a:prstGeom prst="rect">
            <a:avLst/>
          </a:prstGeom>
          <a:noFill/>
        </p:spPr>
        <p:txBody>
          <a:bodyPr wrap="square" lIns="0" rIns="0" tIns="0" bIns="0" anchor="t">
            <a:spAutoFit/>
          </a:bodyPr>
          <a:lstStyle/>
          <a:p>
            <a:pPr algn="l">
              <a:lnSpc>
                <a:spcPts val="2470"/>
              </a:lnSpc>
            </a:pPr>
            <a:r>
              <a:rPr sz="1900">
                <a:solidFill>
                  <a:srgbClr val="FFFFFF"/>
                </a:solidFill>
                <a:latin typeface="Poppins"/>
                <a:ea typeface="Poppins"/>
                <a:cs typeface="Poppins"/>
              </a:rPr>
              <a:t>Directorios de importadores en Texas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pic>
        <p:nvPicPr>
          <p:cNvPr id="2" name="!!drip" descr="image.png"/>
          <p:cNvPicPr>
            <a:picLocks noChangeAspect="1"/>
          </p:cNvPicPr>
          <p:nvPr/>
        </p:nvPicPr>
        <p:blipFill>
          <a:blip r:embed="rId3"/>
          <a:stretch>
            <a:fillRect/>
          </a:stretch>
        </p:blipFill>
        <p:spPr>
          <a:xfrm rot="10800000">
            <a:off x="13350240" y="9418320"/>
            <a:ext cx="4572000" cy="2358221"/>
          </a:xfrm>
          <a:prstGeom prst="rect">
            <a:avLst/>
          </a:prstGeom>
        </p:spPr>
      </p:pic>
      <p:pic>
        <p:nvPicPr>
          <p:cNvPr id="3" name="!!splash" descr="image.png"/>
          <p:cNvPicPr>
            <a:picLocks noChangeAspect="1"/>
          </p:cNvPicPr>
          <p:nvPr/>
        </p:nvPicPr>
        <p:blipFill>
          <a:blip r:embed="rId4"/>
          <a:stretch>
            <a:fillRect/>
          </a:stretch>
        </p:blipFill>
        <p:spPr>
          <a:xfrm rot="10320000">
            <a:off x="13716000" y="-1463040"/>
            <a:ext cx="5852160" cy="3641344"/>
          </a:xfrm>
          <a:prstGeom prst="rect">
            <a:avLst/>
          </a:prstGeom>
        </p:spPr>
      </p:pic>
      <p:pic>
        <p:nvPicPr>
          <p:cNvPr id="4" name="!!chunkA" descr="image.png"/>
          <p:cNvPicPr>
            <a:picLocks noChangeAspect="1"/>
          </p:cNvPicPr>
          <p:nvPr/>
        </p:nvPicPr>
        <p:blipFill>
          <a:blip r:embed="rId5"/>
          <a:stretch>
            <a:fillRect/>
          </a:stretch>
        </p:blipFill>
        <p:spPr>
          <a:xfrm rot="20400000">
            <a:off x="-274320" y="274320"/>
            <a:ext cx="1371600" cy="1768750"/>
          </a:xfrm>
          <a:prstGeom prst="rect">
            <a:avLst/>
          </a:prstGeom>
        </p:spPr>
      </p:pic>
      <p:pic>
        <p:nvPicPr>
          <p:cNvPr id="5" name="!!chunkB" descr="image.png"/>
          <p:cNvPicPr>
            <a:picLocks noChangeAspect="1"/>
          </p:cNvPicPr>
          <p:nvPr/>
        </p:nvPicPr>
        <p:blipFill>
          <a:blip r:embed="rId6"/>
          <a:stretch>
            <a:fillRect/>
          </a:stretch>
        </p:blipFill>
        <p:spPr>
          <a:xfrm rot="480000">
            <a:off x="16642080" y="9235440"/>
            <a:ext cx="2194560" cy="1788773"/>
          </a:xfrm>
          <a:prstGeom prst="rect">
            <a:avLst/>
          </a:prstGeom>
        </p:spPr>
      </p:pic>
      <p:pic>
        <p:nvPicPr>
          <p:cNvPr id="6" name="!!bars" descr="image.png"/>
          <p:cNvPicPr>
            <a:picLocks noChangeAspect="1"/>
          </p:cNvPicPr>
          <p:nvPr/>
        </p:nvPicPr>
        <p:blipFill>
          <a:blip r:embed="rId7"/>
          <a:stretch>
            <a:fillRect/>
          </a:stretch>
        </p:blipFill>
        <p:spPr>
          <a:xfrm rot="600000">
            <a:off x="-1645920" y="9418320"/>
            <a:ext cx="2926080" cy="1644838"/>
          </a:xfrm>
          <a:prstGeom prst="rect">
            <a:avLst/>
          </a:prstGeom>
        </p:spPr>
      </p:pic>
      <p:sp>
        <p:nvSpPr>
          <p:cNvPr id="7" name="!!kick"/>
          <p:cNvSpPr txBox="1"/>
          <p:nvPr/>
        </p:nvSpPr>
        <p:spPr>
          <a:xfrm>
            <a:off x="1097280" y="731520"/>
            <a:ext cx="146304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10 · ROLEPLAY CON LA DIRECCIÓN</a:t>
            </a:r>
          </a:p>
        </p:txBody>
      </p:sp>
      <p:sp>
        <p:nvSpPr>
          <p:cNvPr id="8" name="!!t1"/>
          <p:cNvSpPr txBox="1"/>
          <p:nvPr/>
        </p:nvSpPr>
        <p:spPr>
          <a:xfrm>
            <a:off x="1097280" y="1234440"/>
            <a:ext cx="146304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OBJECIONES Y</a:t>
            </a:r>
          </a:p>
        </p:txBody>
      </p:sp>
      <p:sp>
        <p:nvSpPr>
          <p:cNvPr id="9" name="!!t2"/>
          <p:cNvSpPr txBox="1"/>
          <p:nvPr/>
        </p:nvSpPr>
        <p:spPr>
          <a:xfrm>
            <a:off x="1097280" y="1910080"/>
            <a:ext cx="146304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RESISTENCIA AL CAMBIO</a:t>
            </a:r>
          </a:p>
        </p:txBody>
      </p:sp>
      <p:sp>
        <p:nvSpPr>
          <p:cNvPr id="10" name="ob0"/>
          <p:cNvSpPr/>
          <p:nvPr/>
        </p:nvSpPr>
        <p:spPr>
          <a:xfrm>
            <a:off x="1097280" y="3611880"/>
            <a:ext cx="7863840" cy="2788920"/>
          </a:xfrm>
          <a:prstGeom prst="roundRect">
            <a:avLst>
              <a:gd name="adj" fmla="val 9836"/>
            </a:avLst>
          </a:prstGeom>
          <a:solidFill>
            <a:srgbClr val="FFFFFF">
              <a:alpha val="7000"/>
            </a:srgbClr>
          </a:solidFill>
          <a:ln w="12700">
            <a:solidFill>
              <a:srgbClr val="FFFFFF">
                <a:alpha val="16000"/>
              </a:srgbClr>
            </a:solidFill>
          </a:ln>
        </p:spPr>
        <p:txBody>
          <a:bodyPr rtlCol="0" anchor="ctr"/>
          <a:lstStyle/>
          <a:p/>
        </p:txBody>
      </p:sp>
      <p:sp>
        <p:nvSpPr>
          <p:cNvPr id="11" name="obq0"/>
          <p:cNvSpPr txBox="1"/>
          <p:nvPr/>
        </p:nvSpPr>
        <p:spPr>
          <a:xfrm>
            <a:off x="1463040" y="3886200"/>
            <a:ext cx="7132320" cy="548640"/>
          </a:xfrm>
          <a:prstGeom prst="rect">
            <a:avLst/>
          </a:prstGeom>
          <a:noFill/>
        </p:spPr>
        <p:txBody>
          <a:bodyPr wrap="square" lIns="0" rIns="0" tIns="0" bIns="0" anchor="t">
            <a:spAutoFit/>
          </a:bodyPr>
          <a:lstStyle/>
          <a:p>
            <a:pPr algn="l">
              <a:lnSpc>
                <a:spcPts val="2750"/>
              </a:lnSpc>
            </a:pPr>
            <a:r>
              <a:rPr sz="2200" i="1">
                <a:solidFill>
                  <a:srgbClr val="F2C48D"/>
                </a:solidFill>
                <a:latin typeface="Poppins Semi-Bold"/>
                <a:ea typeface="Poppins Semi-Bold"/>
                <a:cs typeface="Poppins Semi-Bold"/>
              </a:rPr>
              <a:t>“No tenemos experiencia exportando.”</a:t>
            </a:r>
          </a:p>
        </p:txBody>
      </p:sp>
      <p:sp>
        <p:nvSpPr>
          <p:cNvPr id="12" name="oba0"/>
          <p:cNvSpPr txBox="1"/>
          <p:nvPr/>
        </p:nvSpPr>
        <p:spPr>
          <a:xfrm>
            <a:off x="1463040" y="4572000"/>
            <a:ext cx="7132320" cy="1645920"/>
          </a:xfrm>
          <a:prstGeom prst="rect">
            <a:avLst/>
          </a:prstGeom>
          <a:noFill/>
        </p:spPr>
        <p:txBody>
          <a:bodyPr wrap="square" lIns="0" rIns="0" tIns="0" bIns="0" anchor="t">
            <a:spAutoFit/>
          </a:bodyPr>
          <a:lstStyle/>
          <a:p>
            <a:pPr algn="l">
              <a:lnSpc>
                <a:spcPts val="2800"/>
              </a:lnSpc>
            </a:pPr>
            <a:r>
              <a:rPr sz="2000">
                <a:solidFill>
                  <a:srgbClr val="FFFFFF"/>
                </a:solidFill>
                <a:latin typeface="Poppins"/>
                <a:ea typeface="Poppins"/>
                <a:cs typeface="Poppins"/>
              </a:rPr>
              <a:t>Iniciamos en un solo mercado cercano con un embarque piloto: aprender con riesgo controlado.</a:t>
            </a:r>
          </a:p>
        </p:txBody>
      </p:sp>
      <p:sp>
        <p:nvSpPr>
          <p:cNvPr id="13" name="ob1"/>
          <p:cNvSpPr/>
          <p:nvPr/>
        </p:nvSpPr>
        <p:spPr>
          <a:xfrm>
            <a:off x="9326880" y="3611880"/>
            <a:ext cx="7863840" cy="2788920"/>
          </a:xfrm>
          <a:prstGeom prst="roundRect">
            <a:avLst>
              <a:gd name="adj" fmla="val 9836"/>
            </a:avLst>
          </a:prstGeom>
          <a:solidFill>
            <a:srgbClr val="FFFFFF">
              <a:alpha val="7000"/>
            </a:srgbClr>
          </a:solidFill>
          <a:ln w="12700">
            <a:solidFill>
              <a:srgbClr val="FFFFFF">
                <a:alpha val="16000"/>
              </a:srgbClr>
            </a:solidFill>
          </a:ln>
        </p:spPr>
        <p:txBody>
          <a:bodyPr rtlCol="0" anchor="ctr"/>
          <a:lstStyle/>
          <a:p/>
        </p:txBody>
      </p:sp>
      <p:sp>
        <p:nvSpPr>
          <p:cNvPr id="14" name="obq1"/>
          <p:cNvSpPr txBox="1"/>
          <p:nvPr/>
        </p:nvSpPr>
        <p:spPr>
          <a:xfrm>
            <a:off x="9692640" y="3886200"/>
            <a:ext cx="7132320" cy="548640"/>
          </a:xfrm>
          <a:prstGeom prst="rect">
            <a:avLst/>
          </a:prstGeom>
          <a:noFill/>
        </p:spPr>
        <p:txBody>
          <a:bodyPr wrap="square" lIns="0" rIns="0" tIns="0" bIns="0" anchor="t">
            <a:spAutoFit/>
          </a:bodyPr>
          <a:lstStyle/>
          <a:p>
            <a:pPr algn="l">
              <a:lnSpc>
                <a:spcPts val="2750"/>
              </a:lnSpc>
            </a:pPr>
            <a:r>
              <a:rPr sz="2200" i="1">
                <a:solidFill>
                  <a:srgbClr val="F2C48D"/>
                </a:solidFill>
                <a:latin typeface="Poppins Semi-Bold"/>
                <a:ea typeface="Poppins Semi-Bold"/>
                <a:cs typeface="Poppins Semi-Bold"/>
              </a:rPr>
              <a:t>“El chocolate se va a derretir.”</a:t>
            </a:r>
          </a:p>
        </p:txBody>
      </p:sp>
      <p:sp>
        <p:nvSpPr>
          <p:cNvPr id="15" name="oba1"/>
          <p:cNvSpPr txBox="1"/>
          <p:nvPr/>
        </p:nvSpPr>
        <p:spPr>
          <a:xfrm>
            <a:off x="9692640" y="4572000"/>
            <a:ext cx="7132320" cy="1645920"/>
          </a:xfrm>
          <a:prstGeom prst="rect">
            <a:avLst/>
          </a:prstGeom>
          <a:noFill/>
        </p:spPr>
        <p:txBody>
          <a:bodyPr wrap="square" lIns="0" rIns="0" tIns="0" bIns="0" anchor="t">
            <a:spAutoFit/>
          </a:bodyPr>
          <a:lstStyle/>
          <a:p>
            <a:pPr algn="l">
              <a:lnSpc>
                <a:spcPts val="2800"/>
              </a:lnSpc>
            </a:pPr>
            <a:r>
              <a:rPr sz="2000">
                <a:solidFill>
                  <a:srgbClr val="FFFFFF"/>
                </a:solidFill>
                <a:latin typeface="Poppins"/>
                <a:ea typeface="Poppins"/>
                <a:cs typeface="Poppins"/>
              </a:rPr>
              <a:t>Transporte con temperatura controlada, empaque térmico y ruta directa por Nuevo Laredo.</a:t>
            </a:r>
          </a:p>
        </p:txBody>
      </p:sp>
      <p:sp>
        <p:nvSpPr>
          <p:cNvPr id="16" name="ob2"/>
          <p:cNvSpPr/>
          <p:nvPr/>
        </p:nvSpPr>
        <p:spPr>
          <a:xfrm>
            <a:off x="1097280" y="6675120"/>
            <a:ext cx="7863840" cy="2788920"/>
          </a:xfrm>
          <a:prstGeom prst="roundRect">
            <a:avLst>
              <a:gd name="adj" fmla="val 9836"/>
            </a:avLst>
          </a:prstGeom>
          <a:solidFill>
            <a:srgbClr val="FFFFFF">
              <a:alpha val="7000"/>
            </a:srgbClr>
          </a:solidFill>
          <a:ln w="12700">
            <a:solidFill>
              <a:srgbClr val="FFFFFF">
                <a:alpha val="16000"/>
              </a:srgbClr>
            </a:solidFill>
          </a:ln>
        </p:spPr>
        <p:txBody>
          <a:bodyPr rtlCol="0" anchor="ctr"/>
          <a:lstStyle/>
          <a:p/>
        </p:txBody>
      </p:sp>
      <p:sp>
        <p:nvSpPr>
          <p:cNvPr id="17" name="obq2"/>
          <p:cNvSpPr txBox="1"/>
          <p:nvPr/>
        </p:nvSpPr>
        <p:spPr>
          <a:xfrm>
            <a:off x="1463040" y="6949440"/>
            <a:ext cx="7132320" cy="548640"/>
          </a:xfrm>
          <a:prstGeom prst="rect">
            <a:avLst/>
          </a:prstGeom>
          <a:noFill/>
        </p:spPr>
        <p:txBody>
          <a:bodyPr wrap="square" lIns="0" rIns="0" tIns="0" bIns="0" anchor="t">
            <a:spAutoFit/>
          </a:bodyPr>
          <a:lstStyle/>
          <a:p>
            <a:pPr algn="l">
              <a:lnSpc>
                <a:spcPts val="2750"/>
              </a:lnSpc>
            </a:pPr>
            <a:r>
              <a:rPr sz="2200" i="1">
                <a:solidFill>
                  <a:srgbClr val="F2C48D"/>
                </a:solidFill>
                <a:latin typeface="Poppins Semi-Bold"/>
                <a:ea typeface="Poppins Semi-Bold"/>
                <a:cs typeface="Poppins Semi-Bold"/>
              </a:rPr>
              <a:t>“Es muy caro y arriesgado.”</a:t>
            </a:r>
          </a:p>
        </p:txBody>
      </p:sp>
      <p:sp>
        <p:nvSpPr>
          <p:cNvPr id="18" name="oba2"/>
          <p:cNvSpPr txBox="1"/>
          <p:nvPr/>
        </p:nvSpPr>
        <p:spPr>
          <a:xfrm>
            <a:off x="1463040" y="7635240"/>
            <a:ext cx="7132320" cy="1645920"/>
          </a:xfrm>
          <a:prstGeom prst="rect">
            <a:avLst/>
          </a:prstGeom>
          <a:noFill/>
        </p:spPr>
        <p:txBody>
          <a:bodyPr wrap="square" lIns="0" rIns="0" tIns="0" bIns="0" anchor="t">
            <a:spAutoFit/>
          </a:bodyPr>
          <a:lstStyle/>
          <a:p>
            <a:pPr algn="l">
              <a:lnSpc>
                <a:spcPts val="2800"/>
              </a:lnSpc>
            </a:pPr>
            <a:r>
              <a:rPr sz="2000">
                <a:solidFill>
                  <a:srgbClr val="FFFFFF"/>
                </a:solidFill>
                <a:latin typeface="Poppins"/>
                <a:ea typeface="Poppins"/>
                <a:cs typeface="Poppins"/>
              </a:rPr>
              <a:t>Lo caro es exportar sin plan: multas, rechazos y reetiquetado. Costeamos antes de enviar y usamos el T-MEC.</a:t>
            </a:r>
          </a:p>
        </p:txBody>
      </p:sp>
      <p:sp>
        <p:nvSpPr>
          <p:cNvPr id="19" name="ob3"/>
          <p:cNvSpPr/>
          <p:nvPr/>
        </p:nvSpPr>
        <p:spPr>
          <a:xfrm>
            <a:off x="9326880" y="6675120"/>
            <a:ext cx="7863840" cy="2788920"/>
          </a:xfrm>
          <a:prstGeom prst="roundRect">
            <a:avLst>
              <a:gd name="adj" fmla="val 9836"/>
            </a:avLst>
          </a:prstGeom>
          <a:solidFill>
            <a:srgbClr val="FFFFFF">
              <a:alpha val="7000"/>
            </a:srgbClr>
          </a:solidFill>
          <a:ln w="12700">
            <a:solidFill>
              <a:srgbClr val="FFFFFF">
                <a:alpha val="16000"/>
              </a:srgbClr>
            </a:solidFill>
          </a:ln>
        </p:spPr>
        <p:txBody>
          <a:bodyPr rtlCol="0" anchor="ctr"/>
          <a:lstStyle/>
          <a:p/>
        </p:txBody>
      </p:sp>
      <p:sp>
        <p:nvSpPr>
          <p:cNvPr id="20" name="obq3"/>
          <p:cNvSpPr txBox="1"/>
          <p:nvPr/>
        </p:nvSpPr>
        <p:spPr>
          <a:xfrm>
            <a:off x="9692640" y="6949440"/>
            <a:ext cx="7132320" cy="548640"/>
          </a:xfrm>
          <a:prstGeom prst="rect">
            <a:avLst/>
          </a:prstGeom>
          <a:noFill/>
        </p:spPr>
        <p:txBody>
          <a:bodyPr wrap="square" lIns="0" rIns="0" tIns="0" bIns="0" anchor="t">
            <a:spAutoFit/>
          </a:bodyPr>
          <a:lstStyle/>
          <a:p>
            <a:pPr algn="l">
              <a:lnSpc>
                <a:spcPts val="2750"/>
              </a:lnSpc>
            </a:pPr>
            <a:r>
              <a:rPr sz="2200" i="1">
                <a:solidFill>
                  <a:srgbClr val="F2C48D"/>
                </a:solidFill>
                <a:latin typeface="Poppins Semi-Bold"/>
                <a:ea typeface="Poppins Semi-Bold"/>
                <a:cs typeface="Poppins Semi-Bold"/>
              </a:rPr>
              <a:t>“Ya hay marcas muy posicionadas.”</a:t>
            </a:r>
          </a:p>
        </p:txBody>
      </p:sp>
      <p:sp>
        <p:nvSpPr>
          <p:cNvPr id="21" name="oba3"/>
          <p:cNvSpPr txBox="1"/>
          <p:nvPr/>
        </p:nvSpPr>
        <p:spPr>
          <a:xfrm>
            <a:off x="9692640" y="7635240"/>
            <a:ext cx="7132320" cy="1645920"/>
          </a:xfrm>
          <a:prstGeom prst="rect">
            <a:avLst/>
          </a:prstGeom>
          <a:noFill/>
        </p:spPr>
        <p:txBody>
          <a:bodyPr wrap="square" lIns="0" rIns="0" tIns="0" bIns="0" anchor="t">
            <a:spAutoFit/>
          </a:bodyPr>
          <a:lstStyle/>
          <a:p>
            <a:pPr algn="l">
              <a:lnSpc>
                <a:spcPts val="2800"/>
              </a:lnSpc>
            </a:pPr>
            <a:r>
              <a:rPr sz="2000">
                <a:solidFill>
                  <a:srgbClr val="FFFFFF"/>
                </a:solidFill>
                <a:latin typeface="Poppins"/>
                <a:ea typeface="Poppins"/>
                <a:cs typeface="Poppins"/>
              </a:rPr>
              <a:t>Nos diferenciamos con sabores mexicanos, identidad prehispánica y la comunidad mexicana de San Antonio.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pic>
        <p:nvPicPr>
          <p:cNvPr id="2" name="!!cocoa" descr="image.png"/>
          <p:cNvPicPr>
            <a:picLocks noChangeAspect="1"/>
          </p:cNvPicPr>
          <p:nvPr/>
        </p:nvPicPr>
        <p:blipFill>
          <a:blip r:embed="rId3"/>
          <a:stretch>
            <a:fillRect/>
          </a:stretch>
        </p:blipFill>
        <p:spPr>
          <a:xfrm>
            <a:off x="10515600" y="8321040"/>
            <a:ext cx="6858000" cy="3450298"/>
          </a:xfrm>
          <a:prstGeom prst="rect">
            <a:avLst/>
          </a:prstGeom>
        </p:spPr>
      </p:pic>
      <p:pic>
        <p:nvPicPr>
          <p:cNvPr id="3" name="!!drip" descr="image.png"/>
          <p:cNvPicPr>
            <a:picLocks noChangeAspect="1"/>
          </p:cNvPicPr>
          <p:nvPr/>
        </p:nvPicPr>
        <p:blipFill>
          <a:blip r:embed="rId4"/>
          <a:stretch>
            <a:fillRect/>
          </a:stretch>
        </p:blipFill>
        <p:spPr>
          <a:xfrm>
            <a:off x="-3291840" y="-1737360"/>
            <a:ext cx="5486400" cy="2829865"/>
          </a:xfrm>
          <a:prstGeom prst="rect">
            <a:avLst/>
          </a:prstGeom>
        </p:spPr>
      </p:pic>
      <p:pic>
        <p:nvPicPr>
          <p:cNvPr id="4" name="!!splash" descr="image.png"/>
          <p:cNvPicPr>
            <a:picLocks noChangeAspect="1"/>
          </p:cNvPicPr>
          <p:nvPr/>
        </p:nvPicPr>
        <p:blipFill>
          <a:blip r:embed="rId5"/>
          <a:stretch>
            <a:fillRect/>
          </a:stretch>
        </p:blipFill>
        <p:spPr>
          <a:xfrm rot="600000">
            <a:off x="-4389120" y="8869680"/>
            <a:ext cx="4572000" cy="2844800"/>
          </a:xfrm>
          <a:prstGeom prst="rect">
            <a:avLst/>
          </a:prstGeom>
        </p:spPr>
      </p:pic>
      <p:pic>
        <p:nvPicPr>
          <p:cNvPr id="5" name="!!chunkA" descr="image.png"/>
          <p:cNvPicPr>
            <a:picLocks noChangeAspect="1"/>
          </p:cNvPicPr>
          <p:nvPr/>
        </p:nvPicPr>
        <p:blipFill>
          <a:blip r:embed="rId6"/>
          <a:stretch>
            <a:fillRect/>
          </a:stretch>
        </p:blipFill>
        <p:spPr>
          <a:xfrm rot="1500000">
            <a:off x="8229600" y="274320"/>
            <a:ext cx="1371600" cy="1768750"/>
          </a:xfrm>
          <a:prstGeom prst="rect">
            <a:avLst/>
          </a:prstGeom>
        </p:spPr>
      </p:pic>
      <p:pic>
        <p:nvPicPr>
          <p:cNvPr id="6" name="!!chunkB" descr="image.png"/>
          <p:cNvPicPr>
            <a:picLocks noChangeAspect="1"/>
          </p:cNvPicPr>
          <p:nvPr/>
        </p:nvPicPr>
        <p:blipFill>
          <a:blip r:embed="rId7"/>
          <a:stretch>
            <a:fillRect/>
          </a:stretch>
        </p:blipFill>
        <p:spPr>
          <a:xfrm rot="10200000">
            <a:off x="-731520" y="-457200"/>
            <a:ext cx="2560320" cy="2086902"/>
          </a:xfrm>
          <a:prstGeom prst="rect">
            <a:avLst/>
          </a:prstGeom>
        </p:spPr>
      </p:pic>
      <p:pic>
        <p:nvPicPr>
          <p:cNvPr id="7" name="!!bars" descr="image.png"/>
          <p:cNvPicPr>
            <a:picLocks noChangeAspect="1"/>
          </p:cNvPicPr>
          <p:nvPr/>
        </p:nvPicPr>
        <p:blipFill>
          <a:blip r:embed="rId8"/>
          <a:stretch>
            <a:fillRect/>
          </a:stretch>
        </p:blipFill>
        <p:spPr>
          <a:xfrm rot="600000">
            <a:off x="15819120" y="182880"/>
            <a:ext cx="2377440" cy="1336431"/>
          </a:xfrm>
          <a:prstGeom prst="rect">
            <a:avLst/>
          </a:prstGeom>
        </p:spPr>
      </p:pic>
      <p:pic>
        <p:nvPicPr>
          <p:cNvPr id="8" name="!!hero" descr="image.png"/>
          <p:cNvPicPr>
            <a:picLocks noChangeAspect="1"/>
          </p:cNvPicPr>
          <p:nvPr/>
        </p:nvPicPr>
        <p:blipFill>
          <a:blip r:embed="rId9"/>
          <a:stretch>
            <a:fillRect/>
          </a:stretch>
        </p:blipFill>
        <p:spPr>
          <a:xfrm>
            <a:off x="11430000" y="914400"/>
            <a:ext cx="5760720" cy="8133317"/>
          </a:xfrm>
          <a:prstGeom prst="rect">
            <a:avLst/>
          </a:prstGeom>
        </p:spPr>
      </p:pic>
      <p:sp>
        <p:nvSpPr>
          <p:cNvPr id="9" name="!!kick"/>
          <p:cNvSpPr txBox="1"/>
          <p:nvPr/>
        </p:nvSpPr>
        <p:spPr>
          <a:xfrm>
            <a:off x="1097280" y="914400"/>
            <a:ext cx="10058400" cy="365760"/>
          </a:xfrm>
          <a:prstGeom prst="rect">
            <a:avLst/>
          </a:prstGeom>
          <a:noFill/>
        </p:spPr>
        <p:txBody>
          <a:bodyPr wrap="square" lIns="0" rIns="0" tIns="0" bIns="0" anchor="t">
            <a:spAutoFit/>
          </a:bodyPr>
          <a:lstStyle/>
          <a:p>
            <a:pPr algn="l">
              <a:lnSpc>
                <a:spcPts val="2160"/>
              </a:lnSpc>
            </a:pPr>
            <a:r>
              <a:rPr sz="1800" spc="300">
                <a:solidFill>
                  <a:srgbClr val="F2C48D"/>
                </a:solidFill>
                <a:latin typeface="Poppins Semi-Bold"/>
                <a:ea typeface="Poppins Semi-Bold"/>
                <a:cs typeface="Poppins Semi-Bold"/>
              </a:rPr>
              <a:t>11 · SIGUIENTES PASOS</a:t>
            </a:r>
          </a:p>
        </p:txBody>
      </p:sp>
      <p:sp>
        <p:nvSpPr>
          <p:cNvPr id="10" name="!!t1"/>
          <p:cNvSpPr txBox="1"/>
          <p:nvPr/>
        </p:nvSpPr>
        <p:spPr>
          <a:xfrm>
            <a:off x="1097280" y="1417320"/>
            <a:ext cx="10058400" cy="721360"/>
          </a:xfrm>
          <a:prstGeom prst="rect">
            <a:avLst/>
          </a:prstGeom>
          <a:noFill/>
        </p:spPr>
        <p:txBody>
          <a:bodyPr wrap="square" lIns="0" rIns="0" tIns="0" bIns="0" anchor="t">
            <a:spAutoFit/>
          </a:bodyPr>
          <a:lstStyle/>
          <a:p>
            <a:pPr algn="l">
              <a:lnSpc>
                <a:spcPts val="5320"/>
              </a:lnSpc>
            </a:pPr>
            <a:r>
              <a:rPr sz="5600" spc="-300">
                <a:solidFill>
                  <a:srgbClr val="FFFFFF"/>
                </a:solidFill>
                <a:latin typeface="Archivo Black"/>
                <a:ea typeface="Archivo Black"/>
                <a:cs typeface="Archivo Black"/>
              </a:rPr>
              <a:t>LO QUE</a:t>
            </a:r>
          </a:p>
        </p:txBody>
      </p:sp>
      <p:sp>
        <p:nvSpPr>
          <p:cNvPr id="11" name="!!t2"/>
          <p:cNvSpPr txBox="1"/>
          <p:nvPr/>
        </p:nvSpPr>
        <p:spPr>
          <a:xfrm>
            <a:off x="1097280" y="2092960"/>
            <a:ext cx="10058400" cy="721360"/>
          </a:xfrm>
          <a:prstGeom prst="rect">
            <a:avLst/>
          </a:prstGeom>
          <a:noFill/>
        </p:spPr>
        <p:txBody>
          <a:bodyPr wrap="square" lIns="0" rIns="0" tIns="0" bIns="0" anchor="t">
            <a:spAutoFit/>
          </a:bodyPr>
          <a:lstStyle/>
          <a:p>
            <a:pPr algn="l">
              <a:lnSpc>
                <a:spcPts val="5320"/>
              </a:lnSpc>
            </a:pPr>
            <a:r>
              <a:rPr sz="5600" spc="-300">
                <a:gradFill>
                  <a:gsLst>
                    <a:gs pos="0">
                      <a:srgbClr val="E0A77C"/>
                    </a:gs>
                    <a:gs pos="100000">
                      <a:srgbClr val="FFFFFF"/>
                    </a:gs>
                  </a:gsLst>
                  <a:lin ang="0" scaled="0"/>
                </a:gradFill>
                <a:latin typeface="Archivo Black"/>
                <a:ea typeface="Archivo Black"/>
                <a:cs typeface="Archivo Black"/>
              </a:rPr>
              <a:t>PROPONEMOS HOY</a:t>
            </a:r>
          </a:p>
        </p:txBody>
      </p:sp>
      <p:sp>
        <p:nvSpPr>
          <p:cNvPr id="12" name="stepb0"/>
          <p:cNvSpPr/>
          <p:nvPr/>
        </p:nvSpPr>
        <p:spPr>
          <a:xfrm>
            <a:off x="1097280" y="3703320"/>
            <a:ext cx="9326880" cy="987552"/>
          </a:xfrm>
          <a:prstGeom prst="roundRect">
            <a:avLst>
              <a:gd name="adj" fmla="val 50000"/>
            </a:avLst>
          </a:prstGeom>
          <a:solidFill>
            <a:srgbClr val="F2C48D">
              <a:alpha val="22000"/>
            </a:srgbClr>
          </a:solidFill>
          <a:ln w="12700">
            <a:noFill/>
          </a:ln>
        </p:spPr>
        <p:txBody>
          <a:bodyPr rtlCol="0" anchor="ctr"/>
          <a:lstStyle/>
          <a:p/>
        </p:txBody>
      </p:sp>
      <p:sp>
        <p:nvSpPr>
          <p:cNvPr id="13" name="stepc0"/>
          <p:cNvSpPr/>
          <p:nvPr/>
        </p:nvSpPr>
        <p:spPr>
          <a:xfrm>
            <a:off x="1261872" y="3858768"/>
            <a:ext cx="676656" cy="676656"/>
          </a:xfrm>
          <a:prstGeom prst="ellipse">
            <a:avLst/>
          </a:prstGeom>
          <a:solidFill>
            <a:srgbClr val="F2C48D">
              <a:alpha val="100000"/>
            </a:srgbClr>
          </a:solidFill>
          <a:ln w="12700">
            <a:noFill/>
          </a:ln>
        </p:spPr>
        <p:txBody>
          <a:bodyPr rtlCol="0" anchor="ctr"/>
          <a:lstStyle/>
          <a:p/>
        </p:txBody>
      </p:sp>
      <p:sp>
        <p:nvSpPr>
          <p:cNvPr id="14" name="stepn0"/>
          <p:cNvSpPr txBox="1"/>
          <p:nvPr/>
        </p:nvSpPr>
        <p:spPr>
          <a:xfrm>
            <a:off x="1261872" y="3858768"/>
            <a:ext cx="676656" cy="676656"/>
          </a:xfrm>
          <a:prstGeom prst="rect">
            <a:avLst/>
          </a:prstGeom>
          <a:noFill/>
        </p:spPr>
        <p:txBody>
          <a:bodyPr wrap="square" lIns="0" rIns="0" tIns="0" bIns="0" anchor="ctr">
            <a:spAutoFit/>
          </a:bodyPr>
          <a:lstStyle/>
          <a:p>
            <a:pPr algn="ctr">
              <a:lnSpc>
                <a:spcPts val="2000"/>
              </a:lnSpc>
            </a:pPr>
            <a:r>
              <a:rPr sz="2000">
                <a:solidFill>
                  <a:srgbClr val="4A200B"/>
                </a:solidFill>
                <a:latin typeface="Archivo Black"/>
                <a:ea typeface="Archivo Black"/>
                <a:cs typeface="Archivo Black"/>
              </a:rPr>
              <a:t>1</a:t>
            </a:r>
          </a:p>
        </p:txBody>
      </p:sp>
      <p:sp>
        <p:nvSpPr>
          <p:cNvPr id="15" name="stept0"/>
          <p:cNvSpPr txBox="1"/>
          <p:nvPr/>
        </p:nvSpPr>
        <p:spPr>
          <a:xfrm>
            <a:off x="2240280" y="3703320"/>
            <a:ext cx="7955280" cy="987552"/>
          </a:xfrm>
          <a:prstGeom prst="rect">
            <a:avLst/>
          </a:prstGeom>
          <a:noFill/>
        </p:spPr>
        <p:txBody>
          <a:bodyPr wrap="square" lIns="0" rIns="0" tIns="0" bIns="0" anchor="ctr">
            <a:spAutoFit/>
          </a:bodyPr>
          <a:lstStyle/>
          <a:p>
            <a:pPr algn="l">
              <a:lnSpc>
                <a:spcPts val="2400"/>
              </a:lnSpc>
            </a:pPr>
            <a:r>
              <a:rPr sz="2000">
                <a:solidFill>
                  <a:srgbClr val="FFFFFF"/>
                </a:solidFill>
                <a:latin typeface="Poppins Semi-Bold"/>
                <a:ea typeface="Poppins Semi-Bold"/>
                <a:cs typeface="Poppins Semi-Bold"/>
              </a:rPr>
              <a:t>Aprobar el proyecto y el diagnóstico completo</a:t>
            </a:r>
          </a:p>
        </p:txBody>
      </p:sp>
      <p:sp>
        <p:nvSpPr>
          <p:cNvPr id="16" name="stepb1"/>
          <p:cNvSpPr/>
          <p:nvPr/>
        </p:nvSpPr>
        <p:spPr>
          <a:xfrm>
            <a:off x="1097280" y="4892040"/>
            <a:ext cx="9326880" cy="987552"/>
          </a:xfrm>
          <a:prstGeom prst="roundRect">
            <a:avLst>
              <a:gd name="adj" fmla="val 50000"/>
            </a:avLst>
          </a:prstGeom>
          <a:solidFill>
            <a:srgbClr val="FFFFFF">
              <a:alpha val="7000"/>
            </a:srgbClr>
          </a:solidFill>
          <a:ln w="12700">
            <a:solidFill>
              <a:srgbClr val="FFFFFF">
                <a:alpha val="14000"/>
              </a:srgbClr>
            </a:solidFill>
          </a:ln>
        </p:spPr>
        <p:txBody>
          <a:bodyPr rtlCol="0" anchor="ctr"/>
          <a:lstStyle/>
          <a:p/>
        </p:txBody>
      </p:sp>
      <p:sp>
        <p:nvSpPr>
          <p:cNvPr id="17" name="stepc1"/>
          <p:cNvSpPr/>
          <p:nvPr/>
        </p:nvSpPr>
        <p:spPr>
          <a:xfrm>
            <a:off x="1261872" y="5047488"/>
            <a:ext cx="676656" cy="676656"/>
          </a:xfrm>
          <a:prstGeom prst="ellipse">
            <a:avLst/>
          </a:prstGeom>
          <a:solidFill>
            <a:srgbClr val="F2C48D">
              <a:alpha val="100000"/>
            </a:srgbClr>
          </a:solidFill>
          <a:ln w="12700">
            <a:noFill/>
          </a:ln>
        </p:spPr>
        <p:txBody>
          <a:bodyPr rtlCol="0" anchor="ctr"/>
          <a:lstStyle/>
          <a:p/>
        </p:txBody>
      </p:sp>
      <p:sp>
        <p:nvSpPr>
          <p:cNvPr id="18" name="stepn1"/>
          <p:cNvSpPr txBox="1"/>
          <p:nvPr/>
        </p:nvSpPr>
        <p:spPr>
          <a:xfrm>
            <a:off x="1261872" y="5047488"/>
            <a:ext cx="676656" cy="676656"/>
          </a:xfrm>
          <a:prstGeom prst="rect">
            <a:avLst/>
          </a:prstGeom>
          <a:noFill/>
        </p:spPr>
        <p:txBody>
          <a:bodyPr wrap="square" lIns="0" rIns="0" tIns="0" bIns="0" anchor="ctr">
            <a:spAutoFit/>
          </a:bodyPr>
          <a:lstStyle/>
          <a:p>
            <a:pPr algn="ctr">
              <a:lnSpc>
                <a:spcPts val="2000"/>
              </a:lnSpc>
            </a:pPr>
            <a:r>
              <a:rPr sz="2000">
                <a:solidFill>
                  <a:srgbClr val="4A200B"/>
                </a:solidFill>
                <a:latin typeface="Archivo Black"/>
                <a:ea typeface="Archivo Black"/>
                <a:cs typeface="Archivo Black"/>
              </a:rPr>
              <a:t>2</a:t>
            </a:r>
          </a:p>
        </p:txBody>
      </p:sp>
      <p:sp>
        <p:nvSpPr>
          <p:cNvPr id="19" name="stept1"/>
          <p:cNvSpPr txBox="1"/>
          <p:nvPr/>
        </p:nvSpPr>
        <p:spPr>
          <a:xfrm>
            <a:off x="2240280" y="4892040"/>
            <a:ext cx="7955280" cy="987552"/>
          </a:xfrm>
          <a:prstGeom prst="rect">
            <a:avLst/>
          </a:prstGeom>
          <a:noFill/>
        </p:spPr>
        <p:txBody>
          <a:bodyPr wrap="square" lIns="0" rIns="0" tIns="0" bIns="0" anchor="ctr">
            <a:spAutoFit/>
          </a:bodyPr>
          <a:lstStyle/>
          <a:p>
            <a:pPr algn="l">
              <a:lnSpc>
                <a:spcPts val="2400"/>
              </a:lnSpc>
            </a:pPr>
            <a:r>
              <a:rPr sz="2000">
                <a:solidFill>
                  <a:srgbClr val="FFFFFF"/>
                </a:solidFill>
                <a:latin typeface="Poppins"/>
                <a:ea typeface="Poppins"/>
                <a:cs typeface="Poppins"/>
              </a:rPr>
              <a:t>Adaptar etiquetas y cumplir requisitos FDA</a:t>
            </a:r>
          </a:p>
        </p:txBody>
      </p:sp>
      <p:sp>
        <p:nvSpPr>
          <p:cNvPr id="20" name="stepb2"/>
          <p:cNvSpPr/>
          <p:nvPr/>
        </p:nvSpPr>
        <p:spPr>
          <a:xfrm>
            <a:off x="1097280" y="6080760"/>
            <a:ext cx="9326880" cy="987552"/>
          </a:xfrm>
          <a:prstGeom prst="roundRect">
            <a:avLst>
              <a:gd name="adj" fmla="val 50000"/>
            </a:avLst>
          </a:prstGeom>
          <a:solidFill>
            <a:srgbClr val="FFFFFF">
              <a:alpha val="7000"/>
            </a:srgbClr>
          </a:solidFill>
          <a:ln w="12700">
            <a:solidFill>
              <a:srgbClr val="FFFFFF">
                <a:alpha val="14000"/>
              </a:srgbClr>
            </a:solidFill>
          </a:ln>
        </p:spPr>
        <p:txBody>
          <a:bodyPr rtlCol="0" anchor="ctr"/>
          <a:lstStyle/>
          <a:p/>
        </p:txBody>
      </p:sp>
      <p:sp>
        <p:nvSpPr>
          <p:cNvPr id="21" name="stepc2"/>
          <p:cNvSpPr/>
          <p:nvPr/>
        </p:nvSpPr>
        <p:spPr>
          <a:xfrm>
            <a:off x="1261872" y="6236208"/>
            <a:ext cx="676656" cy="676656"/>
          </a:xfrm>
          <a:prstGeom prst="ellipse">
            <a:avLst/>
          </a:prstGeom>
          <a:solidFill>
            <a:srgbClr val="F2C48D">
              <a:alpha val="100000"/>
            </a:srgbClr>
          </a:solidFill>
          <a:ln w="12700">
            <a:noFill/>
          </a:ln>
        </p:spPr>
        <p:txBody>
          <a:bodyPr rtlCol="0" anchor="ctr"/>
          <a:lstStyle/>
          <a:p/>
        </p:txBody>
      </p:sp>
      <p:sp>
        <p:nvSpPr>
          <p:cNvPr id="22" name="stepn2"/>
          <p:cNvSpPr txBox="1"/>
          <p:nvPr/>
        </p:nvSpPr>
        <p:spPr>
          <a:xfrm>
            <a:off x="1261872" y="6236208"/>
            <a:ext cx="676656" cy="676656"/>
          </a:xfrm>
          <a:prstGeom prst="rect">
            <a:avLst/>
          </a:prstGeom>
          <a:noFill/>
        </p:spPr>
        <p:txBody>
          <a:bodyPr wrap="square" lIns="0" rIns="0" tIns="0" bIns="0" anchor="ctr">
            <a:spAutoFit/>
          </a:bodyPr>
          <a:lstStyle/>
          <a:p>
            <a:pPr algn="ctr">
              <a:lnSpc>
                <a:spcPts val="2000"/>
              </a:lnSpc>
            </a:pPr>
            <a:r>
              <a:rPr sz="2000">
                <a:solidFill>
                  <a:srgbClr val="4A200B"/>
                </a:solidFill>
                <a:latin typeface="Archivo Black"/>
                <a:ea typeface="Archivo Black"/>
                <a:cs typeface="Archivo Black"/>
              </a:rPr>
              <a:t>3</a:t>
            </a:r>
          </a:p>
        </p:txBody>
      </p:sp>
      <p:sp>
        <p:nvSpPr>
          <p:cNvPr id="23" name="stept2"/>
          <p:cNvSpPr txBox="1"/>
          <p:nvPr/>
        </p:nvSpPr>
        <p:spPr>
          <a:xfrm>
            <a:off x="2240280" y="6080760"/>
            <a:ext cx="7955280" cy="987552"/>
          </a:xfrm>
          <a:prstGeom prst="rect">
            <a:avLst/>
          </a:prstGeom>
          <a:noFill/>
        </p:spPr>
        <p:txBody>
          <a:bodyPr wrap="square" lIns="0" rIns="0" tIns="0" bIns="0" anchor="ctr">
            <a:spAutoFit/>
          </a:bodyPr>
          <a:lstStyle/>
          <a:p>
            <a:pPr algn="l">
              <a:lnSpc>
                <a:spcPts val="2400"/>
              </a:lnSpc>
            </a:pPr>
            <a:r>
              <a:rPr sz="2000">
                <a:solidFill>
                  <a:srgbClr val="FFFFFF"/>
                </a:solidFill>
                <a:latin typeface="Poppins"/>
                <a:ea typeface="Poppins"/>
                <a:cs typeface="Poppins"/>
              </a:rPr>
              <a:t>Calcular costos y precio de exportación</a:t>
            </a:r>
          </a:p>
        </p:txBody>
      </p:sp>
      <p:sp>
        <p:nvSpPr>
          <p:cNvPr id="24" name="stepb3"/>
          <p:cNvSpPr/>
          <p:nvPr/>
        </p:nvSpPr>
        <p:spPr>
          <a:xfrm>
            <a:off x="1097280" y="7269480"/>
            <a:ext cx="9326880" cy="987552"/>
          </a:xfrm>
          <a:prstGeom prst="roundRect">
            <a:avLst>
              <a:gd name="adj" fmla="val 50000"/>
            </a:avLst>
          </a:prstGeom>
          <a:solidFill>
            <a:srgbClr val="FFFFFF">
              <a:alpha val="7000"/>
            </a:srgbClr>
          </a:solidFill>
          <a:ln w="12700">
            <a:solidFill>
              <a:srgbClr val="FFFFFF">
                <a:alpha val="14000"/>
              </a:srgbClr>
            </a:solidFill>
          </a:ln>
        </p:spPr>
        <p:txBody>
          <a:bodyPr rtlCol="0" anchor="ctr"/>
          <a:lstStyle/>
          <a:p/>
        </p:txBody>
      </p:sp>
      <p:sp>
        <p:nvSpPr>
          <p:cNvPr id="25" name="stepc3"/>
          <p:cNvSpPr/>
          <p:nvPr/>
        </p:nvSpPr>
        <p:spPr>
          <a:xfrm>
            <a:off x="1261872" y="7424928"/>
            <a:ext cx="676656" cy="676656"/>
          </a:xfrm>
          <a:prstGeom prst="ellipse">
            <a:avLst/>
          </a:prstGeom>
          <a:solidFill>
            <a:srgbClr val="F2C48D">
              <a:alpha val="100000"/>
            </a:srgbClr>
          </a:solidFill>
          <a:ln w="12700">
            <a:noFill/>
          </a:ln>
        </p:spPr>
        <p:txBody>
          <a:bodyPr rtlCol="0" anchor="ctr"/>
          <a:lstStyle/>
          <a:p/>
        </p:txBody>
      </p:sp>
      <p:sp>
        <p:nvSpPr>
          <p:cNvPr id="26" name="stepn3"/>
          <p:cNvSpPr txBox="1"/>
          <p:nvPr/>
        </p:nvSpPr>
        <p:spPr>
          <a:xfrm>
            <a:off x="1261872" y="7424928"/>
            <a:ext cx="676656" cy="676656"/>
          </a:xfrm>
          <a:prstGeom prst="rect">
            <a:avLst/>
          </a:prstGeom>
          <a:noFill/>
        </p:spPr>
        <p:txBody>
          <a:bodyPr wrap="square" lIns="0" rIns="0" tIns="0" bIns="0" anchor="ctr">
            <a:spAutoFit/>
          </a:bodyPr>
          <a:lstStyle/>
          <a:p>
            <a:pPr algn="ctr">
              <a:lnSpc>
                <a:spcPts val="2000"/>
              </a:lnSpc>
            </a:pPr>
            <a:r>
              <a:rPr sz="2000">
                <a:solidFill>
                  <a:srgbClr val="4A200B"/>
                </a:solidFill>
                <a:latin typeface="Archivo Black"/>
                <a:ea typeface="Archivo Black"/>
                <a:cs typeface="Archivo Black"/>
              </a:rPr>
              <a:t>4</a:t>
            </a:r>
          </a:p>
        </p:txBody>
      </p:sp>
      <p:sp>
        <p:nvSpPr>
          <p:cNvPr id="27" name="stept3"/>
          <p:cNvSpPr txBox="1"/>
          <p:nvPr/>
        </p:nvSpPr>
        <p:spPr>
          <a:xfrm>
            <a:off x="2240280" y="7269480"/>
            <a:ext cx="7955280" cy="987552"/>
          </a:xfrm>
          <a:prstGeom prst="rect">
            <a:avLst/>
          </a:prstGeom>
          <a:noFill/>
        </p:spPr>
        <p:txBody>
          <a:bodyPr wrap="square" lIns="0" rIns="0" tIns="0" bIns="0" anchor="ctr">
            <a:spAutoFit/>
          </a:bodyPr>
          <a:lstStyle/>
          <a:p>
            <a:pPr algn="l">
              <a:lnSpc>
                <a:spcPts val="2400"/>
              </a:lnSpc>
            </a:pPr>
            <a:r>
              <a:rPr sz="2000">
                <a:solidFill>
                  <a:srgbClr val="FFFFFF"/>
                </a:solidFill>
                <a:latin typeface="Poppins"/>
                <a:ea typeface="Poppins"/>
                <a:cs typeface="Poppins"/>
              </a:rPr>
              <a:t>Definir transporte con control de temperatura</a:t>
            </a:r>
          </a:p>
        </p:txBody>
      </p:sp>
      <p:sp>
        <p:nvSpPr>
          <p:cNvPr id="28" name="stepb4"/>
          <p:cNvSpPr/>
          <p:nvPr/>
        </p:nvSpPr>
        <p:spPr>
          <a:xfrm>
            <a:off x="1097280" y="8458200"/>
            <a:ext cx="9326880" cy="987552"/>
          </a:xfrm>
          <a:prstGeom prst="roundRect">
            <a:avLst>
              <a:gd name="adj" fmla="val 50000"/>
            </a:avLst>
          </a:prstGeom>
          <a:solidFill>
            <a:srgbClr val="FFFFFF">
              <a:alpha val="7000"/>
            </a:srgbClr>
          </a:solidFill>
          <a:ln w="12700">
            <a:solidFill>
              <a:srgbClr val="FFFFFF">
                <a:alpha val="14000"/>
              </a:srgbClr>
            </a:solidFill>
          </a:ln>
        </p:spPr>
        <p:txBody>
          <a:bodyPr rtlCol="0" anchor="ctr"/>
          <a:lstStyle/>
          <a:p/>
        </p:txBody>
      </p:sp>
      <p:sp>
        <p:nvSpPr>
          <p:cNvPr id="29" name="stepc4"/>
          <p:cNvSpPr/>
          <p:nvPr/>
        </p:nvSpPr>
        <p:spPr>
          <a:xfrm>
            <a:off x="1261872" y="8613648"/>
            <a:ext cx="676656" cy="676656"/>
          </a:xfrm>
          <a:prstGeom prst="ellipse">
            <a:avLst/>
          </a:prstGeom>
          <a:solidFill>
            <a:srgbClr val="F2C48D">
              <a:alpha val="100000"/>
            </a:srgbClr>
          </a:solidFill>
          <a:ln w="12700">
            <a:noFill/>
          </a:ln>
        </p:spPr>
        <p:txBody>
          <a:bodyPr rtlCol="0" anchor="ctr"/>
          <a:lstStyle/>
          <a:p/>
        </p:txBody>
      </p:sp>
      <p:sp>
        <p:nvSpPr>
          <p:cNvPr id="30" name="stepn4"/>
          <p:cNvSpPr txBox="1"/>
          <p:nvPr/>
        </p:nvSpPr>
        <p:spPr>
          <a:xfrm>
            <a:off x="1261872" y="8613648"/>
            <a:ext cx="676656" cy="676656"/>
          </a:xfrm>
          <a:prstGeom prst="rect">
            <a:avLst/>
          </a:prstGeom>
          <a:noFill/>
        </p:spPr>
        <p:txBody>
          <a:bodyPr wrap="square" lIns="0" rIns="0" tIns="0" bIns="0" anchor="ctr">
            <a:spAutoFit/>
          </a:bodyPr>
          <a:lstStyle/>
          <a:p>
            <a:pPr algn="ctr">
              <a:lnSpc>
                <a:spcPts val="2000"/>
              </a:lnSpc>
            </a:pPr>
            <a:r>
              <a:rPr sz="2000">
                <a:solidFill>
                  <a:srgbClr val="4A200B"/>
                </a:solidFill>
                <a:latin typeface="Archivo Black"/>
                <a:ea typeface="Archivo Black"/>
                <a:cs typeface="Archivo Black"/>
              </a:rPr>
              <a:t>5</a:t>
            </a:r>
          </a:p>
        </p:txBody>
      </p:sp>
      <p:sp>
        <p:nvSpPr>
          <p:cNvPr id="31" name="stept4"/>
          <p:cNvSpPr txBox="1"/>
          <p:nvPr/>
        </p:nvSpPr>
        <p:spPr>
          <a:xfrm>
            <a:off x="2240280" y="8458200"/>
            <a:ext cx="7955280" cy="987552"/>
          </a:xfrm>
          <a:prstGeom prst="rect">
            <a:avLst/>
          </a:prstGeom>
          <a:noFill/>
        </p:spPr>
        <p:txBody>
          <a:bodyPr wrap="square" lIns="0" rIns="0" tIns="0" bIns="0" anchor="ctr">
            <a:spAutoFit/>
          </a:bodyPr>
          <a:lstStyle/>
          <a:p>
            <a:pPr algn="l">
              <a:lnSpc>
                <a:spcPts val="2400"/>
              </a:lnSpc>
            </a:pPr>
            <a:r>
              <a:rPr sz="2000">
                <a:solidFill>
                  <a:srgbClr val="FFFFFF"/>
                </a:solidFill>
                <a:latin typeface="Poppins"/>
                <a:ea typeface="Poppins"/>
                <a:cs typeface="Poppins"/>
              </a:rPr>
              <a:t>Contactar distribuidores y lanzar embarque piloto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bg>
      <p:bgPr>
        <a:gradFill rotWithShape="1">
          <a:gsLst>
            <a:gs pos="0">
              <a:srgbClr val="99613F"/>
            </a:gs>
            <a:gs pos="100000">
              <a:srgbClr val="4A200B"/>
            </a:gs>
          </a:gsLst>
          <a:path path="circle">
            <a:fillToRect l="50000" t="50000" r="50000" b="50000"/>
          </a:path>
        </a:gradFill>
        <a:effectLst/>
      </p:bgPr>
    </p:bg>
    <p:spTree>
      <p:nvGrpSpPr>
        <p:cNvPr id="1" name=""/>
        <p:cNvGrpSpPr/>
        <p:nvPr/>
      </p:nvGrpSpPr>
      <p:grpSpPr/>
      <p:sp>
        <p:nvSpPr>
          <p:cNvPr id="2" name="!!ghost"/>
          <p:cNvSpPr txBox="1"/>
          <p:nvPr/>
        </p:nvSpPr>
        <p:spPr>
          <a:xfrm>
            <a:off x="-914400" y="822960"/>
            <a:ext cx="20116800" cy="5080000"/>
          </a:xfrm>
          <a:prstGeom prst="rect">
            <a:avLst/>
          </a:prstGeom>
          <a:noFill/>
        </p:spPr>
        <p:txBody>
          <a:bodyPr wrap="square" lIns="0" rIns="0" tIns="0" bIns="0" anchor="t">
            <a:spAutoFit/>
          </a:bodyPr>
          <a:lstStyle/>
          <a:p>
            <a:pPr algn="ctr">
              <a:lnSpc>
                <a:spcPts val="36000"/>
              </a:lnSpc>
            </a:pPr>
            <a:r>
              <a:rPr sz="40000" spc="-1500">
                <a:solidFill>
                  <a:srgbClr val="FFFFFF">
                    <a:alpha val="5000"/>
                  </a:srgbClr>
                </a:solidFill>
                <a:latin typeface="Archivo Black"/>
                <a:ea typeface="Archivo Black"/>
                <a:cs typeface="Archivo Black"/>
              </a:rPr>
              <a:t>XOCO</a:t>
            </a:r>
          </a:p>
        </p:txBody>
      </p:sp>
      <p:pic>
        <p:nvPicPr>
          <p:cNvPr id="3" name="!!drip" descr="image.png"/>
          <p:cNvPicPr>
            <a:picLocks noChangeAspect="1"/>
          </p:cNvPicPr>
          <p:nvPr/>
        </p:nvPicPr>
        <p:blipFill>
          <a:blip r:embed="rId3"/>
          <a:stretch>
            <a:fillRect/>
          </a:stretch>
        </p:blipFill>
        <p:spPr>
          <a:xfrm rot="11400000">
            <a:off x="15361920" y="6766560"/>
            <a:ext cx="5486400" cy="2829865"/>
          </a:xfrm>
          <a:prstGeom prst="rect">
            <a:avLst/>
          </a:prstGeom>
        </p:spPr>
      </p:pic>
      <p:pic>
        <p:nvPicPr>
          <p:cNvPr id="4" name="!!splash" descr="image.png"/>
          <p:cNvPicPr>
            <a:picLocks noChangeAspect="1"/>
          </p:cNvPicPr>
          <p:nvPr/>
        </p:nvPicPr>
        <p:blipFill>
          <a:blip r:embed="rId4"/>
          <a:stretch>
            <a:fillRect/>
          </a:stretch>
        </p:blipFill>
        <p:spPr>
          <a:xfrm>
            <a:off x="4572000" y="5394960"/>
            <a:ext cx="9144000" cy="5689600"/>
          </a:xfrm>
          <a:prstGeom prst="rect">
            <a:avLst/>
          </a:prstGeom>
        </p:spPr>
      </p:pic>
      <p:pic>
        <p:nvPicPr>
          <p:cNvPr id="5" name="!!chunkA" descr="image.png"/>
          <p:cNvPicPr>
            <a:picLocks noChangeAspect="1"/>
          </p:cNvPicPr>
          <p:nvPr/>
        </p:nvPicPr>
        <p:blipFill>
          <a:blip r:embed="rId5"/>
          <a:stretch>
            <a:fillRect/>
          </a:stretch>
        </p:blipFill>
        <p:spPr>
          <a:xfrm rot="1080000">
            <a:off x="14996160" y="640080"/>
            <a:ext cx="2743200" cy="3537500"/>
          </a:xfrm>
          <a:prstGeom prst="rect">
            <a:avLst/>
          </a:prstGeom>
        </p:spPr>
      </p:pic>
      <p:pic>
        <p:nvPicPr>
          <p:cNvPr id="6" name="!!chunkB" descr="image.png"/>
          <p:cNvPicPr>
            <a:picLocks noChangeAspect="1"/>
          </p:cNvPicPr>
          <p:nvPr/>
        </p:nvPicPr>
        <p:blipFill>
          <a:blip r:embed="rId6"/>
          <a:stretch>
            <a:fillRect/>
          </a:stretch>
        </p:blipFill>
        <p:spPr>
          <a:xfrm rot="21120000">
            <a:off x="-548640" y="7498080"/>
            <a:ext cx="4206240" cy="3428482"/>
          </a:xfrm>
          <a:prstGeom prst="rect">
            <a:avLst/>
          </a:prstGeom>
        </p:spPr>
      </p:pic>
      <p:pic>
        <p:nvPicPr>
          <p:cNvPr id="7" name="!!bars" descr="image.png"/>
          <p:cNvPicPr>
            <a:picLocks noChangeAspect="1"/>
          </p:cNvPicPr>
          <p:nvPr/>
        </p:nvPicPr>
        <p:blipFill>
          <a:blip r:embed="rId7"/>
          <a:stretch>
            <a:fillRect/>
          </a:stretch>
        </p:blipFill>
        <p:spPr>
          <a:xfrm rot="20760000">
            <a:off x="0" y="-274320"/>
            <a:ext cx="4023360" cy="2261652"/>
          </a:xfrm>
          <a:prstGeom prst="rect">
            <a:avLst/>
          </a:prstGeom>
        </p:spPr>
      </p:pic>
      <p:sp>
        <p:nvSpPr>
          <p:cNvPr id="8" name="!!kick"/>
          <p:cNvSpPr txBox="1"/>
          <p:nvPr/>
        </p:nvSpPr>
        <p:spPr>
          <a:xfrm>
            <a:off x="1828800" y="1188720"/>
            <a:ext cx="14630400" cy="411480"/>
          </a:xfrm>
          <a:prstGeom prst="rect">
            <a:avLst/>
          </a:prstGeom>
          <a:noFill/>
        </p:spPr>
        <p:txBody>
          <a:bodyPr wrap="square" lIns="0" rIns="0" tIns="0" bIns="0" anchor="t">
            <a:spAutoFit/>
          </a:bodyPr>
          <a:lstStyle/>
          <a:p>
            <a:pPr algn="ctr">
              <a:lnSpc>
                <a:spcPts val="2640"/>
              </a:lnSpc>
            </a:pPr>
            <a:r>
              <a:rPr sz="2200" spc="400">
                <a:solidFill>
                  <a:srgbClr val="F2C48D"/>
                </a:solidFill>
                <a:latin typeface="Poppins Semi-Bold"/>
                <a:ea typeface="Poppins Semi-Bold"/>
                <a:cs typeface="Poppins Semi-Bold"/>
              </a:rPr>
              <a:t>XOCO CHOCOLATES MEXICANOS</a:t>
            </a:r>
          </a:p>
        </p:txBody>
      </p:sp>
      <p:sp>
        <p:nvSpPr>
          <p:cNvPr id="9" name="!!t1"/>
          <p:cNvSpPr txBox="1"/>
          <p:nvPr/>
        </p:nvSpPr>
        <p:spPr>
          <a:xfrm>
            <a:off x="0" y="1691640"/>
            <a:ext cx="18288000" cy="3108960"/>
          </a:xfrm>
          <a:prstGeom prst="rect">
            <a:avLst/>
          </a:prstGeom>
          <a:noFill/>
        </p:spPr>
        <p:txBody>
          <a:bodyPr wrap="square" lIns="0" rIns="0" tIns="0" bIns="0" anchor="t">
            <a:spAutoFit/>
          </a:bodyPr>
          <a:lstStyle/>
          <a:p>
            <a:pPr algn="ctr">
              <a:lnSpc>
                <a:spcPts val="18000"/>
              </a:lnSpc>
            </a:pPr>
            <a:r>
              <a:rPr sz="20000" spc="-900">
                <a:solidFill>
                  <a:srgbClr val="FFFFFF"/>
                </a:solidFill>
                <a:latin typeface="Archivo Black"/>
                <a:ea typeface="Archivo Black"/>
                <a:cs typeface="Archivo Black"/>
              </a:rPr>
              <a:t>GRACIAS</a:t>
            </a:r>
          </a:p>
        </p:txBody>
      </p:sp>
      <p:sp>
        <p:nvSpPr>
          <p:cNvPr id="10" name="!!t2"/>
          <p:cNvSpPr txBox="1"/>
          <p:nvPr/>
        </p:nvSpPr>
        <p:spPr>
          <a:xfrm>
            <a:off x="914400" y="4572000"/>
            <a:ext cx="16459200" cy="822960"/>
          </a:xfrm>
          <a:prstGeom prst="rect">
            <a:avLst/>
          </a:prstGeom>
          <a:noFill/>
        </p:spPr>
        <p:txBody>
          <a:bodyPr wrap="square" lIns="0" rIns="0" tIns="0" bIns="0" anchor="t">
            <a:spAutoFit/>
          </a:bodyPr>
          <a:lstStyle/>
          <a:p>
            <a:pPr algn="ctr">
              <a:lnSpc>
                <a:spcPts val="5130"/>
              </a:lnSpc>
            </a:pPr>
            <a:r>
              <a:rPr sz="5400" spc="-200">
                <a:gradFill>
                  <a:gsLst>
                    <a:gs pos="0">
                      <a:srgbClr val="E0A77C"/>
                    </a:gs>
                    <a:gs pos="100000">
                      <a:srgbClr val="FFFFFF"/>
                    </a:gs>
                  </a:gsLst>
                  <a:lin ang="0" scaled="0"/>
                </a:gradFill>
                <a:latin typeface="Archivo Black"/>
                <a:ea typeface="Archivo Black"/>
                <a:cs typeface="Archivo Black"/>
              </a:rPr>
              <a:t>¿PREGUNTAS?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DAHWJmSaZmE</dc:identifier>
  <dcterms:modified xsi:type="dcterms:W3CDTF">2011-08-01T06:04:30Z</dcterms:modified>
  <cp:revision>1</cp:revision>
  <dc:title>Brown Modern Chocolate Presentation</dc:title>
</cp:coreProperties>
</file>