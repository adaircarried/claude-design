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90" r:id="rId4"/>
  </p:sldMasterIdLst>
  <p:notesMasterIdLst>
    <p:notesMasterId r:id="rId19"/>
  </p:notesMasterIdLst>
  <p:handoutMasterIdLst>
    <p:handoutMasterId r:id="rId20"/>
  </p:handoutMasterIdLst>
  <p:sldIdLst>
    <p:sldId id="2147483645" r:id="rId5"/>
    <p:sldId id="2147483646" r:id="rId6"/>
    <p:sldId id="2147483647" r:id="rId7"/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7010400" cy="92964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3" orient="horz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39" userDrawn="1">
          <p15:clr>
            <a:srgbClr val="A4A3A4"/>
          </p15:clr>
        </p15:guide>
        <p15:guide id="2" pos="2120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A0"/>
    <a:srgbClr val="F5F6F7"/>
    <a:srgbClr val="595959"/>
    <a:srgbClr val="8E9CA4"/>
    <a:srgbClr val="051C2C"/>
    <a:srgbClr val="17D3C6"/>
    <a:srgbClr val="002678"/>
    <a:srgbClr val="001D34"/>
    <a:srgbClr val="60EE91"/>
    <a:srgbClr val="9AF4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FF2053-31AC-44F5-82D6-C0C5569AF88C}" v="3" dt="2026-09-25T02:20:55.7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2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354" y="96"/>
      </p:cViewPr>
      <p:guideLst>
        <p:guide orient="horz" pos="4320"/>
        <p:guide orient="horz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2974" y="31"/>
      </p:cViewPr>
      <p:guideLst>
        <p:guide orient="horz" pos="2839"/>
        <p:guide pos="2120"/>
        <p:guide orient="horz" pos="2928"/>
        <p:guide pos="22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2" y="8"/>
            <a:ext cx="3038476" cy="466724"/>
          </a:xfrm>
          <a:prstGeom prst="rect">
            <a:avLst/>
          </a:prstGeom>
        </p:spPr>
        <p:txBody>
          <a:bodyPr vert="horz" lIns="91272" tIns="45639" rIns="91272" bIns="4563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47" y="8"/>
            <a:ext cx="3038476" cy="466724"/>
          </a:xfrm>
          <a:prstGeom prst="rect">
            <a:avLst/>
          </a:prstGeom>
        </p:spPr>
        <p:txBody>
          <a:bodyPr vert="horz" lIns="91272" tIns="45639" rIns="91272" bIns="45639" rtlCol="0"/>
          <a:lstStyle>
            <a:lvl1pPr algn="r">
              <a:defRPr sz="1200"/>
            </a:lvl1pPr>
          </a:lstStyle>
          <a:p>
            <a:fld id="{833996CD-14A4-4580-8179-96CA8C9E645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2" y="8829687"/>
            <a:ext cx="3038476" cy="466724"/>
          </a:xfrm>
          <a:prstGeom prst="rect">
            <a:avLst/>
          </a:prstGeom>
        </p:spPr>
        <p:txBody>
          <a:bodyPr vert="horz" lIns="91272" tIns="45639" rIns="91272" bIns="4563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47" y="8829687"/>
            <a:ext cx="3038476" cy="466724"/>
          </a:xfrm>
          <a:prstGeom prst="rect">
            <a:avLst/>
          </a:prstGeom>
        </p:spPr>
        <p:txBody>
          <a:bodyPr vert="horz" lIns="91272" tIns="45639" rIns="91272" bIns="45639" rtlCol="0" anchor="b"/>
          <a:lstStyle>
            <a:lvl1pPr algn="r">
              <a:defRPr sz="1200"/>
            </a:lvl1pPr>
          </a:lstStyle>
          <a:p>
            <a:fld id="{525AA254-D7DE-46F6-A698-B477C991B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84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37"/>
            <a:ext cx="3037842" cy="464821"/>
          </a:xfrm>
          <a:prstGeom prst="rect">
            <a:avLst/>
          </a:prstGeom>
        </p:spPr>
        <p:txBody>
          <a:bodyPr vert="horz" lIns="91741" tIns="45863" rIns="91741" bIns="45863" rtlCol="0"/>
          <a:lstStyle>
            <a:lvl1pPr algn="l">
              <a:defRPr sz="1200"/>
            </a:lvl1pPr>
            <a:extLst/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64" y="37"/>
            <a:ext cx="3037842" cy="464821"/>
          </a:xfrm>
          <a:prstGeom prst="rect">
            <a:avLst/>
          </a:prstGeom>
        </p:spPr>
        <p:txBody>
          <a:bodyPr vert="horz" lIns="91741" tIns="45863" rIns="91741" bIns="45863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225" y="693738"/>
            <a:ext cx="6203950" cy="3489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741" tIns="45863" rIns="91741" bIns="4586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2" y="4415808"/>
            <a:ext cx="5608320" cy="4183381"/>
          </a:xfrm>
          <a:prstGeom prst="rect">
            <a:avLst/>
          </a:prstGeom>
        </p:spPr>
        <p:txBody>
          <a:bodyPr vert="horz" lIns="91741" tIns="45863" rIns="91741" bIns="4586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989"/>
            <a:ext cx="3037842" cy="464821"/>
          </a:xfrm>
          <a:prstGeom prst="rect">
            <a:avLst/>
          </a:prstGeom>
        </p:spPr>
        <p:txBody>
          <a:bodyPr vert="horz" lIns="91741" tIns="45863" rIns="91741" bIns="45863" rtlCol="0" anchor="b"/>
          <a:lstStyle>
            <a:lvl1pPr algn="l">
              <a:defRPr sz="1200"/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64" y="8829989"/>
            <a:ext cx="3037842" cy="464821"/>
          </a:xfrm>
          <a:prstGeom prst="rect">
            <a:avLst/>
          </a:prstGeom>
        </p:spPr>
        <p:txBody>
          <a:bodyPr vert="horz" lIns="91741" tIns="45863" rIns="91741" bIns="45863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2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Name, UPA, Mechatronics, 9th term.</a:t>
            </a:r>
          </a:p>
          <a:p>
            <a:r>
              <a:t>• Program: Robotics Setter Technician, since August 1.</a:t>
            </a:r>
          </a:p>
          <a:p>
            <a:r>
              <a:t>• Plant tutor: Fernando Robledo.</a:t>
            </a:r>
          </a:p>
          <a:p>
            <a:r>
              <a:t>• Today: what the program asks, what I learned, the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Win: earn the trust of our people and customers.</a:t>
            </a:r>
          </a:p>
          <a:p>
            <a:r>
              <a:t>• Two things at once: the welder’s ergonomics and the product’s quality.</a:t>
            </a:r>
          </a:p>
          <a:p>
            <a:r>
              <a:t>• My way as an engineer: optimize the process with robots (4M).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Objective: specialist in robotic welding and technical support.</a:t>
            </a:r>
          </a:p>
          <a:p>
            <a:r>
              <a:t>• Why: when a welding robot stops, the line stops.</a:t>
            </a:r>
          </a:p>
          <a:p>
            <a:r>
              <a:t>• Final project has two halves, and I have both: 4M and the training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This is my ILUO matrix, turned into the plan to reach the objective.</a:t>
            </a:r>
          </a:p>
          <a:p>
            <a:r>
              <a:t>• Each level has its own test: exam, floor validation, practical exam, implementation.</a:t>
            </a:r>
          </a:p>
          <a:p>
            <a:r>
              <a:t>• 40 hours of formal training in total; the rest happens at the cells.</a:t>
            </a:r>
          </a:p>
          <a:p>
            <a:r>
              <a:t>• Supervisor’s point: each level is validated before the next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Green is what really happened, blue is the plan, same as the Excel.</a:t>
            </a:r>
          </a:p>
          <a:p>
            <a:r>
              <a:t>• Level I: five topics mastered, four still open before the exam.</a:t>
            </a:r>
          </a:p>
          <a:p>
            <a:r>
              <a:t>• Level I exam in week 40. Level L validated on the floor in October.</a:t>
            </a:r>
          </a:p>
          <a:p>
            <a:r>
              <a:t>• U and O in November and December; O already started with 4M.</a:t>
            </a:r>
          </a:p>
          <a:p>
            <a:r>
              <a:t>• Industrialization runs the whole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Supervisor’s point: be clear that Level I is not complete yet.</a:t>
            </a:r>
          </a:p>
          <a:p>
            <a:r>
              <a:t>• Mastered: safety with LOTOTO, GMAW equipment, variables, discontinuities, control documents.</a:t>
            </a:r>
          </a:p>
          <a:p>
            <a:r>
              <a:t>• Still open: transfer modes, joints, positions, symbols.</a:t>
            </a:r>
          </a:p>
          <a:p>
            <a:r>
              <a:t>• Plan: close the four before the exam in week 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11 achieved, 6 in progress, 6 not started, out of 23.</a:t>
            </a:r>
          </a:p>
          <a:p>
            <a:r>
              <a:t>• Level I: 5 of 9. Level L: the five skills practiced with support.</a:t>
            </a:r>
          </a:p>
          <a:p>
            <a:r>
              <a:t>• U and O are mostly ahead; 4M is my first step in 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Two numbers, not to be mixed up.</a:t>
            </a:r>
          </a:p>
          <a:p>
            <a:r>
              <a:t>• 60% of my time goes to industrialization, 40% to support at the cells.</a:t>
            </a:r>
          </a:p>
          <a:p>
            <a:r>
              <a:t>• The program itself is 90% ready, with launch planned for January.</a:t>
            </a:r>
          </a:p>
          <a:p>
            <a:r>
              <a:t>• The cells are where most of the hands-on learning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Problem: 146 s of welding by hand, in uncomfortable positions.</a:t>
            </a:r>
          </a:p>
          <a:p>
            <a:r>
              <a:t>• Idea: move it to 4M, same fixture.</a:t>
            </a:r>
          </a:p>
          <a:p>
            <a:r>
              <a:t>• Done with my supervisor, and running today.</a:t>
            </a:r>
          </a:p>
          <a:p>
            <a:r>
              <a:t>• The team member now only loads and unloads.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Cycle time 174 s to 93 s: 47% less.</a:t>
            </a:r>
          </a:p>
          <a:p>
            <a:r>
              <a:t>• Welding 146 s to 65 s: 56% less.</a:t>
            </a:r>
          </a:p>
          <a:p>
            <a:r>
              <a:t>• Load and unload did not change (same fixture), so the gain is all welding.</a:t>
            </a:r>
          </a:p>
          <a:p>
            <a:r>
              <a:t>• 81 s saved on every part, and less strain for the team 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It is a proposal, not something already adopted.</a:t>
            </a:r>
          </a:p>
          <a:p>
            <a:r>
              <a:t>• Example gap: 8 of 25 exam questions are TIG, and the matrix never names it.</a:t>
            </a:r>
          </a:p>
          <a:p>
            <a:r>
              <a:t>• The error: the transfer mode table in the manual.</a:t>
            </a:r>
          </a:p>
          <a:p>
            <a:r>
              <a:t>• The new schedule compares plan against reality, week by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L in October, U and O in November and December.</a:t>
            </a:r>
          </a:p>
          <a:p>
            <a:r>
              <a:t>• Ask clearly: the exam in week 40, supervised programming time, feedback on the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In place: 5 of 9 Level I topics, Level L practiced, 4M running, training proposal.</a:t>
            </a:r>
          </a:p>
          <a:p>
            <a:r>
              <a:t>• Next: exam in week 40, Level L in October, U and O by January.</a:t>
            </a:r>
          </a:p>
          <a:p>
            <a:r>
              <a:t>• Close with the last line. Pause, then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Thank them.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BF2C4E05-5B96-4FE8-9203-E062EA1E7D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8944" y="6315499"/>
            <a:ext cx="1594113" cy="25854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DE12E5-9D38-8BB0-C741-0125EF39B619}"/>
              </a:ext>
            </a:extLst>
          </p:cNvPr>
          <p:cNvCxnSpPr>
            <a:cxnSpLocks/>
          </p:cNvCxnSpPr>
          <p:nvPr userDrawn="1"/>
        </p:nvCxnSpPr>
        <p:spPr>
          <a:xfrm>
            <a:off x="3353065" y="4022448"/>
            <a:ext cx="548587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79A4CA-41B6-CACF-DF9E-23E3C9AA8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FEA2E03D-9F5B-5343-B21F-6252580077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4610A3A-A85C-E487-6787-16E3A757CC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94" y="2147171"/>
            <a:ext cx="12187705" cy="963863"/>
          </a:xfrm>
          <a:prstGeom prst="rect">
            <a:avLst/>
          </a:prstGeom>
        </p:spPr>
        <p:txBody>
          <a:bodyPr/>
          <a:lstStyle>
            <a:lvl1pPr algn="ctr">
              <a:defRPr sz="6600" b="1">
                <a:ln w="28575">
                  <a:solidFill>
                    <a:schemeClr val="bg1"/>
                  </a:solidFill>
                </a:ln>
                <a:noFill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C73B5FE-AC5E-0242-3AAD-BA8513664C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3111500"/>
            <a:ext cx="12192000" cy="754899"/>
          </a:xfrm>
          <a:prstGeom prst="rect">
            <a:avLst/>
          </a:prstGeom>
        </p:spPr>
        <p:txBody>
          <a:bodyPr/>
          <a:lstStyle>
            <a:lvl1pPr algn="ctr"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469257-1DA4-1F18-9419-7A51EE9724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651653"/>
            <a:ext cx="2832100" cy="138499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TENNECO CONFIDENTIAL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894E9CE-8D2A-EA5B-AFBE-BCA894E896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4158608"/>
            <a:ext cx="12192000" cy="754899"/>
          </a:xfrm>
          <a:prstGeom prst="rect">
            <a:avLst/>
          </a:prstGeom>
        </p:spPr>
        <p:txBody>
          <a:bodyPr/>
          <a:lstStyle>
            <a:lvl1pPr algn="ctr">
              <a:defRPr sz="2000" b="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052621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58B6260-8AFF-7F92-5605-968301F646D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311A4FB-94D0-09CA-1A22-6EC451952A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5016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916490A-C5E4-FBE7-1569-8928EDD73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33A94846-FB92-6415-C227-4AD373802A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792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48C80B-BA83-2163-F6F0-434A9287CCCE}"/>
              </a:ext>
            </a:extLst>
          </p:cNvPr>
          <p:cNvSpPr/>
          <p:nvPr userDrawn="1"/>
        </p:nvSpPr>
        <p:spPr>
          <a:xfrm>
            <a:off x="4703802" y="0"/>
            <a:ext cx="7488198" cy="6858000"/>
          </a:xfrm>
          <a:prstGeom prst="rect">
            <a:avLst/>
          </a:prstGeom>
          <a:solidFill>
            <a:schemeClr val="accent4">
              <a:alpha val="89804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5" name="Picture 4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F1808542-4E85-0D48-AF6C-8910D9BAE5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2C1B03-DC30-E8FA-50F3-5A981CD35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7A74C3F-B559-6CED-E55D-59A60FBDD61D}"/>
              </a:ext>
            </a:extLst>
          </p:cNvPr>
          <p:cNvSpPr txBox="1">
            <a:spLocks/>
          </p:cNvSpPr>
          <p:nvPr userDrawn="1"/>
        </p:nvSpPr>
        <p:spPr>
          <a:xfrm>
            <a:off x="474440" y="338072"/>
            <a:ext cx="7103140" cy="945562"/>
          </a:xfrm>
          <a:prstGeom prst="rect">
            <a:avLst/>
          </a:prstGeom>
        </p:spPr>
        <p:txBody>
          <a:bodyPr vert="horz" lIns="0" tIns="45720" rIns="91440" bIns="0" rtlCol="0" anchor="ctr" anchorCtr="0">
            <a:noAutofit/>
          </a:bodyPr>
          <a:lstStyle>
            <a:lvl1pPr algn="l" defTabSz="34288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AGENDA</a:t>
            </a:r>
            <a:endParaRPr lang="en-US" sz="32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03E59C4-4915-9D2D-F5ED-EEB2CB8614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39584" y="949097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3F3A51E1-80CD-1D10-1A13-DE63109777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39584" y="1662353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EEF25549-8F4F-A6D8-EFA5-4AE41E9091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39584" y="2357096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725B3FC0-29A1-B19B-CE80-49253AC0F5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39584" y="3060244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2AC595FF-16E8-77B8-38F3-63ACBC3FC9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84" y="3773768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83AB95AF-04A6-2C2D-C66E-CE880C35AE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9584" y="4467394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ED799D00-D54E-FC11-D180-016F586CB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39584" y="5184831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4052845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F1808542-4E85-0D48-AF6C-8910D9BAE5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2C1B03-DC30-E8FA-50F3-5A981CD35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A34F2D6-648B-1C19-D848-EB3622E6FA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EEB4131-42CC-77CC-DAC6-ED2DC519CA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5016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</p:spTree>
    <p:extLst>
      <p:ext uri="{BB962C8B-B14F-4D97-AF65-F5344CB8AC3E}">
        <p14:creationId xmlns:p14="http://schemas.microsoft.com/office/powerpoint/2010/main" val="1898600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F1808542-4E85-0D48-AF6C-8910D9BAE5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2C1B03-DC30-E8FA-50F3-5A981CD35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A34F2D6-648B-1C19-D848-EB3622E6FA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2827533"/>
            <a:ext cx="12192000" cy="1202934"/>
          </a:xfrm>
          <a:prstGeom prst="rect">
            <a:avLst/>
          </a:prstGeom>
        </p:spPr>
        <p:txBody>
          <a:bodyPr/>
          <a:lstStyle>
            <a:lvl1pPr algn="ctr">
              <a:defRPr sz="6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IMPACT SLIDE</a:t>
            </a:r>
          </a:p>
        </p:txBody>
      </p:sp>
    </p:spTree>
    <p:extLst>
      <p:ext uri="{BB962C8B-B14F-4D97-AF65-F5344CB8AC3E}">
        <p14:creationId xmlns:p14="http://schemas.microsoft.com/office/powerpoint/2010/main" val="523481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1B8D2E2-076B-F3F0-5D4F-4CFC1574C5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1FD4CF-7EC5-E1BB-6828-B4942C11BD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5016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DB75DC08-AA3D-0B9B-BE10-9FC365A6C0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E5E0668-E0F2-65E6-9657-1B5204806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8505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EC2E3C-1452-2CF0-2D31-0AA7112AA01E}"/>
              </a:ext>
            </a:extLst>
          </p:cNvPr>
          <p:cNvSpPr/>
          <p:nvPr userDrawn="1"/>
        </p:nvSpPr>
        <p:spPr>
          <a:xfrm>
            <a:off x="0" y="0"/>
            <a:ext cx="12192000" cy="15255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11637583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03C600-FDEF-8BAE-4300-C162C2F1C9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11637583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996433"/>
            <a:ext cx="5498908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0214" y="1995029"/>
            <a:ext cx="5273670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3" name="Picture 2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C61579D1-BB64-0034-0B34-A926EBE6C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45A491-AFF9-3457-68C5-1FE27924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2" name="Picture 1" descr="A blue and black logo&#10;&#10;AI-generated content may be incorrect.">
            <a:extLst>
              <a:ext uri="{FF2B5EF4-FFF2-40B4-BE49-F238E27FC236}">
                <a16:creationId xmlns:a16="http://schemas.microsoft.com/office/drawing/2014/main" id="{F426F881-56F3-7278-C4B4-707468F2AC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759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header_vertical_white and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EC2E3C-1452-2CF0-2D31-0AA7112AA01E}"/>
              </a:ext>
            </a:extLst>
          </p:cNvPr>
          <p:cNvSpPr/>
          <p:nvPr userDrawn="1"/>
        </p:nvSpPr>
        <p:spPr>
          <a:xfrm>
            <a:off x="0" y="0"/>
            <a:ext cx="12192000" cy="15255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11637583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996433"/>
            <a:ext cx="5498908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0214" y="1995029"/>
            <a:ext cx="5273670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3" name="Picture 2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C61579D1-BB64-0034-0B34-A926EBE6C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45A491-AFF9-3457-68C5-1FE27924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5576E91-7C71-5036-49BC-D2CAB95CEE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11637583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9F32BBF5-332F-D5EC-9CFD-D1CED34BF7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10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header_horizontal_white and nav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0" y="1"/>
            <a:ext cx="12192000" cy="41818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EC2E3C-1452-2CF0-2D31-0AA7112AA01E}"/>
              </a:ext>
            </a:extLst>
          </p:cNvPr>
          <p:cNvSpPr/>
          <p:nvPr userDrawn="1"/>
        </p:nvSpPr>
        <p:spPr>
          <a:xfrm>
            <a:off x="0" y="0"/>
            <a:ext cx="12192000" cy="15255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11637583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996433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3138" y="1995029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45A491-AFF9-3457-68C5-1FE27924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A484E9F-8188-4F54-F221-DB72D5B876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11637583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2525936D-2C54-53A3-FEDC-E66F1F6251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929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5529124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03C600-FDEF-8BAE-4300-C162C2F1C9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5529124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5529124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2331" y="334029"/>
            <a:ext cx="5281552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3" name="Picture 2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C61579D1-BB64-0034-0B34-A926EBE6C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45A491-AFF9-3457-68C5-1FE27924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2811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_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5552142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03C600-FDEF-8BAE-4300-C162C2F1C9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5552142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5552142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88976" y="334029"/>
            <a:ext cx="5324907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3" name="Picture 2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C61579D1-BB64-0034-0B34-A926EBE6C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45A491-AFF9-3457-68C5-1FE27924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8661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ird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52ED9D-A47B-439C-9538-591DEFF73947}"/>
              </a:ext>
            </a:extLst>
          </p:cNvPr>
          <p:cNvSpPr/>
          <p:nvPr userDrawn="1"/>
        </p:nvSpPr>
        <p:spPr bwMode="white">
          <a:xfrm flipH="1">
            <a:off x="8176828" y="0"/>
            <a:ext cx="4015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10209AB-BC5D-5639-995B-AA00B6DF58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765996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876C07F-C862-8F33-3AA1-1D7696D373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765996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CB82393-18FF-E10B-4F59-4DCC8D63A13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29706" y="334029"/>
            <a:ext cx="344785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1A7B140-662B-DC94-6405-EE68EDC9D0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47672" y="1279617"/>
            <a:ext cx="376517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425DC67A-5A45-CB62-FF19-EFC609DA1E5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6057" y="1279617"/>
            <a:ext cx="376517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BC8AA433-2DBB-7B92-6617-F9900D3743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F050514-7106-E773-8C50-A6D55BF20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263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078545-1CC2-4F91-AD6A-4A06A58E78E6}"/>
              </a:ext>
            </a:extLst>
          </p:cNvPr>
          <p:cNvSpPr/>
          <p:nvPr userDrawn="1"/>
        </p:nvSpPr>
        <p:spPr bwMode="white">
          <a:xfrm flipH="1">
            <a:off x="9034270" y="0"/>
            <a:ext cx="315772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2644560-B9B3-84ED-6AF8-DA264F052C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8568392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87E85F7-7D0D-F475-DD2A-1421C01034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8568392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80BA5B0-6E16-3BD2-8EF7-9D14B9CE35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19812" y="1279617"/>
            <a:ext cx="4201459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EFDE5E2-A2B1-4F30-725D-C6378CC052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2879" y="1279617"/>
            <a:ext cx="4201459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ADA6CEA4-AEFF-8A6F-AEA1-AED25C2F26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160C12B-0714-9878-9E38-E095885D1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466A622-79A1-C1B1-160B-C61F4B5F0F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33186" y="334029"/>
            <a:ext cx="254437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</p:spTree>
    <p:extLst>
      <p:ext uri="{BB962C8B-B14F-4D97-AF65-F5344CB8AC3E}">
        <p14:creationId xmlns:p14="http://schemas.microsoft.com/office/powerpoint/2010/main" val="1986876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9484D7-FC42-5921-4A6D-EFDDEF797796}"/>
              </a:ext>
            </a:extLst>
          </p:cNvPr>
          <p:cNvSpPr/>
          <p:nvPr userDrawn="1"/>
        </p:nvSpPr>
        <p:spPr>
          <a:xfrm>
            <a:off x="-1" y="1"/>
            <a:ext cx="817682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C21DDEE-696B-41F5-B466-974F08025C2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7527685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D1B0AD6-CB71-C26E-A674-6A84524575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7527685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6AB9309-4D5D-C94C-D721-3D3D34AB7B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752768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4122935-FBEC-96F8-72B7-4EB93C74D17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29706" y="334029"/>
            <a:ext cx="344785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5F74EED-B923-2CCA-99B8-0E16365768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2" name="Picture 1" descr="A blue and black logo&#10;&#10;AI-generated content may be incorrect.">
            <a:extLst>
              <a:ext uri="{FF2B5EF4-FFF2-40B4-BE49-F238E27FC236}">
                <a16:creationId xmlns:a16="http://schemas.microsoft.com/office/drawing/2014/main" id="{49C10EF6-C86B-C73D-49FC-D19958251B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864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0" y="1"/>
            <a:ext cx="6095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5430745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03C600-FDEF-8BAE-4300-C162C2F1C9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5430745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3138" y="334029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FAF7421-B4C7-A41B-DE07-B74A276983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9" name="Picture 8" descr="A blue and black logo&#10;&#10;AI-generated content may be incorrect.">
            <a:extLst>
              <a:ext uri="{FF2B5EF4-FFF2-40B4-BE49-F238E27FC236}">
                <a16:creationId xmlns:a16="http://schemas.microsoft.com/office/drawing/2014/main" id="{EC82B972-7ED2-DF4B-A628-849D131DD7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808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_Dark_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0" y="1"/>
            <a:ext cx="6095999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5430745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3138" y="334029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FAF7421-B4C7-A41B-DE07-B74A276983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71F0931-B313-CF9D-7BBF-DC0E2CF17C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5430745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F9DF855D-8221-19B5-54AF-279834CFEF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42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rd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D79AF4-5ADB-4E5E-A0E8-09488166DD3C}"/>
              </a:ext>
            </a:extLst>
          </p:cNvPr>
          <p:cNvSpPr/>
          <p:nvPr userDrawn="1"/>
        </p:nvSpPr>
        <p:spPr bwMode="ltGray">
          <a:xfrm flipH="1">
            <a:off x="0" y="-1309"/>
            <a:ext cx="4080764" cy="68593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84AE513-51ED-FF4D-7ACF-910D8A4FD2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3560109" cy="974818"/>
          </a:xfrm>
          <a:prstGeom prst="rect">
            <a:avLst/>
          </a:prstGeom>
        </p:spPr>
        <p:txBody>
          <a:bodyPr/>
          <a:lstStyle>
            <a:lvl1pPr>
              <a:lnSpc>
                <a:spcPts val="3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 OF SLIDE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C04C409-3DE7-9E7A-4373-1D6F76AEB0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1352187"/>
            <a:ext cx="3560109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2A7EC06-B15E-1B40-5961-64129BAB31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874462"/>
            <a:ext cx="3560109" cy="1553883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4C36BA8-CAD7-31E1-C3C1-B0FA2C164D1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3945" y="334029"/>
            <a:ext cx="376517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91011BF-2FD9-DBF7-1A06-5399462CB64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82330" y="334029"/>
            <a:ext cx="376517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030EDA3-D8B5-A79D-B743-FD068E4E2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FFFCB228-8300-BC73-B065-9BACEA253C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636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D79AF4-5ADB-4E5E-A0E8-09488166DD3C}"/>
              </a:ext>
            </a:extLst>
          </p:cNvPr>
          <p:cNvSpPr/>
          <p:nvPr userDrawn="1"/>
        </p:nvSpPr>
        <p:spPr bwMode="ltGray">
          <a:xfrm flipH="1">
            <a:off x="0" y="-1309"/>
            <a:ext cx="3402282" cy="68593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1C9C39-D812-6A1A-50AB-714DB3B589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2842933" cy="974818"/>
          </a:xfrm>
          <a:prstGeom prst="rect">
            <a:avLst/>
          </a:prstGeom>
        </p:spPr>
        <p:txBody>
          <a:bodyPr/>
          <a:lstStyle>
            <a:lvl1pPr>
              <a:lnSpc>
                <a:spcPts val="3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 OF SLIDE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23DBF7B-19DD-E443-56F7-DA2A3E2A51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1352187"/>
            <a:ext cx="2842933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587202D-EED2-0EBA-5011-2CAE596AA4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874462"/>
            <a:ext cx="2842933" cy="1553883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2970E52-791B-7AAD-F885-4FF22CB984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909886" y="334029"/>
            <a:ext cx="4201459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A289F0E2-F193-E474-9C80-C009E98E28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42953" y="334029"/>
            <a:ext cx="4201459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0FACF0B-F330-5ADF-05E8-A8FDEC3AA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48A1FA4F-91FA-9AFB-5C79-01DC2CB945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62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7BF4972-3F3A-4DDC-9690-4753E627F1AE}"/>
              </a:ext>
            </a:extLst>
          </p:cNvPr>
          <p:cNvSpPr/>
          <p:nvPr userDrawn="1"/>
        </p:nvSpPr>
        <p:spPr>
          <a:xfrm flipV="1">
            <a:off x="0" y="3406398"/>
            <a:ext cx="12192000" cy="34516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0DEFD52-3EE4-E374-0FC0-A7063D4E42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3B72C79-996A-179B-A6A0-02C7455440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0682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FEAE2ED-1CC5-B729-0290-3A111DE2BA2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2EEC7E8-B659-EA24-8E20-2780B8F63B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7351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E36C5900-FACD-FEFE-05BB-77E4BEA380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1823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D297326-96A9-0999-3DB4-AB75B5973F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2880" y="357455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Second Heading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D4041E6-0CF8-158D-EA44-F113216A87B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2879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925471F-4118-DFD3-0DC7-E5D4C80779E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97351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BFE58A6E-77AD-55D8-2D29-AAF5BCA4BB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41823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C567FA4C-F40C-F68A-568D-CC73679FE4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4A4EDEB-A63A-9389-3520-C289FECDA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1141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7BF4972-3F3A-4DDC-9690-4753E627F1AE}"/>
              </a:ext>
            </a:extLst>
          </p:cNvPr>
          <p:cNvSpPr/>
          <p:nvPr userDrawn="1"/>
        </p:nvSpPr>
        <p:spPr>
          <a:xfrm flipV="1">
            <a:off x="0" y="0"/>
            <a:ext cx="12192000" cy="343916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0DEFD52-3EE4-E374-0FC0-A7063D4E42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3B72C79-996A-179B-A6A0-02C7455440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0682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FEAE2ED-1CC5-B729-0290-3A111DE2BA2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2EEC7E8-B659-EA24-8E20-2780B8F63B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7351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E36C5900-FACD-FEFE-05BB-77E4BEA380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1823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D297326-96A9-0999-3DB4-AB75B5973F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2880" y="357455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Second Heading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D4041E6-0CF8-158D-EA44-F113216A87B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2879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925471F-4118-DFD3-0DC7-E5D4C80779E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97351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BFE58A6E-77AD-55D8-2D29-AAF5BCA4BB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41823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1E0EAAD-DCAB-C7B9-48B4-AD078E394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5B03F114-1CCA-2BCD-AEB7-33A97C12C5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703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 Layou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1B8D2E2-076B-F3F0-5D4F-4CFC1574C5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1FD4CF-7EC5-E1BB-6828-B4942C11BD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0682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DB75DC08-AA3D-0B9B-BE10-9FC365A6C0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E5E0668-E0F2-65E6-9657-1B5204806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52A340-B81A-13C9-2A4F-A4E14A7ACC9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52413" y="1387475"/>
            <a:ext cx="2727455" cy="36417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03AD0B1-EB01-5145-8BD4-43AF370962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21224" y="1387475"/>
            <a:ext cx="2727455" cy="36417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AE81C313-CFFE-7242-F236-8C090F18925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90035" y="1387475"/>
            <a:ext cx="2727455" cy="36417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13538D4F-C63B-17F8-B0B0-2474A07DA6F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58846" y="1387475"/>
            <a:ext cx="2727455" cy="36417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E8C4259-8339-BC46-91CA-F8A577856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2283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664651E-D0D0-AE67-E2A9-5BE2C3A458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21223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D555B14-A48F-B142-B1E5-B9FC446C048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0034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C522591A-690D-94E5-448F-A366290A8B7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58845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pPr lvl="0"/>
            <a:r>
              <a:rPr lang="en-US" dirty="0"/>
              <a:t>Text</a:t>
            </a:r>
          </a:p>
        </p:txBody>
      </p: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36354173-2455-38A6-D850-9E30EBFAA2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17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 Layout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1B8D2E2-076B-F3F0-5D4F-4CFC1574C5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301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DB75DC08-AA3D-0B9B-BE10-9FC365A6C0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E5E0668-E0F2-65E6-9657-1B5204806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39185591-C09F-80CF-5976-B859677D247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52413" y="1387475"/>
            <a:ext cx="2727455" cy="3641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40C57C8E-9AB5-D4EA-A3DF-E0E1B87E3C2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21224" y="1387475"/>
            <a:ext cx="2727455" cy="3641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B73AFC4A-4D17-D889-A190-32467451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90035" y="1387475"/>
            <a:ext cx="2727455" cy="3641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8636D1FF-4AC7-B87D-B8D3-D71951DA216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58846" y="1387475"/>
            <a:ext cx="2727455" cy="3641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4E3C37E-50FF-DEBD-FFE0-12021561C04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2413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F90D0CF-C799-F88A-FC57-E0FE4CAB4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21353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5864F0F2-ACC8-ADFB-BFBA-6277B60066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0164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7A2F61D-2980-A3C3-F881-E0913ED0DA4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58845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404815E-0A5F-B49B-713F-9CF8370F94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5430745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</p:spTree>
    <p:extLst>
      <p:ext uri="{BB962C8B-B14F-4D97-AF65-F5344CB8AC3E}">
        <p14:creationId xmlns:p14="http://schemas.microsoft.com/office/powerpoint/2010/main" val="3029234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Slid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45C81B5F-74BC-C6ED-0A15-A71F5CD5DA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9504" y="408216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2763E18B-9447-4AE0-06BF-160B2E51AC8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14014" y="408216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05A91090-36DC-C40C-23EF-E4F0ADBCB7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14014" y="3559627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ADC38324-7A5A-395D-1E9A-DABA5AADD1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20467" y="3559627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4CC86894-E309-7F69-1A6C-93D55016E6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6604" y="2678113"/>
            <a:ext cx="4429771" cy="31511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D2C1CF-8CDF-CF82-0573-F131FAF156EC}"/>
              </a:ext>
            </a:extLst>
          </p:cNvPr>
          <p:cNvSpPr/>
          <p:nvPr userDrawn="1"/>
        </p:nvSpPr>
        <p:spPr>
          <a:xfrm>
            <a:off x="476603" y="408216"/>
            <a:ext cx="4429771" cy="1972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35FF3B76-99EC-4A8B-41BD-A2FA39A2C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rtl="0" latinLnBrk="0"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EA2E03D-9F5B-5343-B21F-6252580077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F346DA-4135-4E6F-CEF4-7453E64F1572}"/>
              </a:ext>
            </a:extLst>
          </p:cNvPr>
          <p:cNvCxnSpPr>
            <a:cxnSpLocks/>
          </p:cNvCxnSpPr>
          <p:nvPr userDrawn="1"/>
        </p:nvCxnSpPr>
        <p:spPr>
          <a:xfrm>
            <a:off x="5258490" y="2768903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D346EE-506C-E76D-89D6-D1609B84D44D}"/>
              </a:ext>
            </a:extLst>
          </p:cNvPr>
          <p:cNvCxnSpPr>
            <a:cxnSpLocks/>
          </p:cNvCxnSpPr>
          <p:nvPr userDrawn="1"/>
        </p:nvCxnSpPr>
        <p:spPr>
          <a:xfrm>
            <a:off x="8662058" y="2768903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25CFE0-2DF9-2E57-F4DA-DDC51A1002C3}"/>
              </a:ext>
            </a:extLst>
          </p:cNvPr>
          <p:cNvCxnSpPr>
            <a:cxnSpLocks/>
          </p:cNvCxnSpPr>
          <p:nvPr userDrawn="1"/>
        </p:nvCxnSpPr>
        <p:spPr>
          <a:xfrm>
            <a:off x="8662058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D07A882-82DD-ABBD-9DD3-2B862067A27D}"/>
              </a:ext>
            </a:extLst>
          </p:cNvPr>
          <p:cNvCxnSpPr>
            <a:cxnSpLocks/>
          </p:cNvCxnSpPr>
          <p:nvPr userDrawn="1"/>
        </p:nvCxnSpPr>
        <p:spPr>
          <a:xfrm>
            <a:off x="5258490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525FE9-38C9-AD62-AC30-A752E7853E6F}"/>
              </a:ext>
            </a:extLst>
          </p:cNvPr>
          <p:cNvCxnSpPr>
            <a:cxnSpLocks/>
          </p:cNvCxnSpPr>
          <p:nvPr userDrawn="1"/>
        </p:nvCxnSpPr>
        <p:spPr>
          <a:xfrm>
            <a:off x="476604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01A612-EEEF-C011-34E4-1B6F741CA9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3454" y="487122"/>
            <a:ext cx="4195980" cy="1792258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2F4131-8DBD-80E6-6FF2-00461C5457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8440" y="2661941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D883F05-5BB0-F688-00E2-D5B1C52BD3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18440" y="3000643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2A3D994B-0856-4125-D3AA-1100FAA17E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49868" y="3010057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4C53947B-8D12-3689-2C84-E9452616629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33914" y="2661941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99466189-8148-F155-A0DF-FD15E69EDA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33914" y="3000643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35B2BE68-84AB-1D04-B910-80B9E16E30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65342" y="3010057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1AC011BE-3DDB-6ABA-B3DA-8125AE1C5B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18440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96BCFF4D-02A4-7E2E-0227-CA88E8DBC4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18440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4C7AE61A-892F-A7C6-5EBB-627CC02424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49868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1ADBE6B6-0EA3-E2A7-A38C-1472DB8950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33914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5649F813-6984-AB45-6AA9-1BE62E2AD70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33914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A5731EA4-2326-8EDC-0DDB-A4BFB36F1F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65342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D9B7CBC9-88EC-DEFE-FAE5-C4E3A19CC60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4280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D74A993D-AD41-984F-950F-BA6E80528B5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280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93952CFC-4D8A-5739-D810-DD1814C78D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65708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98D312D0-93DB-D17C-BB62-2372DC1D31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8302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Slide_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45C81B5F-74BC-C6ED-0A15-A71F5CD5DA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9504" y="408216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2763E18B-9447-4AE0-06BF-160B2E51AC8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14014" y="408216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05A91090-36DC-C40C-23EF-E4F0ADBCB7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14014" y="3559627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ADC38324-7A5A-395D-1E9A-DABA5AADD1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20467" y="3559627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4CC86894-E309-7F69-1A6C-93D55016E6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6604" y="2678113"/>
            <a:ext cx="4429771" cy="31511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D2C1CF-8CDF-CF82-0573-F131FAF156EC}"/>
              </a:ext>
            </a:extLst>
          </p:cNvPr>
          <p:cNvSpPr/>
          <p:nvPr userDrawn="1"/>
        </p:nvSpPr>
        <p:spPr>
          <a:xfrm>
            <a:off x="476603" y="408216"/>
            <a:ext cx="4429771" cy="1972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35FF3B76-99EC-4A8B-41BD-A2FA39A2C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rtl="0" latinLnBrk="0"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EA2E03D-9F5B-5343-B21F-6252580077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F346DA-4135-4E6F-CEF4-7453E64F1572}"/>
              </a:ext>
            </a:extLst>
          </p:cNvPr>
          <p:cNvCxnSpPr>
            <a:cxnSpLocks/>
          </p:cNvCxnSpPr>
          <p:nvPr userDrawn="1"/>
        </p:nvCxnSpPr>
        <p:spPr>
          <a:xfrm>
            <a:off x="5258490" y="2768903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D346EE-506C-E76D-89D6-D1609B84D44D}"/>
              </a:ext>
            </a:extLst>
          </p:cNvPr>
          <p:cNvCxnSpPr>
            <a:cxnSpLocks/>
          </p:cNvCxnSpPr>
          <p:nvPr userDrawn="1"/>
        </p:nvCxnSpPr>
        <p:spPr>
          <a:xfrm>
            <a:off x="8662058" y="2768903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25CFE0-2DF9-2E57-F4DA-DDC51A1002C3}"/>
              </a:ext>
            </a:extLst>
          </p:cNvPr>
          <p:cNvCxnSpPr>
            <a:cxnSpLocks/>
          </p:cNvCxnSpPr>
          <p:nvPr userDrawn="1"/>
        </p:nvCxnSpPr>
        <p:spPr>
          <a:xfrm>
            <a:off x="8662058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D07A882-82DD-ABBD-9DD3-2B862067A27D}"/>
              </a:ext>
            </a:extLst>
          </p:cNvPr>
          <p:cNvCxnSpPr>
            <a:cxnSpLocks/>
          </p:cNvCxnSpPr>
          <p:nvPr userDrawn="1"/>
        </p:nvCxnSpPr>
        <p:spPr>
          <a:xfrm>
            <a:off x="5258490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525FE9-38C9-AD62-AC30-A752E7853E6F}"/>
              </a:ext>
            </a:extLst>
          </p:cNvPr>
          <p:cNvCxnSpPr>
            <a:cxnSpLocks/>
          </p:cNvCxnSpPr>
          <p:nvPr userDrawn="1"/>
        </p:nvCxnSpPr>
        <p:spPr>
          <a:xfrm>
            <a:off x="476604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01A612-EEEF-C011-34E4-1B6F741CA9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3454" y="487122"/>
            <a:ext cx="4195980" cy="1792258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TEXT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2F4131-8DBD-80E6-6FF2-00461C5457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8440" y="2661941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D883F05-5BB0-F688-00E2-D5B1C52BD3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18440" y="3000643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2A3D994B-0856-4125-D3AA-1100FAA17E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49868" y="3010057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4C53947B-8D12-3689-2C84-E9452616629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33914" y="2661941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99466189-8148-F155-A0DF-FD15E69EDA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33914" y="3000643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35B2BE68-84AB-1D04-B910-80B9E16E30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65342" y="3010057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1AC011BE-3DDB-6ABA-B3DA-8125AE1C5B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18440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96BCFF4D-02A4-7E2E-0227-CA88E8DBC4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18440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4C7AE61A-892F-A7C6-5EBB-627CC02424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49868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1ADBE6B6-0EA3-E2A7-A38C-1472DB8950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33914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5649F813-6984-AB45-6AA9-1BE62E2AD70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33914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A5731EA4-2326-8EDC-0DDB-A4BFB36F1F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65342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D9B7CBC9-88EC-DEFE-FAE5-C4E3A19CC60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4280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D74A993D-AD41-984F-950F-BA6E80528B5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280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93952CFC-4D8A-5739-D810-DD1814C78D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65708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pic>
        <p:nvPicPr>
          <p:cNvPr id="4" name="Picture 3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DF55263D-9D78-FC22-5F6A-F61B765361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0251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F2C4E05-5B96-4FE8-9203-E062EA1E7D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7967" y="3103321"/>
            <a:ext cx="4016065" cy="651358"/>
          </a:xfrm>
          <a:prstGeom prst="rect">
            <a:avLst/>
          </a:prstGeom>
        </p:spPr>
      </p:pic>
      <p:pic>
        <p:nvPicPr>
          <p:cNvPr id="7" name="Picture 6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EF58CFE9-0B12-315B-7360-BE3DBD9924D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9D0AEEA-67CD-CEFB-EC74-DD960DA50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4717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5BAC64B-FDA5-2AA6-6FE8-FFAFF209BE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542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1" r:id="rId1"/>
    <p:sldLayoutId id="2147484294" r:id="rId2"/>
    <p:sldLayoutId id="2147484293" r:id="rId3"/>
    <p:sldLayoutId id="2147484315" r:id="rId4"/>
    <p:sldLayoutId id="2147484316" r:id="rId5"/>
    <p:sldLayoutId id="2147484296" r:id="rId6"/>
    <p:sldLayoutId id="2147484324" r:id="rId7"/>
    <p:sldLayoutId id="2147484322" r:id="rId8"/>
    <p:sldLayoutId id="2147484323" r:id="rId9"/>
    <p:sldLayoutId id="2147484295" r:id="rId10"/>
    <p:sldLayoutId id="2147484320" r:id="rId11"/>
    <p:sldLayoutId id="2147484298" r:id="rId12"/>
    <p:sldLayoutId id="2147484299" r:id="rId13"/>
    <p:sldLayoutId id="2147484326" r:id="rId14"/>
    <p:sldLayoutId id="2147484312" r:id="rId15"/>
    <p:sldLayoutId id="2147484321" r:id="rId16"/>
    <p:sldLayoutId id="2147484300" r:id="rId17"/>
    <p:sldLayoutId id="2147484301" r:id="rId18"/>
    <p:sldLayoutId id="2147484303" r:id="rId19"/>
    <p:sldLayoutId id="2147484313" r:id="rId20"/>
    <p:sldLayoutId id="2147484317" r:id="rId21"/>
    <p:sldLayoutId id="2147484318" r:id="rId22"/>
    <p:sldLayoutId id="2147484319" r:id="rId23"/>
    <p:sldLayoutId id="2147484325" r:id="rId24"/>
    <p:sldLayoutId id="2147484292" r:id="rId25"/>
  </p:sldLayoutIdLst>
  <p:hf hdr="0" dt="0"/>
  <p:txStyles>
    <p:titleStyle>
      <a:lvl1pPr algn="l" defTabSz="342882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342882" rtl="0" eaLnBrk="1" latinLnBrk="0" hangingPunct="1">
        <a:spcBef>
          <a:spcPct val="20000"/>
        </a:spcBef>
        <a:buClr>
          <a:schemeClr val="tx1"/>
        </a:buClr>
        <a:buSzPct val="110000"/>
        <a:buFontTx/>
        <a:buNone/>
        <a:defRPr sz="2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68325" indent="-225425" algn="l" defTabSz="342882" rtl="0" eaLnBrk="1" latinLnBrk="0" hangingPunct="1">
        <a:spcBef>
          <a:spcPct val="20000"/>
        </a:spcBef>
        <a:buClr>
          <a:schemeClr val="tx1"/>
        </a:buClr>
        <a:buSzPct val="11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5738" algn="l" defTabSz="342882" rtl="0" eaLnBrk="1" latinLnBrk="0" hangingPunct="1">
        <a:spcBef>
          <a:spcPct val="20000"/>
        </a:spcBef>
        <a:buClr>
          <a:schemeClr val="tx1"/>
        </a:buClr>
        <a:buSzPct val="11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1" indent="-171442" algn="l" defTabSz="342882" rtl="0" eaLnBrk="1" latinLnBrk="0" hangingPunct="1">
        <a:spcBef>
          <a:spcPct val="20000"/>
        </a:spcBef>
        <a:buClr>
          <a:schemeClr val="tx1"/>
        </a:buClr>
        <a:buSzPct val="11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3" indent="-133343" algn="l" defTabSz="342882" rtl="0" eaLnBrk="1" latinLnBrk="0" hangingPunct="1">
        <a:spcBef>
          <a:spcPct val="20000"/>
        </a:spcBef>
        <a:buClr>
          <a:schemeClr val="tx1"/>
        </a:buClr>
        <a:buSzPct val="110000"/>
        <a:buFont typeface="Arial" panose="020B0604020202020204" pitchFamily="34" charset="0"/>
        <a:buChar char="•"/>
        <a:defRPr sz="10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7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6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4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2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jpeg"/><Relationship Id="rId4" Type="http://schemas.openxmlformats.org/officeDocument/2006/relationships/image" Target="../media/image20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jpg"/><Relationship Id="rId4" Type="http://schemas.openxmlformats.org/officeDocument/2006/relationships/image" Target="../media/image2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A6A653-9EE1-F684-49B1-D5FFD8C784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!! Title 1">
            <a:extLst>
              <a:ext uri="{FF2B5EF4-FFF2-40B4-BE49-F238E27FC236}">
                <a16:creationId xmlns:a16="http://schemas.microsoft.com/office/drawing/2014/main" id="{2E054E45-0021-0B6F-5B04-75AFBE0336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000" b="1" dirty="0">
                <a:solidFill>
                  <a:srgbClr val="FFFFFF"/>
                </a:solidFill>
              </a:rPr>
              <a:t>Robotics Setter Technician Program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501EE7-4F47-7AE3-2560-0933E285B8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D5FB00"/>
                </a:solidFill>
              </a:rPr>
              <a:t>Robotic welding, from learning to improvement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435D6C-4908-8A25-4E0A-94761E2DE6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1300" dirty="0">
                <a:solidFill>
                  <a:srgbClr val="FFFFFF"/>
                </a:solidFill>
              </a:rPr>
              <a:t>Diego Adair de León Márquez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489204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Universidad Politécnica de Aguascalientes  |  Mechatronics Engineering, 9th term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Plant Tutor: Fernando Robledo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5FB00"/>
                </a:solidFill>
                <a:latin typeface="Segoe UI"/>
              </a:rPr>
              <a:t>Engineering Department  |  August 1, 2026 to January 1, 2027</a:t>
            </a:r>
          </a:p>
        </p:txBody>
      </p:sp>
    </p:spTree>
    <p:extLst>
      <p:ext uri="{BB962C8B-B14F-4D97-AF65-F5344CB8AC3E}">
        <p14:creationId xmlns:p14="http://schemas.microsoft.com/office/powerpoint/2010/main" val="4001796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Glass A"/>
          <p:cNvSpPr/>
          <p:nvPr/>
        </p:nvSpPr>
        <p:spPr>
          <a:xfrm>
            <a:off x="841248" y="1828800"/>
            <a:ext cx="10515600" cy="365760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0" y="224028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5FB00"/>
                </a:solidFill>
                <a:latin typeface="Segoe UI"/>
              </a:rPr>
              <a:t>THE TENNECO VALUE I IDENTIFY WITH</a:t>
            </a:r>
          </a:p>
        </p:txBody>
      </p:sp>
      <p:sp>
        <p:nvSpPr>
          <p:cNvPr id="4" name="!! Title 1"/>
          <p:cNvSpPr txBox="1"/>
          <p:nvPr/>
        </p:nvSpPr>
        <p:spPr>
          <a:xfrm>
            <a:off x="1280160" y="274320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3886200"/>
            <a:ext cx="1371600" cy="27432"/>
          </a:xfrm>
          <a:prstGeom prst="rect">
            <a:avLst/>
          </a:prstGeom>
          <a:solidFill>
            <a:srgbClr val="D5FB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4206240"/>
            <a:ext cx="9052560" cy="78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 dirty="0">
                <a:solidFill>
                  <a:srgbClr val="C6CDD1"/>
                </a:solidFill>
                <a:latin typeface="Segoe UI"/>
              </a:rPr>
              <a:t>We must earn the trust of our employees and customers.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s-MX" sz="1400" dirty="0">
                <a:solidFill>
                  <a:srgbClr val="D5FB00"/>
                </a:solidFill>
              </a:rPr>
              <a:t>For me, winning means caring for the ergonomics of our welders while protecting product quality. As an engineer, I do it by optimizing the process with robotic systems.</a:t>
            </a:r>
            <a:endParaRPr sz="1400" b="0" i="0" dirty="0">
              <a:solidFill>
                <a:srgbClr val="D5FB00"/>
              </a:solidFill>
              <a:latin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>
                <a:solidFill>
                  <a:srgbClr val="051C2C"/>
                </a:solidFill>
                <a:latin typeface="Segoe UI"/>
              </a:rPr>
              <a:t>Program scope and objective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>
                <a:solidFill>
                  <a:srgbClr val="0033A0"/>
                </a:solidFill>
                <a:latin typeface="Segoe UI"/>
              </a:rPr>
              <a:t>Robotics Setter Technician  |  August 1, 2026 to January 1, 2027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7223760" cy="388620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938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31720"/>
            <a:ext cx="6492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51C2C"/>
                </a:solidFill>
                <a:latin typeface="Segoe UI"/>
              </a:rPr>
              <a:t>Become a specialist in robotic welding and advanced technical support.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310128"/>
            <a:ext cx="1097280" cy="2743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35478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931920"/>
            <a:ext cx="6492240" cy="692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6B7A83"/>
                </a:solidFill>
                <a:latin typeface="Segoe UI"/>
              </a:rPr>
              <a:t>When a welding robot stops, the line stops with it. A setter who can find the </a:t>
            </a:r>
            <a:r>
              <a:rPr lang="en-US" sz="1400" b="0" i="0" dirty="0">
                <a:solidFill>
                  <a:srgbClr val="6B7A83"/>
                </a:solidFill>
                <a:latin typeface="Segoe UI"/>
              </a:rPr>
              <a:t>root </a:t>
            </a:r>
            <a:r>
              <a:rPr sz="1400" b="0" i="0" dirty="0">
                <a:solidFill>
                  <a:srgbClr val="6B7A83"/>
                </a:solidFill>
                <a:latin typeface="Segoe UI"/>
              </a:rPr>
              <a:t>cause and adjust the cell on the spot keeps parts moving and quality under control.</a:t>
            </a:r>
          </a:p>
        </p:txBody>
      </p:sp>
      <p:sp>
        <p:nvSpPr>
          <p:cNvPr id="10" name="!! Glass B"/>
          <p:cNvSpPr/>
          <p:nvPr/>
        </p:nvSpPr>
        <p:spPr>
          <a:xfrm>
            <a:off x="7818120" y="1600200"/>
            <a:ext cx="4114800" cy="388620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79" y="1938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FINAL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377440"/>
            <a:ext cx="34290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051C2C"/>
                </a:solidFill>
                <a:latin typeface="Segoe UI"/>
              </a:rPr>
              <a:t>An implemented improvement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0" i="0" dirty="0">
                <a:solidFill>
                  <a:srgbClr val="6B7A83"/>
                </a:solidFill>
                <a:latin typeface="Segoe UI"/>
              </a:rPr>
              <a:t>In quality, availability or productivity.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00" b="0" i="0" dirty="0">
                <a:solidFill>
                  <a:srgbClr val="0033A0"/>
                </a:solidFill>
                <a:latin typeface="Segoe UI"/>
              </a:rPr>
              <a:t>Mine: 4M, implemented, with 47% less cycle time.</a:t>
            </a:r>
          </a:p>
          <a:p>
            <a:pPr>
              <a:spcBef>
                <a:spcPts val="2000"/>
              </a:spcBef>
              <a:spcAft>
                <a:spcPts val="0"/>
              </a:spcAft>
            </a:pPr>
            <a:r>
              <a:rPr sz="1400" b="1" i="0" dirty="0">
                <a:solidFill>
                  <a:srgbClr val="051C2C"/>
                </a:solidFill>
                <a:latin typeface="Segoe UI"/>
              </a:rPr>
              <a:t>An updated training process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0" i="0" dirty="0">
                <a:solidFill>
                  <a:srgbClr val="6B7A83"/>
                </a:solidFill>
                <a:latin typeface="Segoe UI"/>
              </a:rPr>
              <a:t>How the next setters learn.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00" b="0" i="0" dirty="0">
                <a:solidFill>
                  <a:srgbClr val="0033A0"/>
                </a:solidFill>
                <a:latin typeface="Segoe UI"/>
              </a:rPr>
              <a:t>Mine: study material reviewed, schedule rebuilt.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The plan: four levels, each one validated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>
                <a:solidFill>
                  <a:srgbClr val="D5FB00"/>
                </a:solidFill>
                <a:latin typeface="Segoe UI"/>
              </a:rPr>
              <a:t>My ILUO matrix, paraphrased  |  40 hours of formal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41732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5FB00"/>
                </a:solidFill>
                <a:latin typeface="Segoe UI"/>
              </a:rPr>
              <a:t>OBJECTIVE   </a:t>
            </a:r>
            <a:r>
              <a:rPr sz="1300">
                <a:solidFill>
                  <a:srgbClr val="FFFFFF"/>
                </a:solidFill>
                <a:latin typeface="Segoe UI"/>
              </a:rPr>
              <a:t>Become a specialist in robotic welding and advanced technical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47088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BA8"/>
                </a:solidFill>
                <a:latin typeface="Segoe UI"/>
              </a:rPr>
              <a:t>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847088"/>
            <a:ext cx="4617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BA8"/>
                </a:solidFill>
                <a:latin typeface="Segoe UI"/>
              </a:rPr>
              <a:t>WHAT IT COVERS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847088"/>
            <a:ext cx="18745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BA8"/>
                </a:solidFill>
                <a:latin typeface="Segoe UI"/>
              </a:rPr>
              <a:t>HOW IT IS VALIDATED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84708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BA8"/>
                </a:solidFill>
                <a:latin typeface="Segoe UI"/>
              </a:rPr>
              <a:t>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1847088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BA8"/>
                </a:solidFill>
                <a:latin typeface="Segoe UI"/>
              </a:rPr>
              <a:t>METHOD</a:t>
            </a:r>
          </a:p>
        </p:txBody>
      </p:sp>
      <p:sp>
        <p:nvSpPr>
          <p:cNvPr id="10" name="!! Glass A"/>
          <p:cNvSpPr/>
          <p:nvPr/>
        </p:nvSpPr>
        <p:spPr>
          <a:xfrm>
            <a:off x="256032" y="2121408"/>
            <a:ext cx="11676888" cy="73152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0279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5FB00"/>
                </a:solidFill>
                <a:latin typeface="Segoe UI"/>
              </a:rPr>
              <a:t>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231136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Understands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231136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Safety, GMAW equipment, metal transfer, process variables, discontinuities, joints, positions, symbols and control documents.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23113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Theory exam, 8.0 to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212848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4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2231136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Classroom session</a:t>
            </a:r>
          </a:p>
        </p:txBody>
      </p:sp>
      <p:sp>
        <p:nvSpPr>
          <p:cNvPr id="17" name="!! Card 2"/>
          <p:cNvSpPr/>
          <p:nvPr/>
        </p:nvSpPr>
        <p:spPr>
          <a:xfrm>
            <a:off x="256032" y="2944368"/>
            <a:ext cx="11676888" cy="731520"/>
          </a:xfrm>
          <a:prstGeom prst="rect">
            <a:avLst/>
          </a:prstGeom>
          <a:blipFill rotWithShape="1">
            <a:blip r:embed="rId4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63239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5FB00"/>
                </a:solidFill>
                <a:latin typeface="Segoe UI"/>
              </a:rPr>
              <a:t>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054096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With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054096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Basic robotic and dimensional adjustments, checking settings against the WPS, finding defects and changing consumables.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05409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Validation on the floor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035808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8 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3054096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Robotic cell, on the floor (Gemba)</a:t>
            </a:r>
          </a:p>
        </p:txBody>
      </p:sp>
      <p:sp>
        <p:nvSpPr>
          <p:cNvPr id="24" name="!! Card 3"/>
          <p:cNvSpPr/>
          <p:nvPr/>
        </p:nvSpPr>
        <p:spPr>
          <a:xfrm>
            <a:off x="256032" y="3767328"/>
            <a:ext cx="11676888" cy="731520"/>
          </a:xfrm>
          <a:prstGeom prst="rect">
            <a:avLst/>
          </a:prstGeom>
          <a:blipFill rotWithShape="1">
            <a:blip r:embed="rId5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8620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5FB00"/>
                </a:solidFill>
                <a:latin typeface="Segoe UI"/>
              </a:rPr>
              <a:t>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877056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Alone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877056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Creating new welding programs in SKS and setting their parameters (SKS and Miller).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87705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Practical exam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3858768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8 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3877056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Robotic cell, on the floor (Gemba)</a:t>
            </a:r>
          </a:p>
        </p:txBody>
      </p:sp>
      <p:sp>
        <p:nvSpPr>
          <p:cNvPr id="31" name="!! Glass B"/>
          <p:cNvSpPr/>
          <p:nvPr/>
        </p:nvSpPr>
        <p:spPr>
          <a:xfrm>
            <a:off x="256032" y="4590288"/>
            <a:ext cx="11676888" cy="731520"/>
          </a:xfrm>
          <a:prstGeom prst="rect">
            <a:avLst/>
          </a:prstGeom>
          <a:blipFill rotWithShape="1">
            <a:blip r:embed="rId6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709159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5FB00"/>
                </a:solidFill>
                <a:latin typeface="Segoe UI"/>
              </a:rPr>
              <a:t>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700016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Improves and teaches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4700016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Training level 2 and 3 staff, improvement ideas, problem solving (8D, Ishikawa, 5W+2H), GD&amp;T, ANDON and Lean.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70001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Implementation and training, validated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681727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20 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4700016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80-hour follow-up: TM, WAVE or PSIF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>
                <a:solidFill>
                  <a:srgbClr val="051C2C"/>
                </a:solidFill>
                <a:latin typeface="Segoe UI"/>
              </a:rPr>
              <a:t>Level I exam next, in week 40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 dirty="0">
                <a:solidFill>
                  <a:srgbClr val="0033A0"/>
                </a:solidFill>
                <a:latin typeface="Segoe UI"/>
              </a:rPr>
              <a:t>Gantt  |  Technical and practical skills, done and next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417320"/>
            <a:ext cx="11676888" cy="461772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91840" y="1572768"/>
            <a:ext cx="192231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51C2C"/>
                </a:solidFill>
                <a:latin typeface="Segoe UI"/>
              </a:rPr>
              <a:t>August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4158" y="1572768"/>
            <a:ext cx="153785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51C2C"/>
                </a:solidFill>
                <a:latin typeface="Segoe UI"/>
              </a:rPr>
              <a:t>September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4158" y="1572768"/>
            <a:ext cx="9144" cy="3977639"/>
          </a:xfrm>
          <a:prstGeom prst="rect">
            <a:avLst/>
          </a:prstGeom>
          <a:solidFill>
            <a:srgbClr val="051C2C">
              <a:alpha val="15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52012" y="1572768"/>
            <a:ext cx="153785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51C2C"/>
                </a:solidFill>
                <a:latin typeface="Segoe UI"/>
              </a:rPr>
              <a:t>October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752012" y="1572768"/>
            <a:ext cx="9144" cy="3977639"/>
          </a:xfrm>
          <a:prstGeom prst="rect">
            <a:avLst/>
          </a:prstGeom>
          <a:solidFill>
            <a:srgbClr val="051C2C">
              <a:alpha val="15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9867" y="1572768"/>
            <a:ext cx="192231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51C2C"/>
                </a:solidFill>
                <a:latin typeface="Segoe UI"/>
              </a:rPr>
              <a:t>November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89867" y="1572768"/>
            <a:ext cx="9144" cy="3977639"/>
          </a:xfrm>
          <a:prstGeom prst="rect">
            <a:avLst/>
          </a:prstGeom>
          <a:solidFill>
            <a:srgbClr val="051C2C">
              <a:alpha val="15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12185" y="1572768"/>
            <a:ext cx="153785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51C2C"/>
                </a:solidFill>
                <a:latin typeface="Segoe UI"/>
              </a:rPr>
              <a:t>December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12185" y="1572768"/>
            <a:ext cx="9144" cy="3977639"/>
          </a:xfrm>
          <a:prstGeom prst="rect">
            <a:avLst/>
          </a:prstGeom>
          <a:solidFill>
            <a:srgbClr val="051C2C">
              <a:alpha val="15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828800"/>
            <a:ext cx="384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83"/>
                </a:solidFill>
                <a:latin typeface="Segoe UI"/>
              </a:rP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6303" y="1828800"/>
            <a:ext cx="384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83"/>
                </a:solidFill>
                <a:latin typeface="Segoe UI"/>
              </a:rPr>
              <a:t>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0767" y="1828800"/>
            <a:ext cx="384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83"/>
                </a:solidFill>
                <a:latin typeface="Segoe UI"/>
              </a:rPr>
              <a:t>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5230" y="1828800"/>
            <a:ext cx="384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83"/>
                </a:solidFill>
                <a:latin typeface="Segoe UI"/>
              </a:rPr>
              <a:t>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9694" y="1828800"/>
            <a:ext cx="384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83"/>
                </a:solidFill>
                <a:latin typeface="Segoe UI"/>
              </a:rPr>
              <a:t>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4158" y="1828800"/>
            <a:ext cx="384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83"/>
                </a:solidFill>
                <a:latin typeface="Segoe UI"/>
              </a:rPr>
              <a:t>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8621" y="1828800"/>
            <a:ext cx="384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83"/>
                </a:solidFill>
                <a:latin typeface="Segoe UI"/>
              </a:rPr>
              <a:t>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3085" y="1828800"/>
            <a:ext cx="384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83"/>
                </a:solidFill>
                <a:latin typeface="Segoe UI"/>
              </a:rPr>
              <a:t>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7549" y="1828800"/>
            <a:ext cx="384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83"/>
                </a:solidFill>
                <a:latin typeface="Segoe UI"/>
              </a:rPr>
              <a:t>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2012" y="1828800"/>
            <a:ext cx="384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83"/>
                </a:solidFill>
                <a:latin typeface="Segoe UI"/>
              </a:rPr>
              <a:t>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6476" y="1828800"/>
            <a:ext cx="384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83"/>
                </a:solidFill>
                <a:latin typeface="Segoe UI"/>
              </a:rPr>
              <a:t>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0940" y="1828800"/>
            <a:ext cx="384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83"/>
                </a:solidFill>
                <a:latin typeface="Segoe UI"/>
              </a:rPr>
              <a:t>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5403" y="1828800"/>
            <a:ext cx="384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83"/>
                </a:solidFill>
                <a:latin typeface="Segoe UI"/>
              </a:rPr>
              <a:t>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9867" y="1828800"/>
            <a:ext cx="384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83"/>
                </a:solidFill>
                <a:latin typeface="Segoe UI"/>
              </a:rPr>
              <a:t>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74330" y="1828800"/>
            <a:ext cx="384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83"/>
                </a:solidFill>
                <a:latin typeface="Segoe UI"/>
              </a:rPr>
              <a:t>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8794" y="1828800"/>
            <a:ext cx="384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83"/>
                </a:solidFill>
                <a:latin typeface="Segoe UI"/>
              </a:rPr>
              <a:t>47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3258" y="1828800"/>
            <a:ext cx="384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83"/>
                </a:solidFill>
                <a:latin typeface="Segoe UI"/>
              </a:rPr>
              <a:t>48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7721" y="1828800"/>
            <a:ext cx="384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83"/>
                </a:solidFill>
                <a:latin typeface="Segoe UI"/>
              </a:rPr>
              <a:t>49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2185" y="1828800"/>
            <a:ext cx="384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83"/>
                </a:solidFill>
                <a:latin typeface="Segoe UI"/>
              </a:rPr>
              <a:t>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96649" y="1828800"/>
            <a:ext cx="384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83"/>
                </a:solidFill>
                <a:latin typeface="Segoe UI"/>
              </a:rPr>
              <a:t>51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81112" y="1828800"/>
            <a:ext cx="384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83"/>
                </a:solidFill>
                <a:latin typeface="Segoe UI"/>
              </a:rPr>
              <a:t>52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65576" y="1828800"/>
            <a:ext cx="3844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83"/>
                </a:solidFill>
                <a:latin typeface="Segoe UI"/>
              </a:rPr>
              <a:t>53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075688"/>
            <a:ext cx="11292840" cy="9144"/>
          </a:xfrm>
          <a:prstGeom prst="rect">
            <a:avLst/>
          </a:prstGeom>
          <a:solidFill>
            <a:srgbClr val="051C2C">
              <a:alpha val="25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22128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1C2C"/>
                </a:solidFill>
                <a:latin typeface="Segoe UI"/>
              </a:rPr>
              <a:t>Level I, mastered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243230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83"/>
                </a:solidFill>
                <a:latin typeface="Segoe UI"/>
              </a:rPr>
              <a:t>Safety, GMAW, variables, defects, documents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0" y="2304288"/>
            <a:ext cx="2910938" cy="21945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270662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1C2C"/>
                </a:solidFill>
                <a:latin typeface="Segoe UI"/>
              </a:rPr>
              <a:t>Level I, in progress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292608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83"/>
                </a:solidFill>
                <a:latin typeface="Segoe UI"/>
              </a:rPr>
              <a:t>Metal transfer, joints, positions, symbols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2651760"/>
            <a:ext cx="11292840" cy="9144"/>
          </a:xfrm>
          <a:prstGeom prst="rect">
            <a:avLst/>
          </a:prstGeom>
          <a:solidFill>
            <a:srgbClr val="051C2C">
              <a:alpha val="8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2778" y="2798064"/>
            <a:ext cx="549233" cy="219456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91840" y="2798064"/>
            <a:ext cx="2910938" cy="21945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2004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1C2C"/>
                </a:solidFill>
                <a:latin typeface="Segoe UI"/>
              </a:rPr>
              <a:t>Level I exam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341985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83"/>
                </a:solidFill>
                <a:latin typeface="Segoe UI"/>
              </a:rPr>
              <a:t>Theory exam, 8.0 to pass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145536"/>
            <a:ext cx="11292840" cy="9144"/>
          </a:xfrm>
          <a:prstGeom prst="rect">
            <a:avLst/>
          </a:prstGeom>
          <a:solidFill>
            <a:srgbClr val="051C2C">
              <a:alpha val="8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Diamond 47"/>
          <p:cNvSpPr/>
          <p:nvPr/>
        </p:nvSpPr>
        <p:spPr>
          <a:xfrm>
            <a:off x="6440908" y="3282696"/>
            <a:ext cx="237744" cy="237744"/>
          </a:xfrm>
          <a:prstGeom prst="diamond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42660" y="329184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51C2C"/>
                </a:solidFill>
                <a:latin typeface="Segoe UI"/>
              </a:rPr>
              <a:t>Week 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369417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1C2C"/>
                </a:solidFill>
                <a:latin typeface="Segoe UI"/>
              </a:rPr>
              <a:t>Level L, floor skills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391363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83"/>
                </a:solidFill>
                <a:latin typeface="Segoe UI"/>
              </a:rPr>
              <a:t>Settings, defects, consumables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639312"/>
            <a:ext cx="11292840" cy="9144"/>
          </a:xfrm>
          <a:prstGeom prst="rect">
            <a:avLst/>
          </a:prstGeom>
          <a:solidFill>
            <a:srgbClr val="051C2C">
              <a:alpha val="8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02778" y="3785615"/>
            <a:ext cx="2087088" cy="219456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91840" y="3785615"/>
            <a:ext cx="2910938" cy="21945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1879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1C2C"/>
                </a:solidFill>
                <a:latin typeface="Segoe UI"/>
              </a:rPr>
              <a:t>Level U, programming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40740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83"/>
                </a:solidFill>
                <a:latin typeface="Segoe UI"/>
              </a:rPr>
              <a:t>New programs, SKS and Miller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133088"/>
            <a:ext cx="11292840" cy="9144"/>
          </a:xfrm>
          <a:prstGeom prst="rect">
            <a:avLst/>
          </a:prstGeom>
          <a:solidFill>
            <a:srgbClr val="051C2C">
              <a:alpha val="8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89867" y="4279392"/>
            <a:ext cx="3460172" cy="219456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4158" y="4279392"/>
            <a:ext cx="988620" cy="21945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46817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1C2C"/>
                </a:solidFill>
                <a:latin typeface="Segoe UI"/>
              </a:rPr>
              <a:t>Level O, improve and teach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90118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83"/>
                </a:solidFill>
                <a:latin typeface="Segoe UI"/>
              </a:rPr>
              <a:t>ANDON calls and the 4M improvement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4626864"/>
            <a:ext cx="11292840" cy="9144"/>
          </a:xfrm>
          <a:prstGeom prst="rect">
            <a:avLst/>
          </a:prstGeom>
          <a:solidFill>
            <a:srgbClr val="051C2C">
              <a:alpha val="8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89867" y="4773168"/>
            <a:ext cx="3460172" cy="219456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91840" y="4773168"/>
            <a:ext cx="2910938" cy="21945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517550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1C2C"/>
                </a:solidFill>
                <a:latin typeface="Segoe UI"/>
              </a:rPr>
              <a:t>Industrialization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53949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83"/>
                </a:solidFill>
                <a:latin typeface="Segoe UI"/>
              </a:rPr>
              <a:t>MY27 Cummins, DOC and DPF program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120640"/>
            <a:ext cx="11292840" cy="9144"/>
          </a:xfrm>
          <a:prstGeom prst="rect">
            <a:avLst/>
          </a:prstGeom>
          <a:solidFill>
            <a:srgbClr val="051C2C">
              <a:alpha val="8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02778" y="5266944"/>
            <a:ext cx="5547261" cy="219456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291840" y="5266944"/>
            <a:ext cx="2910938" cy="21945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02778" y="2103120"/>
            <a:ext cx="0" cy="3474720"/>
          </a:xfrm>
          <a:prstGeom prst="rect">
            <a:avLst/>
          </a:prstGeom>
          <a:noFill/>
          <a:ln w="19050">
            <a:solidFill>
              <a:srgbClr val="0033A0"/>
            </a:solidFill>
            <a:prstDash val="dash"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54138" y="561441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33A0"/>
                </a:solidFill>
                <a:latin typeface="Segoe UI"/>
              </a:rPr>
              <a:t>Today, Sep 25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5669280"/>
            <a:ext cx="164592" cy="16459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4944" y="564184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83"/>
                </a:solidFill>
                <a:latin typeface="Segoe UI"/>
              </a:rPr>
              <a:t>Real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417320" y="5669280"/>
            <a:ext cx="164592" cy="164592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55064" y="564184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83"/>
                </a:solidFill>
                <a:latin typeface="Segoe UI"/>
              </a:rPr>
              <a:t>Plan</a:t>
            </a:r>
          </a:p>
        </p:txBody>
      </p:sp>
      <p:sp>
        <p:nvSpPr>
          <p:cNvPr id="76" name="Diamond 75"/>
          <p:cNvSpPr/>
          <p:nvPr/>
        </p:nvSpPr>
        <p:spPr>
          <a:xfrm>
            <a:off x="2377440" y="5669280"/>
            <a:ext cx="164592" cy="164592"/>
          </a:xfrm>
          <a:prstGeom prst="diamond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15184" y="564184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83"/>
                </a:solidFill>
                <a:latin typeface="Segoe UI"/>
              </a:rPr>
              <a:t>Milestone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Level I: five topics mastered, four still open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>
                <a:solidFill>
                  <a:srgbClr val="D5FB00"/>
                </a:solidFill>
                <a:latin typeface="Segoe UI"/>
              </a:rPr>
              <a:t>What I learned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7223760" cy="324612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847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MASTERED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2494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258568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Working at the cell without risk, always with LOTOTO (lockout, tagout, tryout).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670048"/>
            <a:ext cx="6492240" cy="9144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75234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GMAW equipment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761487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Every part of a GMAW welding system, and how they work together.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172968"/>
            <a:ext cx="6492240" cy="9144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25526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Process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3264408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Keeping the essential variables under control, because they decide weld quality.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675888"/>
            <a:ext cx="6492240" cy="9144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75818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Discontinuities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767328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Reading the customer’s weld requirements, spotting NG welds and finding their cause.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178808"/>
            <a:ext cx="6492240" cy="9144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26110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Control documents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270248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WPS, PQR and parameter sheets: the approved recipe for every weld.</a:t>
            </a:r>
          </a:p>
        </p:txBody>
      </p:sp>
      <p:sp>
        <p:nvSpPr>
          <p:cNvPr id="20" name="!! Glass B"/>
          <p:cNvSpPr/>
          <p:nvPr/>
        </p:nvSpPr>
        <p:spPr>
          <a:xfrm>
            <a:off x="7818120" y="1600200"/>
            <a:ext cx="4114800" cy="3246120"/>
          </a:xfrm>
          <a:prstGeom prst="rect">
            <a:avLst/>
          </a:prstGeom>
          <a:blipFill rotWithShape="1">
            <a:blip r:embed="rId4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184708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STILL OPEN</a:t>
            </a:r>
          </a:p>
        </p:txBody>
      </p:sp>
      <p:sp>
        <p:nvSpPr>
          <p:cNvPr id="22" name="Chevron 21"/>
          <p:cNvSpPr/>
          <p:nvPr/>
        </p:nvSpPr>
        <p:spPr>
          <a:xfrm>
            <a:off x="8183879" y="2377440"/>
            <a:ext cx="128016" cy="128016"/>
          </a:xfrm>
          <a:prstGeom prst="chevron">
            <a:avLst/>
          </a:prstGeom>
          <a:solidFill>
            <a:srgbClr val="D5FB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230428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Metal transfer modes</a:t>
            </a:r>
          </a:p>
        </p:txBody>
      </p:sp>
      <p:sp>
        <p:nvSpPr>
          <p:cNvPr id="24" name="Chevron 23"/>
          <p:cNvSpPr/>
          <p:nvPr/>
        </p:nvSpPr>
        <p:spPr>
          <a:xfrm>
            <a:off x="8183879" y="2834640"/>
            <a:ext cx="128016" cy="128016"/>
          </a:xfrm>
          <a:prstGeom prst="chevron">
            <a:avLst/>
          </a:prstGeom>
          <a:solidFill>
            <a:srgbClr val="D5FB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276148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Joint geometry</a:t>
            </a:r>
          </a:p>
        </p:txBody>
      </p:sp>
      <p:sp>
        <p:nvSpPr>
          <p:cNvPr id="26" name="Chevron 25"/>
          <p:cNvSpPr/>
          <p:nvPr/>
        </p:nvSpPr>
        <p:spPr>
          <a:xfrm>
            <a:off x="8183879" y="3291840"/>
            <a:ext cx="128016" cy="128016"/>
          </a:xfrm>
          <a:prstGeom prst="chevron">
            <a:avLst/>
          </a:prstGeom>
          <a:solidFill>
            <a:srgbClr val="D5FB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321868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Welding positions</a:t>
            </a:r>
          </a:p>
        </p:txBody>
      </p:sp>
      <p:sp>
        <p:nvSpPr>
          <p:cNvPr id="28" name="Chevron 27"/>
          <p:cNvSpPr/>
          <p:nvPr/>
        </p:nvSpPr>
        <p:spPr>
          <a:xfrm>
            <a:off x="8183879" y="3749039"/>
            <a:ext cx="128016" cy="128016"/>
          </a:xfrm>
          <a:prstGeom prst="chevron">
            <a:avLst/>
          </a:prstGeom>
          <a:solidFill>
            <a:srgbClr val="D5FB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3675887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Welding symbols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422452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I close them before the exam in week 40.</a:t>
            </a:r>
          </a:p>
        </p:txBody>
      </p:sp>
      <p:sp>
        <p:nvSpPr>
          <p:cNvPr id="31" name="!! Strip"/>
          <p:cNvSpPr/>
          <p:nvPr/>
        </p:nvSpPr>
        <p:spPr>
          <a:xfrm>
            <a:off x="256032" y="4956048"/>
            <a:ext cx="11676888" cy="566928"/>
          </a:xfrm>
          <a:prstGeom prst="rect">
            <a:avLst/>
          </a:prstGeom>
          <a:blipFill rotWithShape="1">
            <a:blip r:embed="rId5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513892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5FB00"/>
                </a:solidFill>
                <a:latin typeface="Segoe UI"/>
              </a:rPr>
              <a:t>HOW I LEARNED 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5120640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616 pages of manual and standard, a practice exam, and daily failures at the cells.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>
                <a:solidFill>
                  <a:srgbClr val="051C2C"/>
                </a:solidFill>
                <a:latin typeface="Segoe UI"/>
              </a:rPr>
              <a:t>Eleven skills achieved, six in progress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>
                <a:solidFill>
                  <a:srgbClr val="0033A0"/>
                </a:solidFill>
                <a:latin typeface="Segoe UI"/>
              </a:rPr>
              <a:t>Progress on the 23 skills of the program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7543800" cy="388620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8836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3A0"/>
                </a:solidFill>
                <a:latin typeface="Segoe UI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9293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1C2C"/>
                </a:solidFill>
                <a:latin typeface="Segoe UI"/>
              </a:rPr>
              <a:t>Understands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1762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3"/>
                </a:solidFill>
                <a:latin typeface="Segoe UI"/>
              </a:rPr>
              <a:t>9 skills</a:t>
            </a:r>
          </a:p>
        </p:txBody>
      </p:sp>
      <p:sp>
        <p:nvSpPr>
          <p:cNvPr id="8" name="Oval 7"/>
          <p:cNvSpPr/>
          <p:nvPr/>
        </p:nvSpPr>
        <p:spPr>
          <a:xfrm>
            <a:off x="3154680" y="1993392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20440" y="1993392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86200" y="1993392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51960" y="1993392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1993392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83480" y="1993392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49240" y="1993392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15000" y="1993392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80760" y="1993392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651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3A0"/>
                </a:solidFill>
                <a:latin typeface="Segoe UI"/>
              </a:rPr>
              <a:t>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2697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1C2C"/>
                </a:solidFill>
                <a:latin typeface="Segoe UI"/>
              </a:rPr>
              <a:t>With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9443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3"/>
                </a:solidFill>
                <a:latin typeface="Segoe UI"/>
              </a:rPr>
              <a:t>5 skills</a:t>
            </a:r>
          </a:p>
        </p:txBody>
      </p:sp>
      <p:sp>
        <p:nvSpPr>
          <p:cNvPr id="20" name="Oval 19"/>
          <p:cNvSpPr/>
          <p:nvPr/>
        </p:nvSpPr>
        <p:spPr>
          <a:xfrm>
            <a:off x="3154680" y="2761488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20440" y="2761488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86200" y="2761488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51960" y="2761488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17720" y="2761488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34198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3A0"/>
                </a:solidFill>
                <a:latin typeface="Segoe UI"/>
              </a:rPr>
              <a:t>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46557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1C2C"/>
                </a:solidFill>
                <a:latin typeface="Segoe UI"/>
              </a:rPr>
              <a:t>Alone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3712463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3"/>
                </a:solidFill>
                <a:latin typeface="Segoe UI"/>
              </a:rPr>
              <a:t>3 skills</a:t>
            </a:r>
          </a:p>
        </p:txBody>
      </p:sp>
      <p:sp>
        <p:nvSpPr>
          <p:cNvPr id="28" name="Oval 27"/>
          <p:cNvSpPr/>
          <p:nvPr/>
        </p:nvSpPr>
        <p:spPr>
          <a:xfrm>
            <a:off x="3154680" y="3529584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20440" y="3529584"/>
            <a:ext cx="237744" cy="237744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86200" y="3529584"/>
            <a:ext cx="237744" cy="237744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4187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3A0"/>
                </a:solidFill>
                <a:latin typeface="Segoe UI"/>
              </a:rPr>
              <a:t>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42336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1C2C"/>
                </a:solidFill>
                <a:latin typeface="Segoe UI"/>
              </a:rPr>
              <a:t>Improves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44805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3"/>
                </a:solidFill>
                <a:latin typeface="Segoe UI"/>
              </a:rPr>
              <a:t>6 skills</a:t>
            </a:r>
          </a:p>
        </p:txBody>
      </p:sp>
      <p:sp>
        <p:nvSpPr>
          <p:cNvPr id="34" name="Oval 33"/>
          <p:cNvSpPr/>
          <p:nvPr/>
        </p:nvSpPr>
        <p:spPr>
          <a:xfrm>
            <a:off x="3154680" y="4297680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20440" y="4297680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86200" y="4297680"/>
            <a:ext cx="237744" cy="237744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251960" y="4297680"/>
            <a:ext cx="237744" cy="237744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617720" y="4297680"/>
            <a:ext cx="237744" cy="237744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983480" y="4297680"/>
            <a:ext cx="237744" cy="237744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54680" y="5047488"/>
            <a:ext cx="164592" cy="164592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10712" y="502005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3"/>
                </a:solidFill>
                <a:latin typeface="Segoe UI"/>
              </a:rPr>
              <a:t>Achieved</a:t>
            </a:r>
          </a:p>
        </p:txBody>
      </p:sp>
      <p:sp>
        <p:nvSpPr>
          <p:cNvPr id="42" name="Oval 41"/>
          <p:cNvSpPr/>
          <p:nvPr/>
        </p:nvSpPr>
        <p:spPr>
          <a:xfrm>
            <a:off x="4636008" y="5047488"/>
            <a:ext cx="164592" cy="164592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92040" y="502005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3"/>
                </a:solidFill>
                <a:latin typeface="Segoe UI"/>
              </a:rPr>
              <a:t>In progress</a:t>
            </a:r>
          </a:p>
        </p:txBody>
      </p:sp>
      <p:sp>
        <p:nvSpPr>
          <p:cNvPr id="44" name="Oval 43"/>
          <p:cNvSpPr/>
          <p:nvPr/>
        </p:nvSpPr>
        <p:spPr>
          <a:xfrm>
            <a:off x="6117336" y="5047488"/>
            <a:ext cx="164592" cy="164592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3368" y="502005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3"/>
                </a:solidFill>
                <a:latin typeface="Segoe UI"/>
              </a:rPr>
              <a:t>Not started</a:t>
            </a:r>
          </a:p>
        </p:txBody>
      </p:sp>
      <p:sp>
        <p:nvSpPr>
          <p:cNvPr id="46" name="!! Glass B"/>
          <p:cNvSpPr/>
          <p:nvPr/>
        </p:nvSpPr>
        <p:spPr>
          <a:xfrm>
            <a:off x="8092440" y="1600200"/>
            <a:ext cx="3840480" cy="388620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8200" y="19019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ON THE FLOOR TODAY</a:t>
            </a:r>
          </a:p>
        </p:txBody>
      </p:sp>
      <p:sp>
        <p:nvSpPr>
          <p:cNvPr id="48" name="Chevron 47"/>
          <p:cNvSpPr/>
          <p:nvPr/>
        </p:nvSpPr>
        <p:spPr>
          <a:xfrm>
            <a:off x="8458200" y="2478024"/>
            <a:ext cx="128016" cy="128016"/>
          </a:xfrm>
          <a:prstGeom prst="chevron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32520" y="2395728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51C2C"/>
                </a:solidFill>
                <a:latin typeface="Segoe UI"/>
              </a:rPr>
              <a:t>Changing welding consumables</a:t>
            </a:r>
          </a:p>
        </p:txBody>
      </p:sp>
      <p:sp>
        <p:nvSpPr>
          <p:cNvPr id="50" name="Chevron 49"/>
          <p:cNvSpPr/>
          <p:nvPr/>
        </p:nvSpPr>
        <p:spPr>
          <a:xfrm>
            <a:off x="8458200" y="3209544"/>
            <a:ext cx="128016" cy="128016"/>
          </a:xfrm>
          <a:prstGeom prst="chevron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32520" y="3127248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51C2C"/>
                </a:solidFill>
                <a:latin typeface="Segoe UI"/>
              </a:rPr>
              <a:t>Adjusting the key welding settings within their ranges</a:t>
            </a:r>
          </a:p>
        </p:txBody>
      </p:sp>
      <p:sp>
        <p:nvSpPr>
          <p:cNvPr id="52" name="Chevron 51"/>
          <p:cNvSpPr/>
          <p:nvPr/>
        </p:nvSpPr>
        <p:spPr>
          <a:xfrm>
            <a:off x="8458200" y="3941064"/>
            <a:ext cx="128016" cy="128016"/>
          </a:xfrm>
          <a:prstGeom prst="chevron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32520" y="3858768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51C2C"/>
                </a:solidFill>
                <a:latin typeface="Segoe UI"/>
              </a:rPr>
              <a:t>Closing ANDON calls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58200" y="49834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33A0"/>
                </a:solidFill>
                <a:latin typeface="Segoe UI"/>
              </a:rPr>
              <a:t>Next: Level I exam, week 40.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Most of my time goes to a program that is 90% ready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>
                <a:solidFill>
                  <a:srgbClr val="D5FB00"/>
                </a:solidFill>
                <a:latin typeface="Segoe UI"/>
              </a:rPr>
              <a:t>My time on the floor, and where the program stands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4754880" cy="388620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5400" b="1" i="0" dirty="0">
                <a:solidFill>
                  <a:srgbClr val="D5FB00"/>
                </a:solidFill>
                <a:latin typeface="Segoe UI"/>
              </a:rPr>
              <a:t>60%</a:t>
            </a:r>
            <a:endParaRPr sz="5400" b="1" i="0" dirty="0">
              <a:solidFill>
                <a:srgbClr val="D5FB00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269748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of my time: industrialization, with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429000"/>
            <a:ext cx="4023360" cy="146304"/>
          </a:xfrm>
          <a:prstGeom prst="rect">
            <a:avLst/>
          </a:prstGeom>
          <a:solidFill>
            <a:srgbClr val="C6CDD1">
              <a:alpha val="3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3429000"/>
            <a:ext cx="2414016" cy="146304"/>
          </a:xfrm>
          <a:prstGeom prst="rect">
            <a:avLst/>
          </a:prstGeom>
          <a:solidFill>
            <a:srgbClr val="D5FB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388620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43484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Support at the robotic cells: stops, adjustments and ANDON calls.</a:t>
            </a:r>
          </a:p>
        </p:txBody>
      </p:sp>
      <p:sp>
        <p:nvSpPr>
          <p:cNvPr id="11" name="!! Glass B"/>
          <p:cNvSpPr/>
          <p:nvPr/>
        </p:nvSpPr>
        <p:spPr>
          <a:xfrm>
            <a:off x="5303520" y="1600200"/>
            <a:ext cx="6629400" cy="3886200"/>
          </a:xfrm>
          <a:prstGeom prst="rect">
            <a:avLst/>
          </a:prstGeom>
          <a:blipFill rotWithShape="1">
            <a:blip r:embed="rId4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0" y="1901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THE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304288"/>
            <a:ext cx="5897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>
                <a:solidFill>
                  <a:srgbClr val="FFFFFF"/>
                </a:solidFill>
                <a:latin typeface="Segoe UI"/>
              </a:rPr>
              <a:t>Industrialization and successful PPAP runs of the MY27 Cummins DOC and DPF program, together with Engineering.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3310128"/>
            <a:ext cx="1097280" cy="27432"/>
          </a:xfrm>
          <a:prstGeom prst="rect">
            <a:avLst/>
          </a:prstGeom>
          <a:solidFill>
            <a:srgbClr val="D5FB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35478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PROGRAM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913632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D5FB00"/>
                </a:solidFill>
                <a:latin typeface="Segoe UI"/>
              </a:rPr>
              <a:t>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986784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ready to launch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Start of production planned for January 2027.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4846320"/>
            <a:ext cx="5897880" cy="146304"/>
          </a:xfrm>
          <a:prstGeom prst="rect">
            <a:avLst/>
          </a:prstGeom>
          <a:solidFill>
            <a:srgbClr val="C6CDD1">
              <a:alpha val="30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0" y="4846320"/>
            <a:ext cx="5308092" cy="146304"/>
          </a:xfrm>
          <a:prstGeom prst="rect">
            <a:avLst/>
          </a:prstGeom>
          <a:solidFill>
            <a:srgbClr val="D5FB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 dirty="0">
                <a:solidFill>
                  <a:srgbClr val="051C2C"/>
                </a:solidFill>
                <a:latin typeface="Segoe UI"/>
              </a:rPr>
              <a:t>Improvement idea: from a manual booth to the 4M cell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 dirty="0">
                <a:solidFill>
                  <a:srgbClr val="0033A0"/>
                </a:solidFill>
                <a:latin typeface="Segoe UI"/>
              </a:rPr>
              <a:t>Improvement idea and implementation  |  Done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5806440" cy="388620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901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286000"/>
            <a:ext cx="51206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051C2C"/>
                </a:solidFill>
              </a:rPr>
              <a:t>Long weld seams were hard to control by hand, the welder worked in uncomfortable positions, and welding alone took 146 s per part.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2004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547872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051C2C"/>
                </a:solidFill>
                <a:latin typeface="Segoe UI"/>
              </a:rPr>
              <a:t>Move the process to 4M, an automatic robotic cell, with the same fixture.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4206240"/>
            <a:ext cx="1097280" cy="2743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43891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754880"/>
            <a:ext cx="5120640" cy="455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0033A0"/>
                </a:solidFill>
                <a:latin typeface="Segoe UI"/>
              </a:rPr>
              <a:t>Running in 4M today. The robot welds, and the team member only loads and unloads.</a:t>
            </a:r>
          </a:p>
        </p:txBody>
      </p:sp>
      <p:sp>
        <p:nvSpPr>
          <p:cNvPr id="12" name="!! Glass B"/>
          <p:cNvSpPr/>
          <p:nvPr/>
        </p:nvSpPr>
        <p:spPr>
          <a:xfrm>
            <a:off x="7423354" y="1600200"/>
            <a:ext cx="3529781" cy="1847088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23354" y="1600199"/>
            <a:ext cx="3529781" cy="1847089"/>
          </a:xfrm>
          <a:prstGeom prst="rect">
            <a:avLst/>
          </a:prstGeom>
          <a:noFill/>
          <a:ln w="9525">
            <a:solidFill>
              <a:srgbClr val="6B7A83">
                <a:alpha val="3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!! Glass C"/>
          <p:cNvSpPr/>
          <p:nvPr/>
        </p:nvSpPr>
        <p:spPr>
          <a:xfrm>
            <a:off x="7423354" y="3796898"/>
            <a:ext cx="3529781" cy="1847089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23354" y="3803903"/>
            <a:ext cx="3529781" cy="1840083"/>
          </a:xfrm>
          <a:prstGeom prst="rect">
            <a:avLst/>
          </a:prstGeom>
          <a:noFill/>
          <a:ln w="9525">
            <a:solidFill>
              <a:srgbClr val="6B7A83">
                <a:alpha val="3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DC7AA8-95CD-8122-6348-688181C21A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333" b="33733"/>
          <a:stretch>
            <a:fillRect/>
          </a:stretch>
        </p:blipFill>
        <p:spPr>
          <a:xfrm>
            <a:off x="7569498" y="3906652"/>
            <a:ext cx="3235427" cy="166420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0F49872-18CB-D46F-BC3A-DE7FC57FC1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339" t="17686" r="12338" b="6072"/>
          <a:stretch>
            <a:fillRect/>
          </a:stretch>
        </p:blipFill>
        <p:spPr>
          <a:xfrm>
            <a:off x="7568985" y="1711303"/>
            <a:ext cx="3118467" cy="16642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Same part, 47% less cycle time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>
                <a:solidFill>
                  <a:srgbClr val="D5FB00"/>
                </a:solidFill>
                <a:latin typeface="Segoe UI"/>
              </a:rPr>
              <a:t>Improvement  |  Results, in seconds per part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7543800" cy="388620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901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CYCLE TIME PER 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95728"/>
            <a:ext cx="3657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FFFFFF"/>
                </a:solidFill>
                <a:latin typeface="Segoe UI"/>
              </a:rPr>
              <a:t>Manual </a:t>
            </a:r>
            <a:r>
              <a:rPr lang="en-US" sz="1400" b="1" i="0" dirty="0">
                <a:solidFill>
                  <a:srgbClr val="FFFFFF"/>
                </a:solidFill>
                <a:latin typeface="Segoe UI"/>
              </a:rPr>
              <a:t>welding process</a:t>
            </a:r>
            <a:endParaRPr sz="14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1792" y="2743200"/>
            <a:ext cx="603188" cy="420624"/>
          </a:xfrm>
          <a:prstGeom prst="rect">
            <a:avLst/>
          </a:prstGeom>
          <a:solidFill>
            <a:srgbClr val="C6CDD1">
              <a:alpha val="3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2412" y="2743200"/>
            <a:ext cx="4576099" cy="420624"/>
          </a:xfrm>
          <a:prstGeom prst="rect">
            <a:avLst/>
          </a:prstGeom>
          <a:solidFill>
            <a:srgbClr val="C6CDD1">
              <a:alpha val="7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1C2C"/>
                </a:solidFill>
                <a:latin typeface="Segoe UI"/>
              </a:rPr>
              <a:t>146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5943" y="2743200"/>
            <a:ext cx="224816" cy="420624"/>
          </a:xfrm>
          <a:prstGeom prst="rect">
            <a:avLst/>
          </a:prstGeom>
          <a:solidFill>
            <a:srgbClr val="C6CDD1">
              <a:alpha val="3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79776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174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51129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4M robotic cell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3858768"/>
            <a:ext cx="603188" cy="420624"/>
          </a:xfrm>
          <a:prstGeom prst="rect">
            <a:avLst/>
          </a:prstGeom>
          <a:solidFill>
            <a:srgbClr val="C6CDD1">
              <a:alpha val="3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52412" y="3858768"/>
            <a:ext cx="2022085" cy="420624"/>
          </a:xfrm>
          <a:prstGeom prst="rect">
            <a:avLst/>
          </a:prstGeom>
          <a:solidFill>
            <a:srgbClr val="D5FB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1C2C"/>
                </a:solidFill>
                <a:latin typeface="Segoe UI"/>
              </a:rPr>
              <a:t>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01929" y="3858768"/>
            <a:ext cx="224816" cy="420624"/>
          </a:xfrm>
          <a:prstGeom prst="rect">
            <a:avLst/>
          </a:prstGeom>
          <a:solidFill>
            <a:srgbClr val="C6CDD1">
              <a:alpha val="3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3906" y="389534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rgbClr val="D5FB00"/>
                </a:solidFill>
                <a:latin typeface="Segoe UI"/>
              </a:rPr>
              <a:t>93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4681728"/>
            <a:ext cx="164592" cy="164592"/>
          </a:xfrm>
          <a:prstGeom prst="rect">
            <a:avLst/>
          </a:prstGeom>
          <a:solidFill>
            <a:srgbClr val="C6CDD1">
              <a:alpha val="3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4654296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Load and unload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42032" y="4681728"/>
            <a:ext cx="164592" cy="164592"/>
          </a:xfrm>
          <a:prstGeom prst="rect">
            <a:avLst/>
          </a:prstGeom>
          <a:solidFill>
            <a:srgbClr val="C6CDD1">
              <a:alpha val="7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98064" y="4654296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Welding by hand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2272" y="4681728"/>
            <a:ext cx="164592" cy="164592"/>
          </a:xfrm>
          <a:prstGeom prst="rect">
            <a:avLst/>
          </a:prstGeom>
          <a:solidFill>
            <a:srgbClr val="D5FB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18304" y="4654296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Welding by robot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010912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BA8"/>
                </a:solidFill>
                <a:latin typeface="Segoe UI"/>
              </a:rPr>
              <a:t>Same fixture, so loading and unloading take the same time. The gain is all in the welding.</a:t>
            </a:r>
          </a:p>
        </p:txBody>
      </p:sp>
      <p:sp>
        <p:nvSpPr>
          <p:cNvPr id="23" name="!! Glass B"/>
          <p:cNvSpPr/>
          <p:nvPr/>
        </p:nvSpPr>
        <p:spPr>
          <a:xfrm>
            <a:off x="8092440" y="1600200"/>
            <a:ext cx="3840480" cy="3886200"/>
          </a:xfrm>
          <a:prstGeom prst="rect">
            <a:avLst/>
          </a:prstGeom>
          <a:blipFill rotWithShape="1">
            <a:blip r:embed="rId4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58200" y="184708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D5FB00"/>
                </a:solidFill>
                <a:latin typeface="Segoe UI"/>
              </a:rPr>
              <a:t>−47%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45059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cycle time, 174 s to 93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03580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D5FB00"/>
                </a:solidFill>
                <a:latin typeface="Segoe UI"/>
              </a:rPr>
              <a:t>−56%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63931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welding time, 146 s to 65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22452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D5FB00"/>
                </a:solidFill>
                <a:latin typeface="Segoe UI"/>
              </a:rPr>
              <a:t>81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82803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saved on every part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>
                <a:solidFill>
                  <a:srgbClr val="051C2C"/>
                </a:solidFill>
                <a:latin typeface="Segoe UI"/>
              </a:rPr>
              <a:t>What I would change in how setters learn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>
                <a:solidFill>
                  <a:srgbClr val="0033A0"/>
                </a:solidFill>
                <a:latin typeface="Segoe UI"/>
              </a:rPr>
              <a:t>Final project  |  Training process update, a proposal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91640"/>
            <a:ext cx="3703320" cy="306324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" y="196596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33A0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26517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51C2C"/>
                </a:solidFill>
                <a:latin typeface="Segoe UI"/>
              </a:rPr>
              <a:t>Reviewed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3108960"/>
            <a:ext cx="304495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A83"/>
                </a:solidFill>
                <a:latin typeface="Segoe UI"/>
              </a:rPr>
              <a:t>616 pages of training manual and customer standard, page by page, against what Level I asks.</a:t>
            </a:r>
          </a:p>
        </p:txBody>
      </p:sp>
      <p:sp>
        <p:nvSpPr>
          <p:cNvPr id="8" name="!! Card 2"/>
          <p:cNvSpPr/>
          <p:nvPr/>
        </p:nvSpPr>
        <p:spPr>
          <a:xfrm>
            <a:off x="4251960" y="1691640"/>
            <a:ext cx="3703320" cy="306324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81144" y="196596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33A0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6517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51C2C"/>
                </a:solidFill>
                <a:latin typeface="Segoe UI"/>
              </a:rPr>
              <a:t>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3108960"/>
            <a:ext cx="304495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6B7A83"/>
                </a:solidFill>
                <a:latin typeface="Segoe UI"/>
              </a:rPr>
              <a:t>Gaps: topics the exam asks about that the material barely covers, and an error in one key table.</a:t>
            </a:r>
          </a:p>
        </p:txBody>
      </p:sp>
      <p:sp>
        <p:nvSpPr>
          <p:cNvPr id="12" name="!! Glass B"/>
          <p:cNvSpPr/>
          <p:nvPr/>
        </p:nvSpPr>
        <p:spPr>
          <a:xfrm>
            <a:off x="8247888" y="1691640"/>
            <a:ext cx="3703320" cy="306324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77072" y="196596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33A0"/>
                </a:solidFill>
                <a:latin typeface="Segoe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26517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51C2C"/>
                </a:solidFill>
                <a:latin typeface="Segoe UI"/>
              </a:rPr>
              <a:t>Rebuilt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108960"/>
            <a:ext cx="304495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6B7A83"/>
                </a:solidFill>
                <a:latin typeface="Segoe UI"/>
              </a:rPr>
              <a:t>The schedule, in the plant’s own format, so plan and reality can be compared week by week.</a:t>
            </a:r>
          </a:p>
        </p:txBody>
      </p:sp>
      <p:sp>
        <p:nvSpPr>
          <p:cNvPr id="16" name="!! Strip"/>
          <p:cNvSpPr/>
          <p:nvPr/>
        </p:nvSpPr>
        <p:spPr>
          <a:xfrm>
            <a:off x="256032" y="4956048"/>
            <a:ext cx="11676888" cy="566928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513892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33A0"/>
                </a:solidFill>
                <a:latin typeface="Segoe UI"/>
              </a:rPr>
              <a:t>PROPOSAL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51206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51C2C"/>
                </a:solidFill>
                <a:latin typeface="Segoe UI"/>
              </a:rPr>
              <a:t>Use the corrected material and the new schedule with the next group of setters.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Next: from knowing it to doing it alone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>
                <a:solidFill>
                  <a:srgbClr val="D5FB00"/>
                </a:solidFill>
                <a:latin typeface="Segoe UI"/>
              </a:rPr>
              <a:t>What comes next, until January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7223760" cy="388620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901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NEXT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591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5FB00"/>
                </a:solidFill>
                <a:latin typeface="Segoe UI"/>
              </a:rPr>
              <a:t>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95728"/>
            <a:ext cx="5943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FFFFFF"/>
                </a:solidFill>
                <a:latin typeface="Segoe UI"/>
              </a:rPr>
              <a:t>Validate settings and find defects at the cell, with support.</a:t>
            </a:r>
            <a:endParaRPr lang="en-US" sz="14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October, validation on the floor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3191256"/>
            <a:ext cx="6492240" cy="9144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33192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5FB00"/>
                </a:solidFill>
                <a:latin typeface="Segoe UI"/>
              </a:rPr>
              <a:t>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55848"/>
            <a:ext cx="5943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FFFFFF"/>
                </a:solidFill>
                <a:latin typeface="Segoe UI"/>
              </a:rPr>
              <a:t>Create and set up robot programs on my own (SKS and Miller).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68503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November to December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4151376"/>
            <a:ext cx="6492240" cy="9144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42793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5FB00"/>
                </a:solidFill>
                <a:latin typeface="Segoe UI"/>
              </a:rP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15968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FFFFFF"/>
                </a:solidFill>
                <a:latin typeface="Segoe UI"/>
              </a:rPr>
              <a:t>Solve problems, share what I learn, keep improving.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64515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November to December, already started with 4M</a:t>
            </a:r>
          </a:p>
        </p:txBody>
      </p:sp>
      <p:sp>
        <p:nvSpPr>
          <p:cNvPr id="17" name="!! Glass B"/>
          <p:cNvSpPr/>
          <p:nvPr/>
        </p:nvSpPr>
        <p:spPr>
          <a:xfrm>
            <a:off x="7818120" y="1600200"/>
            <a:ext cx="4114800" cy="3886200"/>
          </a:xfrm>
          <a:prstGeom prst="rect">
            <a:avLst/>
          </a:prstGeom>
          <a:blipFill rotWithShape="1">
            <a:blip r:embed="rId4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79" y="1901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WHAT I NEED</a:t>
            </a:r>
          </a:p>
        </p:txBody>
      </p:sp>
      <p:sp>
        <p:nvSpPr>
          <p:cNvPr id="19" name="Chevron 18"/>
          <p:cNvSpPr/>
          <p:nvPr/>
        </p:nvSpPr>
        <p:spPr>
          <a:xfrm>
            <a:off x="8183879" y="2478024"/>
            <a:ext cx="128016" cy="128016"/>
          </a:xfrm>
          <a:prstGeom prst="chevron">
            <a:avLst/>
          </a:prstGeom>
          <a:solidFill>
            <a:srgbClr val="D5FB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2395728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Level I exam confirmed, week 40</a:t>
            </a:r>
          </a:p>
        </p:txBody>
      </p:sp>
      <p:sp>
        <p:nvSpPr>
          <p:cNvPr id="21" name="Chevron 20"/>
          <p:cNvSpPr/>
          <p:nvPr/>
        </p:nvSpPr>
        <p:spPr>
          <a:xfrm>
            <a:off x="8183879" y="3209544"/>
            <a:ext cx="128016" cy="128016"/>
          </a:xfrm>
          <a:prstGeom prst="chevron">
            <a:avLst/>
          </a:prstGeom>
          <a:solidFill>
            <a:srgbClr val="D5FB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3127248"/>
            <a:ext cx="32461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FFFFFF"/>
                </a:solidFill>
                <a:latin typeface="Segoe UI"/>
              </a:rPr>
              <a:t>Supervised time programming robots in SKS and Miller</a:t>
            </a:r>
            <a:endParaRPr sz="14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3" name="Chevron 22"/>
          <p:cNvSpPr/>
          <p:nvPr/>
        </p:nvSpPr>
        <p:spPr>
          <a:xfrm>
            <a:off x="8183879" y="3941064"/>
            <a:ext cx="128016" cy="128016"/>
          </a:xfrm>
          <a:prstGeom prst="chevron">
            <a:avLst/>
          </a:prstGeom>
          <a:solidFill>
            <a:srgbClr val="D5FB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58200" y="3858768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Your feedback on the training proposal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sz="2800" b="1">
                <a:solidFill>
                  <a:srgbClr val="051C2C"/>
                </a:solidFill>
                <a:latin typeface="Segoe UI"/>
              </a:rPr>
              <a:t>Conclusions and next steps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sz="1300" b="0" dirty="0">
                <a:solidFill>
                  <a:srgbClr val="0033A0"/>
                </a:solidFill>
                <a:latin typeface="Segoe UI"/>
              </a:rPr>
              <a:t>What is in place, and what comes next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5806440" cy="370332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901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IN PLACE</a:t>
            </a:r>
          </a:p>
        </p:txBody>
      </p:sp>
      <p:sp>
        <p:nvSpPr>
          <p:cNvPr id="6" name="!! Glass B"/>
          <p:cNvSpPr/>
          <p:nvPr/>
        </p:nvSpPr>
        <p:spPr>
          <a:xfrm>
            <a:off x="6382512" y="1600200"/>
            <a:ext cx="5550408" cy="370332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48272" y="1901952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0033A0"/>
                </a:solidFill>
                <a:latin typeface="Segoe UI"/>
              </a:rPr>
              <a:t>NEXT</a:t>
            </a:r>
            <a:r>
              <a:rPr lang="en-US" sz="1600" b="1" i="0" dirty="0">
                <a:solidFill>
                  <a:srgbClr val="0033A0"/>
                </a:solidFill>
                <a:latin typeface="Segoe UI"/>
              </a:rPr>
              <a:t> STEPS</a:t>
            </a:r>
            <a:endParaRPr sz="1600" b="1" i="0" dirty="0">
              <a:solidFill>
                <a:srgbClr val="0033A0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" y="2395728"/>
            <a:ext cx="5074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>
                <a:solidFill>
                  <a:srgbClr val="051C2C"/>
                </a:solidFill>
              </a:rPr>
              <a:t>I studied all of Level I and mastered five of its nine topics, and I practiced the five Level L skills with my tutor and the technicians.</a:t>
            </a:r>
            <a:endParaRPr sz="1400" b="0" i="0" dirty="0">
              <a:solidFill>
                <a:srgbClr val="051C2C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792" y="3310128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051C2C"/>
                </a:solidFill>
                <a:latin typeface="Segoe UI"/>
              </a:rPr>
              <a:t>A manual weld moved to the 4M robotic cell: 47% less cycle time, less strain.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224528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051C2C"/>
                </a:solidFill>
                <a:latin typeface="Segoe UI"/>
              </a:rPr>
              <a:t>A reviewed study path, and a schedule that shows plan versus reality.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2395728"/>
            <a:ext cx="48188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051C2C"/>
                </a:solidFill>
                <a:latin typeface="Segoe UI"/>
              </a:rPr>
              <a:t>Close the four open Level I topics and pass the exam in week 40.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3310128"/>
            <a:ext cx="48188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051C2C"/>
                </a:solidFill>
                <a:latin typeface="Segoe UI"/>
              </a:rPr>
              <a:t>Validate Level L on the floor in October, then reach U and O before January.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224528"/>
            <a:ext cx="481888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051C2C"/>
                </a:solidFill>
                <a:latin typeface="Segoe UI"/>
              </a:rPr>
              <a:t>Keep measuring 4M, and find the next weld </a:t>
            </a:r>
            <a:r>
              <a:rPr lang="es-MX" sz="1400" b="0" i="0" dirty="0" err="1">
                <a:solidFill>
                  <a:srgbClr val="051C2C"/>
                </a:solidFill>
                <a:latin typeface="Segoe UI"/>
              </a:rPr>
              <a:t>or</a:t>
            </a:r>
            <a:r>
              <a:rPr lang="es-MX" sz="1400" b="0" i="0" dirty="0">
                <a:solidFill>
                  <a:srgbClr val="051C2C"/>
                </a:solidFill>
                <a:latin typeface="Segoe UI"/>
              </a:rPr>
              <a:t> </a:t>
            </a:r>
            <a:r>
              <a:rPr lang="es-MX" sz="1400" b="0" i="0" dirty="0" err="1">
                <a:solidFill>
                  <a:srgbClr val="051C2C"/>
                </a:solidFill>
                <a:latin typeface="Segoe UI"/>
              </a:rPr>
              <a:t>process</a:t>
            </a:r>
            <a:r>
              <a:rPr lang="es-MX" sz="1400" b="0" i="0" dirty="0">
                <a:solidFill>
                  <a:srgbClr val="051C2C"/>
                </a:solidFill>
                <a:latin typeface="Segoe UI"/>
              </a:rPr>
              <a:t> </a:t>
            </a:r>
            <a:r>
              <a:rPr sz="1400" b="0" i="0" dirty="0">
                <a:solidFill>
                  <a:srgbClr val="051C2C"/>
                </a:solidFill>
                <a:latin typeface="Segoe UI"/>
              </a:rPr>
              <a:t>to automate.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71500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33A0"/>
                </a:solidFill>
                <a:latin typeface="Segoe UI"/>
              </a:rPr>
              <a:t>I came to learn robotic welding, and I am already improving it.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Title 1"/>
          <p:cNvSpPr txBox="1"/>
          <p:nvPr/>
        </p:nvSpPr>
        <p:spPr>
          <a:xfrm>
            <a:off x="0" y="470916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40680"/>
            <a:ext cx="121916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6CDD1"/>
                </a:solidFill>
                <a:latin typeface="Segoe UI"/>
              </a:rPr>
              <a:t>Diego Adair de León Márquez   |   Engineering Department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1_White">
  <a:themeElements>
    <a:clrScheme name="Tenneco Color 25">
      <a:dk1>
        <a:srgbClr val="000000"/>
      </a:dk1>
      <a:lt1>
        <a:srgbClr val="FFFFFF"/>
      </a:lt1>
      <a:dk2>
        <a:srgbClr val="051C2C"/>
      </a:dk2>
      <a:lt2>
        <a:srgbClr val="E8EBEC"/>
      </a:lt2>
      <a:accent1>
        <a:srgbClr val="0033A0"/>
      </a:accent1>
      <a:accent2>
        <a:srgbClr val="D5FB00"/>
      </a:accent2>
      <a:accent3>
        <a:srgbClr val="75F0E7"/>
      </a:accent3>
      <a:accent4>
        <a:srgbClr val="001D34"/>
      </a:accent4>
      <a:accent5>
        <a:srgbClr val="C6CDD1"/>
      </a:accent5>
      <a:accent6>
        <a:srgbClr val="0033A0"/>
      </a:accent6>
      <a:hlink>
        <a:srgbClr val="005CA6"/>
      </a:hlink>
      <a:folHlink>
        <a:srgbClr val="00B050"/>
      </a:folHlink>
    </a:clrScheme>
    <a:fontScheme name="Tenneco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>
            <a:solidFill>
              <a:schemeClr val="accent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FB157E22-A02F-4FAF-A2FB-73BD9D9D4FFB}" vid="{EF3754FB-E33A-4020-9705-0817439DFC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0B4C10F8A3B04DA4DBE0F0A3904D74" ma:contentTypeVersion="16" ma:contentTypeDescription="Create a new document." ma:contentTypeScope="" ma:versionID="52f2129a391aed5232fef677c67f3900">
  <xsd:schema xmlns:xsd="http://www.w3.org/2001/XMLSchema" xmlns:xs="http://www.w3.org/2001/XMLSchema" xmlns:p="http://schemas.microsoft.com/office/2006/metadata/properties" xmlns:ns3="5c14cc6d-e40f-4b2d-a417-eec04fa8d460" xmlns:ns4="ceee2a82-2205-4a84-b9c6-2fd18c27ec94" targetNamespace="http://schemas.microsoft.com/office/2006/metadata/properties" ma:root="true" ma:fieldsID="f156e9a2547d43c7295749e76bd37f10" ns3:_="" ns4:_="">
    <xsd:import namespace="5c14cc6d-e40f-4b2d-a417-eec04fa8d460"/>
    <xsd:import namespace="ceee2a82-2205-4a84-b9c6-2fd18c27ec9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14cc6d-e40f-4b2d-a417-eec04fa8d4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ee2a82-2205-4a84-b9c6-2fd18c27ec9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c14cc6d-e40f-4b2d-a417-eec04fa8d46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66201A-1EA5-482A-9784-C5B52D8AB3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14cc6d-e40f-4b2d-a417-eec04fa8d460"/>
    <ds:schemaRef ds:uri="ceee2a82-2205-4a84-b9c6-2fd18c27ec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5D069B-D1CD-4CA8-B708-14136CD06A0E}">
  <ds:schemaRefs>
    <ds:schemaRef ds:uri="ceee2a82-2205-4a84-b9c6-2fd18c27ec94"/>
    <ds:schemaRef ds:uri="http://schemas.microsoft.com/office/2006/metadata/properties"/>
    <ds:schemaRef ds:uri="http://purl.org/dc/terms/"/>
    <ds:schemaRef ds:uri="http://purl.org/dc/elements/1.1/"/>
    <ds:schemaRef ds:uri="5c14cc6d-e40f-4b2d-a417-eec04fa8d460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9CD2D24-FE7C-438A-8DC6-540DB837867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Tenneco PPT template.February 2024</Template>
  <TotalTime>4163</TotalTime>
  <Words>1667</Words>
  <Application>Microsoft Office PowerPoint</Application>
  <PresentationFormat>Widescreen</PresentationFormat>
  <Paragraphs>221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Segoe UI</vt:lpstr>
      <vt:lpstr>Wingdings</vt:lpstr>
      <vt:lpstr>1_White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Tenneco Enterprise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Neely, Marissa</dc:creator>
  <cp:lastModifiedBy>Robledo, Luis Fernando</cp:lastModifiedBy>
  <cp:revision>29</cp:revision>
  <dcterms:created xsi:type="dcterms:W3CDTF">2025-02-07T15:41:40Z</dcterms:created>
  <dcterms:modified xsi:type="dcterms:W3CDTF">2026-09-25T02:22:16Z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  <property fmtid="{D5CDD505-2E9C-101B-9397-08002B2CF9AE}" pid="4" name="TaxKeyword">
    <vt:lpwstr/>
  </property>
  <property fmtid="{D5CDD505-2E9C-101B-9397-08002B2CF9AE}" pid="5" name="Topic">
    <vt:lpwstr/>
  </property>
  <property fmtid="{D5CDD505-2E9C-101B-9397-08002B2CF9AE}" pid="6" name="ContentTypeId">
    <vt:lpwstr>0x010100720B4C10F8A3B04DA4DBE0F0A3904D74</vt:lpwstr>
  </property>
  <property fmtid="{D5CDD505-2E9C-101B-9397-08002B2CF9AE}" pid="7" name="Team">
    <vt:lpwstr>4;#Communications|55433342-d803-4d30-a5b5-f7b631e0c9e4</vt:lpwstr>
  </property>
  <property fmtid="{D5CDD505-2E9C-101B-9397-08002B2CF9AE}" pid="8" name="ResourceType">
    <vt:lpwstr/>
  </property>
  <property fmtid="{D5CDD505-2E9C-101B-9397-08002B2CF9AE}" pid="9" name="TeamType">
    <vt:lpwstr>6;#Function|ae29062b-af98-4a35-a748-b0a4bdb4b1fa</vt:lpwstr>
  </property>
  <property fmtid="{D5CDD505-2E9C-101B-9397-08002B2CF9AE}" pid="10" name="Languages">
    <vt:lpwstr>1;#|94dd1d05-d422-4901-bbbe-44330005c902</vt:lpwstr>
  </property>
  <property fmtid="{D5CDD505-2E9C-101B-9397-08002B2CF9AE}" pid="11" name="MSIP_Label_7303cfa0-d896-4cc6-b4f0-0d6fcb44e974_Enabled">
    <vt:lpwstr>true</vt:lpwstr>
  </property>
  <property fmtid="{D5CDD505-2E9C-101B-9397-08002B2CF9AE}" pid="12" name="MSIP_Label_7303cfa0-d896-4cc6-b4f0-0d6fcb44e974_SetDate">
    <vt:lpwstr>2022-03-08T15:09:46Z</vt:lpwstr>
  </property>
  <property fmtid="{D5CDD505-2E9C-101B-9397-08002B2CF9AE}" pid="13" name="MSIP_Label_7303cfa0-d896-4cc6-b4f0-0d6fcb44e974_Method">
    <vt:lpwstr>Standard</vt:lpwstr>
  </property>
  <property fmtid="{D5CDD505-2E9C-101B-9397-08002B2CF9AE}" pid="14" name="MSIP_Label_7303cfa0-d896-4cc6-b4f0-0d6fcb44e974_Name">
    <vt:lpwstr>General Not Encrypted</vt:lpwstr>
  </property>
  <property fmtid="{D5CDD505-2E9C-101B-9397-08002B2CF9AE}" pid="15" name="MSIP_Label_7303cfa0-d896-4cc6-b4f0-0d6fcb44e974_SiteId">
    <vt:lpwstr>a33489ef-a7bc-48cc-9660-8a2d7703dcc7</vt:lpwstr>
  </property>
  <property fmtid="{D5CDD505-2E9C-101B-9397-08002B2CF9AE}" pid="16" name="MSIP_Label_7303cfa0-d896-4cc6-b4f0-0d6fcb44e974_ActionId">
    <vt:lpwstr>1343a2ce-de59-4d00-aa98-518ac6d980ae</vt:lpwstr>
  </property>
  <property fmtid="{D5CDD505-2E9C-101B-9397-08002B2CF9AE}" pid="17" name="MSIP_Label_7303cfa0-d896-4cc6-b4f0-0d6fcb44e974_ContentBits">
    <vt:lpwstr>0</vt:lpwstr>
  </property>
  <property fmtid="{D5CDD505-2E9C-101B-9397-08002B2CF9AE}" pid="18" name="MediaServiceImageTags">
    <vt:lpwstr/>
  </property>
  <property fmtid="{D5CDD505-2E9C-101B-9397-08002B2CF9AE}" pid="19" name="MSIP_Label_40aec7cc-352d-4b45-bfa1-c0f7d77959a8_Enabled">
    <vt:lpwstr>true</vt:lpwstr>
  </property>
  <property fmtid="{D5CDD505-2E9C-101B-9397-08002B2CF9AE}" pid="20" name="MSIP_Label_40aec7cc-352d-4b45-bfa1-c0f7d77959a8_SetDate">
    <vt:lpwstr>2025-02-25T20:55:55Z</vt:lpwstr>
  </property>
  <property fmtid="{D5CDD505-2E9C-101B-9397-08002B2CF9AE}" pid="21" name="MSIP_Label_40aec7cc-352d-4b45-bfa1-c0f7d77959a8_Method">
    <vt:lpwstr>Privileged</vt:lpwstr>
  </property>
  <property fmtid="{D5CDD505-2E9C-101B-9397-08002B2CF9AE}" pid="22" name="MSIP_Label_40aec7cc-352d-4b45-bfa1-c0f7d77959a8_Name">
    <vt:lpwstr>General Confidential - Tenneco Confidential</vt:lpwstr>
  </property>
  <property fmtid="{D5CDD505-2E9C-101B-9397-08002B2CF9AE}" pid="23" name="MSIP_Label_40aec7cc-352d-4b45-bfa1-c0f7d77959a8_SiteId">
    <vt:lpwstr>6eec918b-f654-44a7-ac1a-abfdb64e694e</vt:lpwstr>
  </property>
  <property fmtid="{D5CDD505-2E9C-101B-9397-08002B2CF9AE}" pid="24" name="MSIP_Label_40aec7cc-352d-4b45-bfa1-c0f7d77959a8_ActionId">
    <vt:lpwstr>42cda4f5-515a-4292-adf7-13e863a999f7</vt:lpwstr>
  </property>
  <property fmtid="{D5CDD505-2E9C-101B-9397-08002B2CF9AE}" pid="25" name="MSIP_Label_40aec7cc-352d-4b45-bfa1-c0f7d77959a8_ContentBits">
    <vt:lpwstr>1</vt:lpwstr>
  </property>
  <property fmtid="{D5CDD505-2E9C-101B-9397-08002B2CF9AE}" pid="26" name="ClassificationContentMarkingHeaderLocations">
    <vt:lpwstr>1_White:9</vt:lpwstr>
  </property>
  <property fmtid="{D5CDD505-2E9C-101B-9397-08002B2CF9AE}" pid="27" name="ClassificationContentMarkingHeaderText">
    <vt:lpwstr>General Confidential - Tenneco Confidential</vt:lpwstr>
  </property>
</Properties>
</file>