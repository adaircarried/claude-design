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0" r:id="rId4"/>
  </p:sldMasterIdLst>
  <p:notesMasterIdLst>
    <p:notesMasterId r:id="rId19"/>
  </p:notesMasterIdLst>
  <p:handoutMasterIdLst>
    <p:handoutMasterId r:id="rId20"/>
  </p:handoutMasterIdLst>
  <p:sldIdLst>
    <p:sldId id="2147483645" r:id="rId5"/>
    <p:sldId id="2147483646" r:id="rId6"/>
    <p:sldId id="2147483647" r:id="rId7"/>
    <p:sldId id="256" r:id="rId8"/>
    <p:sldId id="257" r:id="rId17"/>
    <p:sldId id="258" r:id="rId16"/>
    <p:sldId id="259" r:id="rId15"/>
    <p:sldId id="260" r:id="rId14"/>
    <p:sldId id="261" r:id="rId13"/>
    <p:sldId id="262" r:id="rId12"/>
    <p:sldId id="263" r:id="rId11"/>
    <p:sldId id="264" r:id="rId10"/>
    <p:sldId id="266" r:id="rId18"/>
  </p:sldIdLst>
  <p:sldSz cx="12192000" cy="6858000"/>
  <p:notesSz cx="7010400" cy="92964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9" userDrawn="1">
          <p15:clr>
            <a:srgbClr val="A4A3A4"/>
          </p15:clr>
        </p15:guide>
        <p15:guide id="2" pos="2120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F5F6F7"/>
    <a:srgbClr val="595959"/>
    <a:srgbClr val="8E9CA4"/>
    <a:srgbClr val="051C2C"/>
    <a:srgbClr val="17D3C6"/>
    <a:srgbClr val="002678"/>
    <a:srgbClr val="001D34"/>
    <a:srgbClr val="60EE91"/>
    <a:srgbClr val="9AF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F2053-31AC-44F5-82D6-C0C5569AF88C}" v="3" dt="2026-09-25T02:20:5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54" y="96"/>
      </p:cViewPr>
      <p:guideLst>
        <p:guide orient="horz" pos="4320"/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974" y="31"/>
      </p:cViewPr>
      <p:guideLst>
        <p:guide orient="horz" pos="2839"/>
        <p:guide pos="2120"/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7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r">
              <a:defRPr sz="1200"/>
            </a:lvl1pPr>
          </a:lstStyle>
          <a:p>
            <a:fld id="{833996CD-14A4-4580-8179-96CA8C9E645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2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7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r">
              <a:defRPr sz="1200"/>
            </a:lvl1pPr>
          </a:lstStyle>
          <a:p>
            <a:fld id="{525AA254-D7DE-46F6-A698-B477C991B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8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64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693738"/>
            <a:ext cx="6203950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1" tIns="45863" rIns="91741" bIns="4586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2" y="4415808"/>
            <a:ext cx="5608320" cy="4183381"/>
          </a:xfrm>
          <a:prstGeom prst="rect">
            <a:avLst/>
          </a:prstGeom>
        </p:spPr>
        <p:txBody>
          <a:bodyPr vert="horz" lIns="91741" tIns="45863" rIns="91741" bIns="4586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64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Second review. Same program: Robotics Setter Technician.</a:t>
            </a:r>
          </a:p>
          <a:p>
            <a:r>
              <a:t>• Today: what I promised last time, what happened,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Win: earn the trust of our people and customers.</a:t>
            </a:r>
          </a:p>
          <a:p>
            <a:r>
              <a:t>• Two things at once: the welder’s ergonomics and the product’s quality.</a:t>
            </a:r>
          </a:p>
          <a:p>
            <a:r>
              <a:t>• My way as an engineer: optimize the process with robots (4M).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Objective: specialist in robotic welding and technical support.</a:t>
            </a:r>
          </a:p>
          <a:p>
            <a:r>
              <a:t>• Why: when a welding robot stops, the line stops.</a:t>
            </a:r>
          </a:p>
          <a:p>
            <a:r>
              <a:t>• Final project has two halves, and I have both: 4M and the training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my ILUO matrix, turned into the plan to reach the objective.</a:t>
            </a:r>
          </a:p>
          <a:p>
            <a:r>
              <a:t>• Each level has its own test: exam, floor validation, practical exam, implementation.</a:t>
            </a:r>
          </a:p>
          <a:p>
            <a:r>
              <a:t>• 40 hours of formal training in total; the rest happens at the cells.</a:t>
            </a:r>
          </a:p>
          <a:p>
            <a:r>
              <a:t>• Supervisor’s point: each level is validated before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Be direct: two commitments are late, and say why.</a:t>
            </a:r>
          </a:p>
          <a:p>
            <a:r>
              <a:t>• One done (Level I topics), two on track (U and O, 4M).</a:t>
            </a:r>
          </a:p>
          <a:p>
            <a:r>
              <a:t>• Exam and floor validation: dates to be set with my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Green is real, light blue is plan, same as the plant Excel.</a:t>
            </a:r>
          </a:p>
          <a:p>
            <a:r>
              <a:t>• Weeks 40 to 42: metrology recovery and SCR start, in parallel.</a:t>
            </a:r>
          </a:p>
          <a:p>
            <a:r>
              <a:t>• Level I theory runs in parallel; the exam moved from week 40.</a:t>
            </a:r>
          </a:p>
          <a:p>
            <a:r>
              <a:t>• DOC and DPF at 95%: PPAP in November, production in January.</a:t>
            </a:r>
          </a:p>
          <a:p>
            <a:r>
              <a:t>• SCR: PPAP in January; sideout is on hold for metrology.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From 11 to 15 achieved, from 6 to 2 not started.</a:t>
            </a:r>
          </a:p>
          <a:p>
            <a:r>
              <a:t>• Not started: GD&amp;T and Lean.</a:t>
            </a:r>
          </a:p>
          <a:p>
            <a:r>
              <a:t>• Level I and L achieved, but the formal exam and validation are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Parallelism: two faces of the part that must stay parallel, within tolerance.</a:t>
            </a:r>
          </a:p>
          <a:p>
            <a:r>
              <a:t>• The firefight was where U and O skills grew: adjustments, parameters, training people.</a:t>
            </a:r>
          </a:p>
          <a:p>
            <a:r>
              <a:t>• SCR: bigger, heavier, more processes than DOC and DPF.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Problem: parallelism on parts that were already released.</a:t>
            </a:r>
          </a:p>
          <a:p>
            <a:r>
              <a:t>• Action: full re-measurement with a metrology expert, 25 PVs corrected.</a:t>
            </a:r>
          </a:p>
          <a:p>
            <a:r>
              <a:t>• DOC and DPF: PPAP in November, production in January.</a:t>
            </a:r>
          </a:p>
          <a:p>
            <a:r>
              <a:t>• SCR: endout 7 parts; sideout stopped, no measurement assured yet.</a:t>
            </a:r>
          </a:p>
          <a:p>
            <a:r>
              <a:t>• My time: 70% industrialization, 30% cells (it was 60/40).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Before and after: 90% on September 25, 95% today.</a:t>
            </a:r>
          </a:p>
          <a:p>
            <a:r>
              <a:t>• 17 PVs ran in the 4M cell, the improvement from last time.</a:t>
            </a:r>
          </a:p>
          <a:p>
            <a:r>
              <a:t>• 25 PVs corrected after the metrology check.</a:t>
            </a:r>
          </a:p>
          <a:p>
            <a:r>
              <a:t>• SCR: 7 endout parts built; sideout stopped by metrology.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Ask clearly for the two dates: they are the next review's commitments.</a:t>
            </a:r>
          </a:p>
          <a:p>
            <a:r>
              <a:t>• U is the focus for November and December.</a:t>
            </a:r>
          </a:p>
          <a:p>
            <a:r>
              <a:t>• Training proposal: still no comments, ask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Close with the last line. Pause,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Thank them.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8944" y="6315499"/>
            <a:ext cx="1594113" cy="25854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DE12E5-9D38-8BB0-C741-0125EF39B619}"/>
              </a:ext>
            </a:extLst>
          </p:cNvPr>
          <p:cNvCxnSpPr>
            <a:cxnSpLocks/>
          </p:cNvCxnSpPr>
          <p:nvPr userDrawn="1"/>
        </p:nvCxnSpPr>
        <p:spPr>
          <a:xfrm>
            <a:off x="3353065" y="4022448"/>
            <a:ext cx="54858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79A4CA-41B6-CACF-DF9E-23E3C9AA8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610A3A-A85C-E487-6787-16E3A757CC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4" y="2147171"/>
            <a:ext cx="12187705" cy="963863"/>
          </a:xfrm>
          <a:prstGeom prst="rect">
            <a:avLst/>
          </a:prstGeom>
        </p:spPr>
        <p:txBody>
          <a:bodyPr/>
          <a:lstStyle>
            <a:lvl1pPr algn="ctr">
              <a:defRPr sz="6600" b="1">
                <a:ln w="2857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73B5FE-AC5E-0242-3AAD-BA8513664C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3111500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69257-1DA4-1F18-9419-7A51EE9724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651653"/>
            <a:ext cx="2832100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TENNECO CONFIDENTIAL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894E9CE-8D2A-EA5B-AFBE-BCA894E896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158608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2000" b="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52621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58B6260-8AFF-7F92-5605-968301F646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311A4FB-94D0-09CA-1A22-6EC451952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16490A-C5E4-FBE7-1569-8928EDD73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33A94846-FB92-6415-C227-4AD373802A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9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8C80B-BA83-2163-F6F0-434A9287CCCE}"/>
              </a:ext>
            </a:extLst>
          </p:cNvPr>
          <p:cNvSpPr/>
          <p:nvPr userDrawn="1"/>
        </p:nvSpPr>
        <p:spPr>
          <a:xfrm>
            <a:off x="4703802" y="0"/>
            <a:ext cx="7488198" cy="6858000"/>
          </a:xfrm>
          <a:prstGeom prst="rect">
            <a:avLst/>
          </a:prstGeom>
          <a:solidFill>
            <a:schemeClr val="accent4">
              <a:alpha val="8980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A74C3F-B559-6CED-E55D-59A60FBDD61D}"/>
              </a:ext>
            </a:extLst>
          </p:cNvPr>
          <p:cNvSpPr txBox="1">
            <a:spLocks/>
          </p:cNvSpPr>
          <p:nvPr userDrawn="1"/>
        </p:nvSpPr>
        <p:spPr>
          <a:xfrm>
            <a:off x="474440" y="338072"/>
            <a:ext cx="7103140" cy="945562"/>
          </a:xfrm>
          <a:prstGeom prst="rect">
            <a:avLst/>
          </a:prstGeom>
        </p:spPr>
        <p:txBody>
          <a:bodyPr vert="horz" lIns="0" tIns="45720" rIns="91440" bIns="0" rtlCol="0" anchor="ctr" anchorCtr="0">
            <a:noAutofit/>
          </a:bodyPr>
          <a:lstStyle>
            <a:lvl1pPr algn="l" defTabSz="34288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AGENDA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03E59C4-4915-9D2D-F5ED-EEB2CB8614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9584" y="949097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F3A51E1-80CD-1D10-1A13-DE6310977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39584" y="1662353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EF25549-8F4F-A6D8-EFA5-4AE41E9091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9584" y="2357096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725B3FC0-29A1-B19B-CE80-49253AC0F5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9584" y="306024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AC595FF-16E8-77B8-38F3-63ACBC3FC9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84" y="3773768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3AB95AF-04A6-2C2D-C66E-CE880C35A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84" y="446739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D799D00-D54E-FC11-D180-016F586CB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9584" y="5184831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052845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EEB4131-42CC-77CC-DAC6-ED2DC519CA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189860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827533"/>
            <a:ext cx="12192000" cy="1202934"/>
          </a:xfrm>
          <a:prstGeom prst="rect">
            <a:avLst/>
          </a:prstGeom>
        </p:spPr>
        <p:txBody>
          <a:bodyPr/>
          <a:lstStyle>
            <a:lvl1pPr algn="ctr">
              <a:defRPr sz="6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IMPACT SLIDE</a:t>
            </a:r>
          </a:p>
        </p:txBody>
      </p:sp>
    </p:spTree>
    <p:extLst>
      <p:ext uri="{BB962C8B-B14F-4D97-AF65-F5344CB8AC3E}">
        <p14:creationId xmlns:p14="http://schemas.microsoft.com/office/powerpoint/2010/main" val="523481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505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F426F881-56F3-7278-C4B4-707468F2AC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5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vertical_white and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5576E91-7C71-5036-49BC-D2CAB95CEE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9F32BBF5-332F-D5EC-9CFD-D1CED34BF7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1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horizontal_white and nav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12192000" cy="4181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1995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484E9F-8188-4F54-F221-DB72D5B876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2525936D-2C54-53A3-FEDC-E66F1F6251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2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29124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29124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29124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2331" y="334029"/>
            <a:ext cx="528155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81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5214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5214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5214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8976" y="334029"/>
            <a:ext cx="5324907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66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i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52ED9D-A47B-439C-9538-591DEFF73947}"/>
              </a:ext>
            </a:extLst>
          </p:cNvPr>
          <p:cNvSpPr/>
          <p:nvPr userDrawn="1"/>
        </p:nvSpPr>
        <p:spPr bwMode="white">
          <a:xfrm flipH="1">
            <a:off x="8176828" y="0"/>
            <a:ext cx="4015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10209AB-BC5D-5639-995B-AA00B6DF58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65996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876C07F-C862-8F33-3AA1-1D7696D373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65996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CB82393-18FF-E10B-4F59-4DCC8D63A1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A7B140-662B-DC94-6405-EE68EDC9D0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47672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25DC67A-5A45-CB62-FF19-EFC609DA1E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6057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C8AA433-2DBB-7B92-6617-F9900D3743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050514-7106-E773-8C50-A6D55BF20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3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078545-1CC2-4F91-AD6A-4A06A58E78E6}"/>
              </a:ext>
            </a:extLst>
          </p:cNvPr>
          <p:cNvSpPr/>
          <p:nvPr userDrawn="1"/>
        </p:nvSpPr>
        <p:spPr bwMode="white">
          <a:xfrm flipH="1">
            <a:off x="9034270" y="0"/>
            <a:ext cx="31577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644560-B9B3-84ED-6AF8-DA264F052C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856839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7E85F7-7D0D-F475-DD2A-1421C01034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856839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0BA5B0-6E16-3BD2-8EF7-9D14B9CE35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812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EFDE5E2-A2B1-4F30-725D-C6378CC052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2879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ADA6CEA4-AEFF-8A6F-AEA1-AED25C2F26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60C12B-0714-9878-9E38-E095885D1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466A622-79A1-C1B1-160B-C61F4B5F0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3186" y="334029"/>
            <a:ext cx="25443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986876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9484D7-FC42-5921-4A6D-EFDDEF797796}"/>
              </a:ext>
            </a:extLst>
          </p:cNvPr>
          <p:cNvSpPr/>
          <p:nvPr userDrawn="1"/>
        </p:nvSpPr>
        <p:spPr>
          <a:xfrm>
            <a:off x="-1" y="1"/>
            <a:ext cx="81768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21DDEE-696B-41F5-B466-974F08025C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52768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D1B0AD6-CB71-C26E-A674-6A8452457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52768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6AB9309-4D5D-C94C-D721-3D3D34AB7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752768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122935-FBEC-96F8-72B7-4EB93C74D1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5F74EED-B923-2CCA-99B8-0E1636576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49C10EF6-C86B-C73D-49FC-D19958251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64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EC82B972-7ED2-DF4B-A628-849D131DD7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8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1F0931-B313-CF9D-7BBF-DC0E2CF17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F9DF855D-8221-19B5-54AF-279834CFEF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2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4080764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84AE513-51ED-FF4D-7ACF-910D8A4FD2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3560109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04C409-3DE7-9E7A-4373-1D6F76AEB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3560109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2A7EC06-B15E-1B40-5961-64129BAB31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3560109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C36BA8-CAD7-31E1-C3C1-B0FA2C164D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3945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91011BF-2FD9-DBF7-1A06-5399462CB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2330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30EDA3-D8B5-A79D-B743-FD068E4E2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FFFCB228-8300-BC73-B065-9BACEA253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3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3402282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1C9C39-D812-6A1A-50AB-714DB3B589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2842933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23DBF7B-19DD-E443-56F7-DA2A3E2A51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284293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587202D-EED2-0EBA-5011-2CAE596AA4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2842933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970E52-791B-7AAD-F885-4FF22CB984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9886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89F0E2-F193-E474-9C80-C009E98E28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2953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FACF0B-F330-5ADF-05E8-A8FDEC3AA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8A1FA4F-91FA-9AFB-5C79-01DC2CB945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3406398"/>
            <a:ext cx="12192000" cy="34516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567FA4C-F40C-F68A-568D-CC73679FE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A4EDEB-A63A-9389-3520-C289FECDA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141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0"/>
            <a:ext cx="12192000" cy="34391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E0EAAD-DCAB-C7B9-48B4-AD078E394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5B03F114-1CCA-2BCD-AEB7-33A97C12C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03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52A340-B81A-13C9-2A4F-A4E14A7ACC9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03AD0B1-EB01-5145-8BD4-43AF370962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E81C313-CFFE-7242-F236-8C090F189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3538D4F-C63B-17F8-B0B0-2474A07DA6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E8C4259-8339-BC46-91CA-F8A577856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28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4651E-D0D0-AE67-E2A9-5BE2C3A458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22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555B14-A48F-B142-B1E5-B9FC446C04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03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522591A-690D-94E5-448F-A366290A8B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36354173-2455-38A6-D850-9E30EBFAA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301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39185591-C09F-80CF-5976-B859677D247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0C57C8E-9AB5-D4EA-A3DF-E0E1B87E3C2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73AFC4A-4D17-D889-A190-32467451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8636D1FF-4AC7-B87D-B8D3-D71951DA216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E3C37E-50FF-DEBD-FFE0-12021561C0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41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0D0CF-C799-F88A-FC57-E0FE4CAB4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35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864F0F2-ACC8-ADFB-BFBA-6277B60066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16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7A2F61D-2980-A3C3-F881-E0913ED0DA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404815E-0A5F-B49B-713F-9CF8370F94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3029234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98D312D0-93DB-D17C-BB62-2372DC1D3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30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F55263D-9D78-FC22-5F6A-F61B76536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25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7967" y="3103321"/>
            <a:ext cx="4016065" cy="651358"/>
          </a:xfrm>
          <a:prstGeom prst="rect">
            <a:avLst/>
          </a:prstGeom>
        </p:spPr>
      </p:pic>
      <p:pic>
        <p:nvPicPr>
          <p:cNvPr id="7" name="Picture 6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58CFE9-0B12-315B-7360-BE3DBD992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9D0AEEA-67CD-CEFB-EC74-DD960DA50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717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5BAC64B-FDA5-2AA6-6FE8-FFAFF209B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42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294" r:id="rId2"/>
    <p:sldLayoutId id="2147484293" r:id="rId3"/>
    <p:sldLayoutId id="2147484315" r:id="rId4"/>
    <p:sldLayoutId id="2147484316" r:id="rId5"/>
    <p:sldLayoutId id="2147484296" r:id="rId6"/>
    <p:sldLayoutId id="2147484324" r:id="rId7"/>
    <p:sldLayoutId id="2147484322" r:id="rId8"/>
    <p:sldLayoutId id="2147484323" r:id="rId9"/>
    <p:sldLayoutId id="2147484295" r:id="rId10"/>
    <p:sldLayoutId id="2147484320" r:id="rId11"/>
    <p:sldLayoutId id="2147484298" r:id="rId12"/>
    <p:sldLayoutId id="2147484299" r:id="rId13"/>
    <p:sldLayoutId id="2147484326" r:id="rId14"/>
    <p:sldLayoutId id="2147484312" r:id="rId15"/>
    <p:sldLayoutId id="2147484321" r:id="rId16"/>
    <p:sldLayoutId id="2147484300" r:id="rId17"/>
    <p:sldLayoutId id="2147484301" r:id="rId18"/>
    <p:sldLayoutId id="2147484303" r:id="rId19"/>
    <p:sldLayoutId id="2147484313" r:id="rId20"/>
    <p:sldLayoutId id="2147484317" r:id="rId21"/>
    <p:sldLayoutId id="2147484318" r:id="rId22"/>
    <p:sldLayoutId id="2147484319" r:id="rId23"/>
    <p:sldLayoutId id="2147484325" r:id="rId24"/>
    <p:sldLayoutId id="2147484292" r:id="rId25"/>
  </p:sldLayoutIdLst>
  <p:hf hdr="0" dt="0"/>
  <p:txStyles>
    <p:titleStyle>
      <a:lvl1pPr algn="l" defTabSz="342882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42882" rtl="0" eaLnBrk="1" latinLnBrk="0" hangingPunct="1">
        <a:spcBef>
          <a:spcPct val="20000"/>
        </a:spcBef>
        <a:buClr>
          <a:schemeClr val="tx1"/>
        </a:buClr>
        <a:buSzPct val="110000"/>
        <a:buFontTx/>
        <a:buNone/>
        <a:defRPr sz="2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68325" indent="-225425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5738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33343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A6A653-9EE1-F684-49B1-D5FFD8C78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!! Title 1">
            <a:extLst>
              <a:ext uri="{FF2B5EF4-FFF2-40B4-BE49-F238E27FC236}">
                <a16:creationId xmlns:a16="http://schemas.microsoft.com/office/drawing/2014/main" id="{2E054E45-0021-0B6F-5B04-75AFBE033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</a:rPr>
              <a:t>Robotics Setter Technician Program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501EE7-4F47-7AE3-2560-0933E285B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D5FB00"/>
                </a:solidFill>
              </a:rPr>
              <a:t>Follow-up 2  |  October 26, 2026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435D6C-4908-8A25-4E0A-94761E2DE6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300" dirty="0">
                <a:solidFill>
                  <a:srgbClr val="FFFFFF"/>
                </a:solidFill>
              </a:rPr>
              <a:t>Diego Adair de León Márquez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4892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Universidad Politécnica de Aguascalientes  |  Mechatronics Engineering, 9th term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Plant Tutor: Fernando Robledo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5FB00"/>
                </a:solidFill>
                <a:latin typeface="Segoe UI"/>
              </a:rPr>
              <a:t>Engineering Department  |  August 1, 2026 to January 1, 2027</a:t>
            </a:r>
          </a:p>
        </p:txBody>
      </p:sp>
    </p:spTree>
    <p:extLst>
      <p:ext uri="{BB962C8B-B14F-4D97-AF65-F5344CB8AC3E}">
        <p14:creationId xmlns:p14="http://schemas.microsoft.com/office/powerpoint/2010/main" val="4001796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Glass A"/>
          <p:cNvSpPr/>
          <p:nvPr/>
        </p:nvSpPr>
        <p:spPr>
          <a:xfrm>
            <a:off x="841248" y="1828800"/>
            <a:ext cx="10515600" cy="36576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224028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FB00"/>
                </a:solidFill>
                <a:latin typeface="Segoe UI"/>
              </a:rPr>
              <a:t>THE TENNECO VALUE I IDENTIFY WITH</a:t>
            </a:r>
          </a:p>
        </p:txBody>
      </p:sp>
      <p:sp>
        <p:nvSpPr>
          <p:cNvPr id="4" name="!! Title 1"/>
          <p:cNvSpPr txBox="1"/>
          <p:nvPr/>
        </p:nvSpPr>
        <p:spPr>
          <a:xfrm>
            <a:off x="1280160" y="274320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886200"/>
            <a:ext cx="137160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052560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 dirty="0">
                <a:solidFill>
                  <a:srgbClr val="C6CDD1"/>
                </a:solidFill>
                <a:latin typeface="Segoe UI"/>
              </a:rPr>
              <a:t>We must earn the trust of our employees and customers.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s-MX" sz="1400" dirty="0">
                <a:solidFill>
                  <a:srgbClr val="D5FB00"/>
                </a:solidFill>
              </a:rPr>
              <a:t>For me, winning means caring for the ergonomics of our welders while protecting product quality. As an engineer, I do it by optimizing the process with robotic systems.</a:t>
            </a:r>
            <a:endParaRPr sz="1400" b="0" i="0" dirty="0">
              <a:solidFill>
                <a:srgbClr val="D5FB00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Program scope and objective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Robotics Setter Technician  |  August 1, 2026 to January 1, 2027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51C2C"/>
                </a:solidFill>
                <a:latin typeface="Segoe UI"/>
              </a:rPr>
              <a:t>Become a specialist in robotic welding and advanced technical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310128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35478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931920"/>
            <a:ext cx="6492240" cy="692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6B7A83"/>
                </a:solidFill>
                <a:latin typeface="Segoe UI"/>
              </a:rPr>
              <a:t>When a welding robot stops, the line stops with it. A setter who can find the </a:t>
            </a:r>
            <a:r>
              <a:rPr lang="en-US" sz="1400" b="0" i="0" dirty="0">
                <a:solidFill>
                  <a:srgbClr val="6B7A83"/>
                </a:solidFill>
                <a:latin typeface="Segoe UI"/>
              </a:rPr>
              <a:t>root </a:t>
            </a:r>
            <a:r>
              <a:rPr sz="1400" b="0" i="0" dirty="0">
                <a:solidFill>
                  <a:srgbClr val="6B7A83"/>
                </a:solidFill>
                <a:latin typeface="Segoe UI"/>
              </a:rPr>
              <a:t>cause and adjust the cell on the spot keeps parts moving and quality under control.</a:t>
            </a:r>
          </a:p>
        </p:txBody>
      </p:sp>
      <p:sp>
        <p:nvSpPr>
          <p:cNvPr id="10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77440"/>
            <a:ext cx="34290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51C2C"/>
                </a:solidFill>
                <a:latin typeface="Segoe UI"/>
              </a:rPr>
              <a:t>An implemented improvement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In quality, availability or productivity.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 dirty="0">
                <a:solidFill>
                  <a:srgbClr val="0033A0"/>
                </a:solidFill>
                <a:latin typeface="Segoe UI"/>
              </a:rPr>
              <a:t>Mine: 4M, implemented, with 47% less cycle time.</a:t>
            </a: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sz="1400" b="1" i="0" dirty="0">
                <a:solidFill>
                  <a:srgbClr val="051C2C"/>
                </a:solidFill>
                <a:latin typeface="Segoe UI"/>
              </a:rPr>
              <a:t>An updated training process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How the next setters learn.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 dirty="0">
                <a:solidFill>
                  <a:srgbClr val="0033A0"/>
                </a:solidFill>
                <a:latin typeface="Segoe UI"/>
              </a:rPr>
              <a:t>Mine: study material reviewed, schedule rebuilt.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The plan: four levels, each one validated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My ILUO matrix, paraphrased  |  40 hours of formal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41732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B00"/>
                </a:solidFill>
                <a:latin typeface="Segoe UI"/>
              </a:rPr>
              <a:t>OBJECTIVE   </a:t>
            </a:r>
            <a:r>
              <a:rPr sz="1300">
                <a:solidFill>
                  <a:srgbClr val="FFFFFF"/>
                </a:solidFill>
                <a:latin typeface="Segoe UI"/>
              </a:rPr>
              <a:t>Become a specialist in robotic welding and advanced technical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847088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WHAT IT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4708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HOW IT IS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8470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84708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METHOD</a:t>
            </a:r>
          </a:p>
        </p:txBody>
      </p:sp>
      <p:sp>
        <p:nvSpPr>
          <p:cNvPr id="10" name="!! Glass A"/>
          <p:cNvSpPr/>
          <p:nvPr/>
        </p:nvSpPr>
        <p:spPr>
          <a:xfrm>
            <a:off x="256032" y="2121408"/>
            <a:ext cx="11676888" cy="73152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7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3113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Understands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3113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Safety, GMAW equipment, metal transfer, process variables, discontinuities, joints, positions, symbols and control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23113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Theory exam, 8.0 to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21284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4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23113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Classroom session</a:t>
            </a:r>
          </a:p>
        </p:txBody>
      </p:sp>
      <p:sp>
        <p:nvSpPr>
          <p:cNvPr id="17" name="!! Card 2"/>
          <p:cNvSpPr/>
          <p:nvPr/>
        </p:nvSpPr>
        <p:spPr>
          <a:xfrm>
            <a:off x="256032" y="2944368"/>
            <a:ext cx="11676888" cy="73152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3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05409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With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5409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Basic robotic and dimensional adjustments, checking settings against the WPS, finding defects and changing consumables.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540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Validation on the floor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3580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8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05409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Robotic cell, on the floor (Gemba)</a:t>
            </a:r>
          </a:p>
        </p:txBody>
      </p:sp>
      <p:sp>
        <p:nvSpPr>
          <p:cNvPr id="24" name="!! Card 3"/>
          <p:cNvSpPr/>
          <p:nvPr/>
        </p:nvSpPr>
        <p:spPr>
          <a:xfrm>
            <a:off x="256032" y="3767328"/>
            <a:ext cx="11676888" cy="731520"/>
          </a:xfrm>
          <a:prstGeom prst="rect">
            <a:avLst/>
          </a:prstGeom>
          <a:blipFill rotWithShape="1">
            <a:blip r:embed="rId5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862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87705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87705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Creating new welding programs in SKS and setting their parameters (SKS and Miller).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87705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Practical exam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85876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8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87705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Robotic cell, on the floor (Gemba)</a:t>
            </a:r>
          </a:p>
        </p:txBody>
      </p:sp>
      <p:sp>
        <p:nvSpPr>
          <p:cNvPr id="31" name="!! Glass B"/>
          <p:cNvSpPr/>
          <p:nvPr/>
        </p:nvSpPr>
        <p:spPr>
          <a:xfrm>
            <a:off x="256032" y="4590288"/>
            <a:ext cx="11676888" cy="731520"/>
          </a:xfrm>
          <a:prstGeom prst="rect">
            <a:avLst/>
          </a:prstGeom>
          <a:blipFill rotWithShape="1">
            <a:blip r:embed="rId6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0915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70001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Improves and teaches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70001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Training level 2 and 3 staff, improvement ideas, problem solving (8D, Ishikawa, 5W+2H), GD&amp;T, ANDON and Lean.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70001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Implementation and training, validated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681727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20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470001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80-hour follow-up: TM, WAVE or PSIF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The plan slipped where the floor needed me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Since the last review  |  Commitments from September 25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417320"/>
            <a:ext cx="11676888" cy="361188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3"/>
                </a:solidFill>
                <a:latin typeface="Segoe UI"/>
              </a:rPr>
              <a:t>WHAT I COMMITTED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3"/>
                </a:solidFill>
                <a:latin typeface="Segoe UI"/>
              </a:rP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00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3"/>
                </a:solidFill>
                <a:latin typeface="Segoe U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Close the four open Level I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928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11095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Closed. Theory keeps growing in parallel with the other levels.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95728"/>
            <a:ext cx="11064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0545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Pass the Level I exam in week 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4963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Not taken yet. Date to be 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99232"/>
            <a:ext cx="11064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1089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Validate Level L on the floor in October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0998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11810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I already do all five skills on my own. Date to be set.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02736"/>
            <a:ext cx="11064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1246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Reach Levels U and O before January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72160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All three U skills and four of six O skills are moving.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06240"/>
            <a:ext cx="11064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3159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Keep measuring 4M and find the next improvement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3068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325112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4M ran the DOC and DPF PV parts. The search continues.</a:t>
            </a:r>
          </a:p>
        </p:txBody>
      </p:sp>
      <p:sp>
        <p:nvSpPr>
          <p:cNvPr id="27" name="!! Strip"/>
          <p:cNvSpPr/>
          <p:nvPr/>
        </p:nvSpPr>
        <p:spPr>
          <a:xfrm>
            <a:off x="256032" y="5193792"/>
            <a:ext cx="11676888" cy="7315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440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3A0"/>
                </a:solidFill>
                <a:latin typeface="Segoe UI"/>
              </a:rPr>
              <a:t>WHY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40096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51C2C"/>
                </a:solidFill>
                <a:latin typeface="Segoe UI"/>
              </a:rPr>
              <a:t>In October the industrialization project needed the whole team: parts already released failed metrology, and the SCR model started. The exams waited; the floor did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Skills kept moving while the exams waited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Gantt  |  Technical and practical skills, done and next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371600"/>
            <a:ext cx="11676888" cy="416052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54680" y="1463040"/>
            <a:ext cx="18685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August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3236" y="1463040"/>
            <a:ext cx="14948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September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3236" y="1481328"/>
            <a:ext cx="9144" cy="3749039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8081" y="1463040"/>
            <a:ext cx="14948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October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8081" y="1481328"/>
            <a:ext cx="9144" cy="3749039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2926" y="1463040"/>
            <a:ext cx="18685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November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2926" y="1481328"/>
            <a:ext cx="9144" cy="3749039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81483" y="1463040"/>
            <a:ext cx="14948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December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81483" y="1481328"/>
            <a:ext cx="9144" cy="3749039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76328" y="1463040"/>
            <a:ext cx="3737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Jan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76328" y="1481328"/>
            <a:ext cx="9144" cy="3749039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8391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2102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5813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9525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3236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6947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0659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370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8081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1793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5504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9215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2926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6638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0349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060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7772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1483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5194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8906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617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76328" y="1700784"/>
            <a:ext cx="37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BA8"/>
                </a:solidFill>
                <a:latin typeface="Segoe U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1920240"/>
            <a:ext cx="11292840" cy="9144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99339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Level I, theory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17627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In parallel with every level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6586" y="2066544"/>
            <a:ext cx="4073453" cy="201168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54680" y="2066544"/>
            <a:ext cx="4521906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2359152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23957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Level I exam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57860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Moved from week 40, date to be set</a:t>
            </a:r>
          </a:p>
        </p:txBody>
      </p:sp>
      <p:sp>
        <p:nvSpPr>
          <p:cNvPr id="47" name="Diamond 46"/>
          <p:cNvSpPr/>
          <p:nvPr/>
        </p:nvSpPr>
        <p:spPr>
          <a:xfrm>
            <a:off x="6230642" y="2468880"/>
            <a:ext cx="201168" cy="201168"/>
          </a:xfrm>
          <a:prstGeom prst="diamond">
            <a:avLst/>
          </a:prstGeom>
          <a:noFill/>
          <a:ln w="15875">
            <a:solidFill>
              <a:srgbClr val="C6CDD1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5818" y="24688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DD1"/>
                </a:solidFill>
                <a:latin typeface="Segoe UI"/>
              </a:rPr>
              <a:t>Week 40, moved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761488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79806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Level L, on my 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2980944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Floor validation, date to be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2871216"/>
            <a:ext cx="4521906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163824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20040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Level U, programming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3832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SKS programs and parameters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76586" y="3273552"/>
            <a:ext cx="4073453" cy="201168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3236" y="3273552"/>
            <a:ext cx="2653350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3566160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60273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Level O, improve and teach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3785616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Training team members, problem solving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76586" y="3675888"/>
            <a:ext cx="4073453" cy="201168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54680" y="3675888"/>
            <a:ext cx="4521906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3968496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00507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DOC and DPF, 95%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418795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PPAP in November, production in January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76586" y="4078224"/>
            <a:ext cx="4073453" cy="201168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54680" y="4078224"/>
            <a:ext cx="4521906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8099198" y="4078224"/>
            <a:ext cx="201168" cy="201168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55230" y="40782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1C2C"/>
                </a:solidFill>
                <a:latin typeface="Segoe UI"/>
              </a:rPr>
              <a:t>PPAP</a:t>
            </a:r>
          </a:p>
        </p:txBody>
      </p:sp>
      <p:sp>
        <p:nvSpPr>
          <p:cNvPr id="70" name="Diamond 69"/>
          <p:cNvSpPr/>
          <p:nvPr/>
        </p:nvSpPr>
        <p:spPr>
          <a:xfrm>
            <a:off x="11462600" y="4078224"/>
            <a:ext cx="201168" cy="201168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20184" y="407822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1C2C"/>
                </a:solidFill>
                <a:latin typeface="Segoe UI"/>
              </a:rPr>
              <a:t>Production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370832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440740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Metrology recovery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459028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PV corrections: 18 DOC, 7 DPF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44370" y="4480560"/>
            <a:ext cx="1121133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4773168"/>
            <a:ext cx="11292840" cy="914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80974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SCR, new model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4992624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6CDD1"/>
                </a:solidFill>
                <a:latin typeface="Segoe UI"/>
              </a:rPr>
              <a:t>Endout: 7 PVs. Sideout on hold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76586" y="4882896"/>
            <a:ext cx="4073453" cy="201168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44370" y="4882896"/>
            <a:ext cx="1532216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1" name="Diamond 80"/>
          <p:cNvSpPr/>
          <p:nvPr/>
        </p:nvSpPr>
        <p:spPr>
          <a:xfrm>
            <a:off x="11462600" y="4882896"/>
            <a:ext cx="201168" cy="201168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420184" y="488289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1C2C"/>
                </a:solidFill>
                <a:latin typeface="Segoe UI"/>
              </a:rPr>
              <a:t>PPAP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76586" y="1938528"/>
            <a:ext cx="0" cy="3246120"/>
          </a:xfrm>
          <a:prstGeom prst="rect">
            <a:avLst/>
          </a:prstGeom>
          <a:noFill/>
          <a:ln w="19050">
            <a:solidFill>
              <a:srgbClr val="D5FB00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036506" y="52303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5FB00"/>
                </a:solidFill>
                <a:latin typeface="Segoe UI"/>
              </a:rPr>
              <a:t>Today, Oct 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54680" y="5276088"/>
            <a:ext cx="146304" cy="14630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74136" y="524865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DD1"/>
                </a:solidFill>
                <a:latin typeface="Segoe UI"/>
              </a:rPr>
              <a:t>Real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0" y="5276088"/>
            <a:ext cx="146304" cy="14630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34256" y="524865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DD1"/>
                </a:solidFill>
                <a:latin typeface="Segoe UI"/>
              </a:rPr>
              <a:t>Plan</a:t>
            </a:r>
          </a:p>
        </p:txBody>
      </p:sp>
      <p:sp>
        <p:nvSpPr>
          <p:cNvPr id="89" name="Diamond 88"/>
          <p:cNvSpPr/>
          <p:nvPr/>
        </p:nvSpPr>
        <p:spPr>
          <a:xfrm>
            <a:off x="5074920" y="5276088"/>
            <a:ext cx="146304" cy="146304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94376" y="524865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DD1"/>
                </a:solidFill>
                <a:latin typeface="Segoe UI"/>
              </a:rPr>
              <a:t>Milestone</a:t>
            </a:r>
          </a:p>
        </p:txBody>
      </p:sp>
      <p:sp>
        <p:nvSpPr>
          <p:cNvPr id="91" name="Diamond 90"/>
          <p:cNvSpPr/>
          <p:nvPr/>
        </p:nvSpPr>
        <p:spPr>
          <a:xfrm>
            <a:off x="6035040" y="5276088"/>
            <a:ext cx="146304" cy="146304"/>
          </a:xfrm>
          <a:prstGeom prst="diamond">
            <a:avLst/>
          </a:prstGeom>
          <a:noFill/>
          <a:ln w="15875">
            <a:solidFill>
              <a:srgbClr val="C6CDD1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54496" y="524865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DD1"/>
                </a:solidFill>
                <a:latin typeface="Segoe UI"/>
              </a:rPr>
              <a:t>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15 of 23 skills achieved, only 2 not started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ILUO status  |  September 25: 11 achieved, 6 not started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836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33A0"/>
                </a:solidFill>
                <a:latin typeface="Segoe U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293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1C2C"/>
                </a:solidFill>
                <a:latin typeface="Segoe UI"/>
              </a:rPr>
              <a:t>Understands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9 skills</a:t>
            </a:r>
          </a:p>
        </p:txBody>
      </p:sp>
      <p:sp>
        <p:nvSpPr>
          <p:cNvPr id="8" name="Oval 7"/>
          <p:cNvSpPr/>
          <p:nvPr/>
        </p:nvSpPr>
        <p:spPr>
          <a:xfrm>
            <a:off x="315468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8620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8076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33A0"/>
                </a:solidFill>
                <a:latin typeface="Segoe UI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1C2C"/>
                </a:solidFill>
                <a:latin typeface="Segoe UI"/>
              </a:rPr>
              <a:t>With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5 skills</a:t>
            </a:r>
          </a:p>
        </p:txBody>
      </p:sp>
      <p:sp>
        <p:nvSpPr>
          <p:cNvPr id="20" name="Oval 19"/>
          <p:cNvSpPr/>
          <p:nvPr/>
        </p:nvSpPr>
        <p:spPr>
          <a:xfrm>
            <a:off x="315468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2044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8620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5196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33A0"/>
                </a:solidFill>
                <a:latin typeface="Segoe U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4655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1C2C"/>
                </a:solidFill>
                <a:latin typeface="Segoe UI"/>
              </a:rPr>
              <a:t>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1246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3 skills</a:t>
            </a:r>
          </a:p>
        </p:txBody>
      </p:sp>
      <p:sp>
        <p:nvSpPr>
          <p:cNvPr id="28" name="Oval 27"/>
          <p:cNvSpPr/>
          <p:nvPr/>
        </p:nvSpPr>
        <p:spPr>
          <a:xfrm>
            <a:off x="3154680" y="3529584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0440" y="3529584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86200" y="3529584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33A0"/>
                </a:solidFill>
                <a:latin typeface="Segoe UI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1C2C"/>
                </a:solidFill>
                <a:latin typeface="Segoe UI"/>
              </a:rPr>
              <a:t>Improves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480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6 skills</a:t>
            </a:r>
          </a:p>
        </p:txBody>
      </p:sp>
      <p:sp>
        <p:nvSpPr>
          <p:cNvPr id="34" name="Oval 33"/>
          <p:cNvSpPr/>
          <p:nvPr/>
        </p:nvSpPr>
        <p:spPr>
          <a:xfrm>
            <a:off x="3154680" y="4297680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0440" y="4297680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86200" y="4297680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4297680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1772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8348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54680" y="5047488"/>
            <a:ext cx="164592" cy="164592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0712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Achieved</a:t>
            </a:r>
          </a:p>
        </p:txBody>
      </p:sp>
      <p:sp>
        <p:nvSpPr>
          <p:cNvPr id="42" name="Oval 41"/>
          <p:cNvSpPr/>
          <p:nvPr/>
        </p:nvSpPr>
        <p:spPr>
          <a:xfrm>
            <a:off x="4636008" y="5047488"/>
            <a:ext cx="164592" cy="164592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In progress</a:t>
            </a:r>
          </a:p>
        </p:txBody>
      </p:sp>
      <p:sp>
        <p:nvSpPr>
          <p:cNvPr id="44" name="Oval 43"/>
          <p:cNvSpPr/>
          <p:nvPr/>
        </p:nvSpPr>
        <p:spPr>
          <a:xfrm>
            <a:off x="6117336" y="5047488"/>
            <a:ext cx="164592" cy="164592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3"/>
                </a:solidFill>
                <a:latin typeface="Segoe UI"/>
              </a:rPr>
              <a:t>Not started</a:t>
            </a:r>
          </a:p>
        </p:txBody>
      </p:sp>
      <p:sp>
        <p:nvSpPr>
          <p:cNvPr id="46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8745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WHAT MOVED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3134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3A0"/>
                </a:solidFill>
                <a:latin typeface="Segoe UI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96528" y="23317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Four topics closed; theory keeps growing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3A0"/>
                </a:solidFill>
                <a:latin typeface="Segoe UI"/>
              </a:rPr>
              <a:t>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2935224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All five skills, now on my own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3A0"/>
                </a:solidFill>
                <a:latin typeface="Segoe UI"/>
              </a:rPr>
              <a:t>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96528" y="353872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SKS programs and parameters started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41239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3A0"/>
                </a:solidFill>
                <a:latin typeface="Segoe UI"/>
              </a:rPr>
              <a:t>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96528" y="4142231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Training team members, problem-solving basics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48920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3A0"/>
                </a:solidFill>
                <a:latin typeface="Segoe UI"/>
              </a:rPr>
              <a:t>Still pending: the Level I exam and the Level L floor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October’s firefight taught me more than the plan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I learned  |  Weeks 40 to 42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577840" cy="324612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86000"/>
            <a:ext cx="4892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DOC and DPF parts that were already released started failing metrology. A metrology expert measured everything again: the main failure was parallelism.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>
                <a:solidFill>
                  <a:srgbClr val="C6CDD1"/>
                </a:solidFill>
                <a:latin typeface="Segoe UI"/>
              </a:rPr>
              <a:t>At the same time the SCR model started: bigger, heavier and harder to build. One of its two models, sideout, is on hold for metrology too.</a:t>
            </a:r>
          </a:p>
        </p:txBody>
      </p:sp>
      <p:sp>
        <p:nvSpPr>
          <p:cNvPr id="7" name="!! Glass B"/>
          <p:cNvSpPr/>
          <p:nvPr/>
        </p:nvSpPr>
        <p:spPr>
          <a:xfrm>
            <a:off x="6126480" y="1600200"/>
            <a:ext cx="5806440" cy="324612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WHAT I LEARNED ON THE FLOOR</a:t>
            </a:r>
          </a:p>
        </p:txBody>
      </p:sp>
      <p:sp>
        <p:nvSpPr>
          <p:cNvPr id="9" name="Chevron 8"/>
          <p:cNvSpPr/>
          <p:nvPr/>
        </p:nvSpPr>
        <p:spPr>
          <a:xfrm>
            <a:off x="6492240" y="2395727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331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Dimensional adjustments on welding fixtures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2871215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80720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Tuning welding parameters until the part is right</a:t>
            </a:r>
          </a:p>
        </p:txBody>
      </p:sp>
      <p:sp>
        <p:nvSpPr>
          <p:cNvPr id="13" name="Chevron 12"/>
          <p:cNvSpPr/>
          <p:nvPr/>
        </p:nvSpPr>
        <p:spPr>
          <a:xfrm>
            <a:off x="6492240" y="3346703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28269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Reviewing the process step by step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3822191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758183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Training team members on machines, adjustments, process and product</a:t>
            </a:r>
          </a:p>
        </p:txBody>
      </p:sp>
      <p:sp>
        <p:nvSpPr>
          <p:cNvPr id="17" name="Chevron 16"/>
          <p:cNvSpPr/>
          <p:nvPr/>
        </p:nvSpPr>
        <p:spPr>
          <a:xfrm>
            <a:off x="6492240" y="4297680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3367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The basics of problem-solving tools</a:t>
            </a:r>
          </a:p>
        </p:txBody>
      </p:sp>
      <p:sp>
        <p:nvSpPr>
          <p:cNvPr id="19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5FB00"/>
                </a:solidFill>
                <a:latin typeface="Segoe UI"/>
              </a:rPr>
              <a:t>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120640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On the floor, alongside Engineering and the metrology expert, while the line kept running.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Industrialization: DOC and DPF go to PPAP in November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Project  |  MY27 Cummins program, together with Engineering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40279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DOC and DPF parts already released failed metrology. The main failure: parallelism.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632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WHAT WE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28999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A metrology expert measured everything again, and we corrected 25 PV parts: 18 DOC, 3 long and 4 short canning.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251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WHERE IT STANDS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1772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51C2C"/>
                </a:solidFill>
                <a:latin typeface="Segoe UI"/>
              </a:rPr>
              <a:t>DOC and DPF at 95%: PPAP in November, production in January. SCR: 7 endout parts built, sideout on hold, PPAP in January.</a:t>
            </a:r>
          </a:p>
        </p:txBody>
      </p:sp>
      <p:sp>
        <p:nvSpPr>
          <p:cNvPr id="11" name="!! Glass B"/>
          <p:cNvSpPr/>
          <p:nvPr/>
        </p:nvSpPr>
        <p:spPr>
          <a:xfrm>
            <a:off x="6382512" y="1600200"/>
            <a:ext cx="5550408" cy="184708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9672" y="1737360"/>
            <a:ext cx="5276088" cy="1572768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67711"/>
            <a:ext cx="5550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3A0"/>
                </a:solidFill>
                <a:latin typeface="Segoe UI"/>
              </a:rPr>
              <a:t>PHOTO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DOC and DPF parts, or the metrology check</a:t>
            </a:r>
          </a:p>
        </p:txBody>
      </p:sp>
      <p:sp>
        <p:nvSpPr>
          <p:cNvPr id="14" name="!! Glass C"/>
          <p:cNvSpPr/>
          <p:nvPr/>
        </p:nvSpPr>
        <p:spPr>
          <a:xfrm>
            <a:off x="6382512" y="3639312"/>
            <a:ext cx="5550408" cy="184708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MY TIME THIS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206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33A0"/>
                </a:solidFill>
                <a:latin typeface="Segoe UI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9768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1C2C"/>
                </a:solidFill>
                <a:latin typeface="Segoe UI"/>
              </a:rPr>
              <a:t>industrialization, with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4846320"/>
            <a:ext cx="4892040" cy="128016"/>
          </a:xfrm>
          <a:prstGeom prst="rect">
            <a:avLst/>
          </a:prstGeom>
          <a:solidFill>
            <a:srgbClr val="051C2C">
              <a:alpha val="1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4846320"/>
            <a:ext cx="3424427" cy="128016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074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30%  support at the robotic cells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DOC and DPF moved from 90% to 95%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Results  |  September 25 to October 26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DOC AND DPF, READY TO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00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6CDD1"/>
                </a:solidFill>
                <a:latin typeface="Segoe UI"/>
              </a:rPr>
              <a:t>September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2368296"/>
            <a:ext cx="4389120" cy="237744"/>
          </a:xfrm>
          <a:prstGeom prst="rect">
            <a:avLst/>
          </a:prstGeom>
          <a:solidFill>
            <a:srgbClr val="C6CDD1">
              <a:alpha val="2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2368296"/>
            <a:ext cx="3950208" cy="237744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2331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169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October 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935224"/>
            <a:ext cx="4389120" cy="237744"/>
          </a:xfrm>
          <a:prstGeom prst="rect">
            <a:avLst/>
          </a:prstGeom>
          <a:solidFill>
            <a:srgbClr val="C6CDD1">
              <a:alpha val="2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2935224"/>
            <a:ext cx="4169663" cy="23774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8986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930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6CDD1"/>
                </a:solidFill>
                <a:latin typeface="Segoe UI"/>
              </a:rPr>
              <a:t>Only documentation left. PPAP in November, production in January.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5FB00"/>
                </a:solidFill>
                <a:latin typeface="Segoe U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98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PV parts in 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754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DD1"/>
                </a:solidFill>
                <a:latin typeface="Segoe UI"/>
              </a:rPr>
              <a:t>9 DOC, 4 DPF short, 4 DPF 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5FB00"/>
                </a:solidFill>
                <a:latin typeface="Segoe UI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4498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PV parts corrected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4754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DD1"/>
                </a:solidFill>
                <a:latin typeface="Segoe UI"/>
              </a:rPr>
              <a:t>18 DOC, 3 DPF long, 4 DPF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5FB00"/>
                </a:solidFill>
                <a:latin typeface="Segoe U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4498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SCR endout parts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4754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DD1"/>
                </a:solidFill>
                <a:latin typeface="Segoe UI"/>
              </a:rPr>
              <a:t>sideout on hold for metrology</a:t>
            </a:r>
          </a:p>
        </p:txBody>
      </p:sp>
      <p:sp>
        <p:nvSpPr>
          <p:cNvPr id="24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8745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4M, STILL 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33172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5FB00"/>
                </a:solidFill>
                <a:latin typeface="Segoe UI"/>
              </a:rPr>
              <a:t>93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063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per part in the robotic 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6118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5FB00"/>
                </a:solidFill>
                <a:latin typeface="Segoe UI"/>
              </a:rPr>
              <a:t>−47%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6CDD1"/>
                </a:solidFill>
                <a:latin typeface="Segoe UI"/>
              </a:rPr>
              <a:t>cycle time, from 174 s welding by hand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BA8"/>
                </a:solidFill>
                <a:latin typeface="Segoe UI"/>
              </a:rPr>
              <a:t>Data: engineering team, 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Next: set the exam dates, then Level U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Next steps  |  Until January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Level I exam and Level L floor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33472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Dates to be set with my supervisor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953511"/>
            <a:ext cx="6492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081527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Level U: SKS programs and welding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383279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November to December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703320"/>
            <a:ext cx="6492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31335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Level O: problem solving and the next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133087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November to December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453128"/>
            <a:ext cx="6492240" cy="9144"/>
          </a:xfrm>
          <a:prstGeom prst="rect">
            <a:avLst/>
          </a:prstGeom>
          <a:solidFill>
            <a:srgbClr val="051C2C">
              <a:alpha val="1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58114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Segoe UI"/>
              </a:rPr>
              <a:t>PPAP: DOC and DPF in November, SCR in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82896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3"/>
                </a:solidFill>
                <a:latin typeface="Segoe UI"/>
              </a:rPr>
              <a:t>DOC and DPF production starts in January</a:t>
            </a:r>
          </a:p>
        </p:txBody>
      </p:sp>
      <p:sp>
        <p:nvSpPr>
          <p:cNvPr id="17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87451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33A0"/>
                </a:solidFill>
                <a:latin typeface="Segoe UI"/>
              </a:rPr>
              <a:t>WHAT I NEED</a:t>
            </a:r>
          </a:p>
        </p:txBody>
      </p:sp>
      <p:sp>
        <p:nvSpPr>
          <p:cNvPr id="19" name="Chevron 18"/>
          <p:cNvSpPr/>
          <p:nvPr/>
        </p:nvSpPr>
        <p:spPr>
          <a:xfrm>
            <a:off x="8183879" y="2450592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37744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51C2C"/>
                </a:solidFill>
                <a:latin typeface="Segoe UI"/>
              </a:rPr>
              <a:t>Dates for my Level I exam and Level L validation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8183879" y="3227832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15468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51C2C"/>
                </a:solidFill>
                <a:latin typeface="Segoe UI"/>
              </a:rPr>
              <a:t>Supervised time programming in SKS and Miller</a:t>
            </a:r>
          </a:p>
        </p:txBody>
      </p:sp>
      <p:sp>
        <p:nvSpPr>
          <p:cNvPr id="23" name="Chevron 22"/>
          <p:cNvSpPr/>
          <p:nvPr/>
        </p:nvSpPr>
        <p:spPr>
          <a:xfrm>
            <a:off x="8183879" y="4005072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9319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51C2C"/>
                </a:solidFill>
                <a:latin typeface="Segoe UI"/>
              </a:rPr>
              <a:t>Feedback on the training proposal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Conclusions and next steps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is in place, and what comes next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70332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IN PLACE</a:t>
            </a:r>
          </a:p>
        </p:txBody>
      </p:sp>
      <p:sp>
        <p:nvSpPr>
          <p:cNvPr id="6" name="!! Glass B"/>
          <p:cNvSpPr/>
          <p:nvPr/>
        </p:nvSpPr>
        <p:spPr>
          <a:xfrm>
            <a:off x="6382512" y="1600200"/>
            <a:ext cx="5550408" cy="370332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5FB00"/>
                </a:solidFill>
                <a:latin typeface="Segoe U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3172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15 of 23 skills achieved; Levels I and L done on my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4612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DOC and DPF at 95%, with 25 PV parts corrected after metrology.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16052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A month of real problem solving: fixtures, parameters and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31720"/>
            <a:ext cx="4818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Set and pass the Level I exam and the Level L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3246120"/>
            <a:ext cx="4818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Reach Level U before January.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160520"/>
            <a:ext cx="4818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Support the DOC and DPF PPAP in November, and SCR’s in January.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7150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5FB00"/>
                </a:solidFill>
                <a:latin typeface="Segoe UI"/>
              </a:rPr>
              <a:t>The plan slipped a few weeks; my skills did not.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 txBox="1"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40680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Diego Adair de León Márquez   |   Engineering Department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1_White">
  <a:themeElements>
    <a:clrScheme name="Tenneco Color 25">
      <a:dk1>
        <a:srgbClr val="000000"/>
      </a:dk1>
      <a:lt1>
        <a:srgbClr val="FFFFFF"/>
      </a:lt1>
      <a:dk2>
        <a:srgbClr val="051C2C"/>
      </a:dk2>
      <a:lt2>
        <a:srgbClr val="E8EBEC"/>
      </a:lt2>
      <a:accent1>
        <a:srgbClr val="0033A0"/>
      </a:accent1>
      <a:accent2>
        <a:srgbClr val="D5FB00"/>
      </a:accent2>
      <a:accent3>
        <a:srgbClr val="75F0E7"/>
      </a:accent3>
      <a:accent4>
        <a:srgbClr val="001D34"/>
      </a:accent4>
      <a:accent5>
        <a:srgbClr val="C6CDD1"/>
      </a:accent5>
      <a:accent6>
        <a:srgbClr val="0033A0"/>
      </a:accent6>
      <a:hlink>
        <a:srgbClr val="005CA6"/>
      </a:hlink>
      <a:folHlink>
        <a:srgbClr val="00B050"/>
      </a:folHlink>
    </a:clrScheme>
    <a:fontScheme name="Tennec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B157E22-A02F-4FAF-A2FB-73BD9D9D4FFB}" vid="{EF3754FB-E33A-4020-9705-0817439DF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0B4C10F8A3B04DA4DBE0F0A3904D74" ma:contentTypeVersion="16" ma:contentTypeDescription="Create a new document." ma:contentTypeScope="" ma:versionID="52f2129a391aed5232fef677c67f3900">
  <xsd:schema xmlns:xsd="http://www.w3.org/2001/XMLSchema" xmlns:xs="http://www.w3.org/2001/XMLSchema" xmlns:p="http://schemas.microsoft.com/office/2006/metadata/properties" xmlns:ns3="5c14cc6d-e40f-4b2d-a417-eec04fa8d460" xmlns:ns4="ceee2a82-2205-4a84-b9c6-2fd18c27ec94" targetNamespace="http://schemas.microsoft.com/office/2006/metadata/properties" ma:root="true" ma:fieldsID="f156e9a2547d43c7295749e76bd37f10" ns3:_="" ns4:_="">
    <xsd:import namespace="5c14cc6d-e40f-4b2d-a417-eec04fa8d460"/>
    <xsd:import namespace="ceee2a82-2205-4a84-b9c6-2fd18c27ec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4cc6d-e40f-4b2d-a417-eec04fa8d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ee2a82-2205-4a84-b9c6-2fd18c27ec9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14cc6d-e40f-4b2d-a417-eec04fa8d4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66201A-1EA5-482A-9784-C5B52D8AB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4cc6d-e40f-4b2d-a417-eec04fa8d460"/>
    <ds:schemaRef ds:uri="ceee2a82-2205-4a84-b9c6-2fd18c27ec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D069B-D1CD-4CA8-B708-14136CD06A0E}">
  <ds:schemaRefs>
    <ds:schemaRef ds:uri="ceee2a82-2205-4a84-b9c6-2fd18c27ec94"/>
    <ds:schemaRef ds:uri="http://schemas.microsoft.com/office/2006/metadata/properties"/>
    <ds:schemaRef ds:uri="http://purl.org/dc/terms/"/>
    <ds:schemaRef ds:uri="http://purl.org/dc/elements/1.1/"/>
    <ds:schemaRef ds:uri="5c14cc6d-e40f-4b2d-a417-eec04fa8d460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9CD2D24-FE7C-438A-8DC6-540DB83786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Tenneco PPT template.February 2024</Template>
  <TotalTime>4163</TotalTime>
  <Words>1667</Words>
  <Application>Microsoft Office PowerPoint</Application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Wingdings</vt:lpstr>
      <vt:lpstr>1_White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Tenneco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Neely, Marissa</dc:creator>
  <cp:lastModifiedBy>Robledo, Luis Fernando</cp:lastModifiedBy>
  <cp:revision>29</cp:revision>
  <dcterms:created xsi:type="dcterms:W3CDTF">2025-02-07T15:41:40Z</dcterms:created>
  <dcterms:modified xsi:type="dcterms:W3CDTF">2026-09-25T02:22:16Z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  <property fmtid="{D5CDD505-2E9C-101B-9397-08002B2CF9AE}" pid="4" name="TaxKeyword">
    <vt:lpwstr/>
  </property>
  <property fmtid="{D5CDD505-2E9C-101B-9397-08002B2CF9AE}" pid="5" name="Topic">
    <vt:lpwstr/>
  </property>
  <property fmtid="{D5CDD505-2E9C-101B-9397-08002B2CF9AE}" pid="6" name="ContentTypeId">
    <vt:lpwstr>0x010100720B4C10F8A3B04DA4DBE0F0A3904D74</vt:lpwstr>
  </property>
  <property fmtid="{D5CDD505-2E9C-101B-9397-08002B2CF9AE}" pid="7" name="Team">
    <vt:lpwstr>4;#Communications|55433342-d803-4d30-a5b5-f7b631e0c9e4</vt:lpwstr>
  </property>
  <property fmtid="{D5CDD505-2E9C-101B-9397-08002B2CF9AE}" pid="8" name="ResourceType">
    <vt:lpwstr/>
  </property>
  <property fmtid="{D5CDD505-2E9C-101B-9397-08002B2CF9AE}" pid="9" name="TeamType">
    <vt:lpwstr>6;#Function|ae29062b-af98-4a35-a748-b0a4bdb4b1fa</vt:lpwstr>
  </property>
  <property fmtid="{D5CDD505-2E9C-101B-9397-08002B2CF9AE}" pid="10" name="Languages">
    <vt:lpwstr>1;#|94dd1d05-d422-4901-bbbe-44330005c902</vt:lpwstr>
  </property>
  <property fmtid="{D5CDD505-2E9C-101B-9397-08002B2CF9AE}" pid="11" name="MSIP_Label_7303cfa0-d896-4cc6-b4f0-0d6fcb44e974_Enabled">
    <vt:lpwstr>true</vt:lpwstr>
  </property>
  <property fmtid="{D5CDD505-2E9C-101B-9397-08002B2CF9AE}" pid="12" name="MSIP_Label_7303cfa0-d896-4cc6-b4f0-0d6fcb44e974_SetDate">
    <vt:lpwstr>2022-03-08T15:09:46Z</vt:lpwstr>
  </property>
  <property fmtid="{D5CDD505-2E9C-101B-9397-08002B2CF9AE}" pid="13" name="MSIP_Label_7303cfa0-d896-4cc6-b4f0-0d6fcb44e974_Method">
    <vt:lpwstr>Standard</vt:lpwstr>
  </property>
  <property fmtid="{D5CDD505-2E9C-101B-9397-08002B2CF9AE}" pid="14" name="MSIP_Label_7303cfa0-d896-4cc6-b4f0-0d6fcb44e974_Name">
    <vt:lpwstr>General Not Encrypted</vt:lpwstr>
  </property>
  <property fmtid="{D5CDD505-2E9C-101B-9397-08002B2CF9AE}" pid="15" name="MSIP_Label_7303cfa0-d896-4cc6-b4f0-0d6fcb44e974_SiteId">
    <vt:lpwstr>a33489ef-a7bc-48cc-9660-8a2d7703dcc7</vt:lpwstr>
  </property>
  <property fmtid="{D5CDD505-2E9C-101B-9397-08002B2CF9AE}" pid="16" name="MSIP_Label_7303cfa0-d896-4cc6-b4f0-0d6fcb44e974_ActionId">
    <vt:lpwstr>1343a2ce-de59-4d00-aa98-518ac6d980ae</vt:lpwstr>
  </property>
  <property fmtid="{D5CDD505-2E9C-101B-9397-08002B2CF9AE}" pid="17" name="MSIP_Label_7303cfa0-d896-4cc6-b4f0-0d6fcb44e974_ContentBits">
    <vt:lpwstr>0</vt:lpwstr>
  </property>
  <property fmtid="{D5CDD505-2E9C-101B-9397-08002B2CF9AE}" pid="18" name="MediaServiceImageTags">
    <vt:lpwstr/>
  </property>
  <property fmtid="{D5CDD505-2E9C-101B-9397-08002B2CF9AE}" pid="19" name="MSIP_Label_40aec7cc-352d-4b45-bfa1-c0f7d77959a8_Enabled">
    <vt:lpwstr>true</vt:lpwstr>
  </property>
  <property fmtid="{D5CDD505-2E9C-101B-9397-08002B2CF9AE}" pid="20" name="MSIP_Label_40aec7cc-352d-4b45-bfa1-c0f7d77959a8_SetDate">
    <vt:lpwstr>2025-02-25T20:55:55Z</vt:lpwstr>
  </property>
  <property fmtid="{D5CDD505-2E9C-101B-9397-08002B2CF9AE}" pid="21" name="MSIP_Label_40aec7cc-352d-4b45-bfa1-c0f7d77959a8_Method">
    <vt:lpwstr>Privileged</vt:lpwstr>
  </property>
  <property fmtid="{D5CDD505-2E9C-101B-9397-08002B2CF9AE}" pid="22" name="MSIP_Label_40aec7cc-352d-4b45-bfa1-c0f7d77959a8_Name">
    <vt:lpwstr>General Confidential - Tenneco Confidential</vt:lpwstr>
  </property>
  <property fmtid="{D5CDD505-2E9C-101B-9397-08002B2CF9AE}" pid="23" name="MSIP_Label_40aec7cc-352d-4b45-bfa1-c0f7d77959a8_SiteId">
    <vt:lpwstr>6eec918b-f654-44a7-ac1a-abfdb64e694e</vt:lpwstr>
  </property>
  <property fmtid="{D5CDD505-2E9C-101B-9397-08002B2CF9AE}" pid="24" name="MSIP_Label_40aec7cc-352d-4b45-bfa1-c0f7d77959a8_ActionId">
    <vt:lpwstr>42cda4f5-515a-4292-adf7-13e863a999f7</vt:lpwstr>
  </property>
  <property fmtid="{D5CDD505-2E9C-101B-9397-08002B2CF9AE}" pid="25" name="MSIP_Label_40aec7cc-352d-4b45-bfa1-c0f7d77959a8_ContentBits">
    <vt:lpwstr>1</vt:lpwstr>
  </property>
  <property fmtid="{D5CDD505-2E9C-101B-9397-08002B2CF9AE}" pid="26" name="ClassificationContentMarkingHeaderLocations">
    <vt:lpwstr>1_White:9</vt:lpwstr>
  </property>
  <property fmtid="{D5CDD505-2E9C-101B-9397-08002B2CF9AE}" pid="27" name="ClassificationContentMarkingHeaderText">
    <vt:lpwstr>General Confidential - Tenneco Confidential</vt:lpwstr>
  </property>
</Properties>
</file>