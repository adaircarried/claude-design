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90" r:id="rId4"/>
  </p:sldMasterIdLst>
  <p:notesMasterIdLst>
    <p:notesMasterId r:id="rId33"/>
  </p:notesMasterIdLst>
  <p:handoutMasterIdLst>
    <p:handoutMasterId r:id="rId34"/>
  </p:handoutMasterIdLst>
  <p:sldIdLst>
    <p:sldId id="2147483645" r:id="rId5"/>
    <p:sldId id="2147483646" r:id="rId12"/>
    <p:sldId id="2147483647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7010400" cy="92964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9" userDrawn="1">
          <p15:clr>
            <a:srgbClr val="A4A3A4"/>
          </p15:clr>
        </p15:guide>
        <p15:guide id="2" pos="2120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8E9CA4"/>
    <a:srgbClr val="051C2C"/>
    <a:srgbClr val="17D3C6"/>
    <a:srgbClr val="002678"/>
    <a:srgbClr val="001D34"/>
    <a:srgbClr val="0033A0"/>
    <a:srgbClr val="60EE91"/>
    <a:srgbClr val="9AF448"/>
    <a:srgbClr val="A0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9" y="62"/>
      </p:cViewPr>
      <p:guideLst>
        <p:guide orient="horz" pos="4320"/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974" y="31"/>
      </p:cViewPr>
      <p:guideLst>
        <p:guide orient="horz" pos="2839"/>
        <p:guide pos="2120"/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2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7" y="8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/>
          <a:lstStyle>
            <a:lvl1pPr algn="r">
              <a:defRPr sz="1200"/>
            </a:lvl1pPr>
          </a:lstStyle>
          <a:p>
            <a:fld id="{833996CD-14A4-4580-8179-96CA8C9E645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2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7" y="8829687"/>
            <a:ext cx="3038476" cy="466724"/>
          </a:xfrm>
          <a:prstGeom prst="rect">
            <a:avLst/>
          </a:prstGeom>
        </p:spPr>
        <p:txBody>
          <a:bodyPr vert="horz" lIns="91272" tIns="45639" rIns="91272" bIns="45639" rtlCol="0" anchor="b"/>
          <a:lstStyle>
            <a:lvl1pPr algn="r">
              <a:defRPr sz="1200"/>
            </a:lvl1pPr>
          </a:lstStyle>
          <a:p>
            <a:fld id="{525AA254-D7DE-46F6-A698-B477C991B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8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64" y="37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693738"/>
            <a:ext cx="6203950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1" tIns="45863" rIns="91741" bIns="4586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2" y="4415808"/>
            <a:ext cx="5608320" cy="4183381"/>
          </a:xfrm>
          <a:prstGeom prst="rect">
            <a:avLst/>
          </a:prstGeom>
        </p:spPr>
        <p:txBody>
          <a:bodyPr vert="horz" lIns="91741" tIns="45863" rIns="91741" bIns="4586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64" y="8829989"/>
            <a:ext cx="3037842" cy="464821"/>
          </a:xfrm>
          <a:prstGeom prst="rect">
            <a:avLst/>
          </a:prstGeom>
        </p:spPr>
        <p:txBody>
          <a:bodyPr vert="horz" lIns="91741" tIns="45863" rIns="91741" bIns="45863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Name, UPA, Mechatronics, 9th term.</a:t>
            </a:r>
          </a:p>
          <a:p>
            <a:r>
              <a:t>• Program: Robotics Setter Technician, since August 1.</a:t>
            </a:r>
          </a:p>
          <a:p>
            <a:r>
              <a:t>• Plant tutor: Fernando Robledo.</a:t>
            </a:r>
          </a:p>
          <a:p>
            <a:r>
              <a:t>• Today: what the program asks, what I learned, the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Win: earn the trust of our people and customers.</a:t>
            </a:r>
          </a:p>
          <a:p>
            <a:r>
              <a:t>• Trust is earned on the floor, not given by a title.</a:t>
            </a:r>
          </a:p>
          <a:p>
            <a:r>
              <a:t>• My example: the longest, hardest weld is now on a robot (4M).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Objective: specialist in robotic welding and technical support.</a:t>
            </a:r>
          </a:p>
          <a:p>
            <a:r>
              <a:t>• Why: when a welding robot stops, the line stops.</a:t>
            </a:r>
          </a:p>
          <a:p>
            <a:r>
              <a:t>• Final project has two halves, and I have both: 4M and the training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ILUO: understand, do with support, do alone, improve and teach.</a:t>
            </a:r>
          </a:p>
          <a:p>
            <a:r>
              <a:t>• Same path the plant uses for any skill.</a:t>
            </a:r>
          </a:p>
          <a:p>
            <a:r>
              <a:t>• Each level builds on the one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8 weeks done, 14 to go.</a:t>
            </a:r>
          </a:p>
          <a:p>
            <a:r>
              <a:t>• Level I exam in October.</a:t>
            </a:r>
          </a:p>
          <a:p>
            <a:r>
              <a:t>• No fixed training hours: I learn while attending real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Five topics, in plain words: safety, GMAW, WPS, defects, parameters.</a:t>
            </a:r>
          </a:p>
          <a:p>
            <a:r>
              <a:t>• WPS = the approved recipe for every weld.</a:t>
            </a:r>
          </a:p>
          <a:p>
            <a:r>
              <a:t>• Learned from 616 pages, a practice exam and daily work at the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Name the four on my own: consumables, key settings, weld symbols, ANDON.</a:t>
            </a:r>
          </a:p>
          <a:p>
            <a:r>
              <a:t>• Level I studied in full, but the exam is still pending.</a:t>
            </a:r>
          </a:p>
          <a:p>
            <a:r>
              <a:t>• 4M counts as my first step in the improvement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60% of my time: industrialization of the Cummins project.</a:t>
            </a:r>
          </a:p>
          <a:p>
            <a:r>
              <a:t>• Industrialization = getting a new process ready for the floor.</a:t>
            </a:r>
          </a:p>
          <a:p>
            <a:r>
              <a:t>• The other 40% at the cells is where the hands-on learning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Problem: 146 s of welding by hand, in uncomfortable positions.</a:t>
            </a:r>
          </a:p>
          <a:p>
            <a:r>
              <a:t>• Idea: move it to 4M, same fixture.</a:t>
            </a:r>
          </a:p>
          <a:p>
            <a:r>
              <a:t>• Done with my supervisor, and running today.</a:t>
            </a:r>
          </a:p>
          <a:p>
            <a:r>
              <a:t>• The team member now only loads and unloads.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Cycle time 174 s to 93 s: 47% less.</a:t>
            </a:r>
          </a:p>
          <a:p>
            <a:r>
              <a:t>• Welding 146 s to 65 s: 56% less.</a:t>
            </a:r>
          </a:p>
          <a:p>
            <a:r>
              <a:t>• Load and unload did not change (same fixture), so the gain is all welding.</a:t>
            </a:r>
          </a:p>
          <a:p>
            <a:r>
              <a:t>• 81 s saved on every part, and less strain for the team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It is a proposal, not something already adopted.</a:t>
            </a:r>
          </a:p>
          <a:p>
            <a:r>
              <a:t>• Example gap: 8 of 25 exam questions are TIG, and the matrix never names it.</a:t>
            </a:r>
          </a:p>
          <a:p>
            <a:r>
              <a:t>• The error: the transfer mode table in the manual.</a:t>
            </a:r>
          </a:p>
          <a:p>
            <a:r>
              <a:t>• The new schedule compares plan against reality, week by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L in November, U in December, O already started with 4M.</a:t>
            </a:r>
          </a:p>
          <a:p>
            <a:r>
              <a:t>• Ask clearly: an exam date, supervised SKS time, feedback on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Close with the lime line.</a:t>
            </a:r>
          </a:p>
          <a:p>
            <a:r>
              <a:t>• Pause,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Thank them.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8944" y="6315499"/>
            <a:ext cx="1594113" cy="25854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DE12E5-9D38-8BB0-C741-0125EF39B619}"/>
              </a:ext>
            </a:extLst>
          </p:cNvPr>
          <p:cNvCxnSpPr>
            <a:cxnSpLocks/>
          </p:cNvCxnSpPr>
          <p:nvPr userDrawn="1"/>
        </p:nvCxnSpPr>
        <p:spPr>
          <a:xfrm>
            <a:off x="3353065" y="4022448"/>
            <a:ext cx="54858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79A4CA-41B6-CACF-DF9E-23E3C9AA8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610A3A-A85C-E487-6787-16E3A757CC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4" y="2147171"/>
            <a:ext cx="12187705" cy="963863"/>
          </a:xfrm>
          <a:prstGeom prst="rect">
            <a:avLst/>
          </a:prstGeom>
        </p:spPr>
        <p:txBody>
          <a:bodyPr/>
          <a:lstStyle>
            <a:lvl1pPr algn="ctr">
              <a:defRPr sz="6600" b="1">
                <a:ln w="28575">
                  <a:solidFill>
                    <a:schemeClr val="bg1"/>
                  </a:solidFill>
                </a:ln>
                <a:noFill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73B5FE-AC5E-0242-3AAD-BA8513664C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3111500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69257-1DA4-1F18-9419-7A51EE9724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651653"/>
            <a:ext cx="2832100" cy="138499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TENNECO CONFIDENTIAL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894E9CE-8D2A-EA5B-AFBE-BCA894E896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4158608"/>
            <a:ext cx="12192000" cy="754899"/>
          </a:xfrm>
          <a:prstGeom prst="rect">
            <a:avLst/>
          </a:prstGeom>
        </p:spPr>
        <p:txBody>
          <a:bodyPr/>
          <a:lstStyle>
            <a:lvl1pPr algn="ctr">
              <a:defRPr sz="2000" b="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52621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58B6260-8AFF-7F92-5605-968301F646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311A4FB-94D0-09CA-1A22-6EC451952A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16490A-C5E4-FBE7-1569-8928EDD73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33A94846-FB92-6415-C227-4AD373802A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92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8C80B-BA83-2163-F6F0-434A9287CCCE}"/>
              </a:ext>
            </a:extLst>
          </p:cNvPr>
          <p:cNvSpPr/>
          <p:nvPr userDrawn="1"/>
        </p:nvSpPr>
        <p:spPr>
          <a:xfrm>
            <a:off x="4703802" y="0"/>
            <a:ext cx="7488198" cy="6858000"/>
          </a:xfrm>
          <a:prstGeom prst="rect">
            <a:avLst/>
          </a:prstGeom>
          <a:solidFill>
            <a:schemeClr val="accent4">
              <a:alpha val="8980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A74C3F-B559-6CED-E55D-59A60FBDD61D}"/>
              </a:ext>
            </a:extLst>
          </p:cNvPr>
          <p:cNvSpPr txBox="1">
            <a:spLocks/>
          </p:cNvSpPr>
          <p:nvPr userDrawn="1"/>
        </p:nvSpPr>
        <p:spPr>
          <a:xfrm>
            <a:off x="474440" y="338072"/>
            <a:ext cx="7103140" cy="945562"/>
          </a:xfrm>
          <a:prstGeom prst="rect">
            <a:avLst/>
          </a:prstGeom>
        </p:spPr>
        <p:txBody>
          <a:bodyPr vert="horz" lIns="0" tIns="45720" rIns="91440" bIns="0" rtlCol="0" anchor="ctr" anchorCtr="0">
            <a:noAutofit/>
          </a:bodyPr>
          <a:lstStyle>
            <a:lvl1pPr algn="l" defTabSz="34288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AGENDA</a:t>
            </a:r>
            <a:endParaRPr lang="en-US" sz="32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03E59C4-4915-9D2D-F5ED-EEB2CB8614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39584" y="949097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F3A51E1-80CD-1D10-1A13-DE6310977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39584" y="1662353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EF25549-8F4F-A6D8-EFA5-4AE41E9091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39584" y="2357096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725B3FC0-29A1-B19B-CE80-49253AC0F5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39584" y="306024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2AC595FF-16E8-77B8-38F3-63ACBC3FC9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84" y="3773768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83AB95AF-04A6-2C2D-C66E-CE880C35AE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84" y="4467394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D799D00-D54E-FC11-D180-016F586CB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39584" y="5184831"/>
            <a:ext cx="6380860" cy="48101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§"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052845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EEB4131-42CC-77CC-DAC6-ED2DC519CA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189860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1808542-4E85-0D48-AF6C-8910D9BAE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2C1B03-DC30-E8FA-50F3-5A981CD35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4F2D6-648B-1C19-D848-EB3622E6F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827533"/>
            <a:ext cx="12192000" cy="1202934"/>
          </a:xfrm>
          <a:prstGeom prst="rect">
            <a:avLst/>
          </a:prstGeom>
        </p:spPr>
        <p:txBody>
          <a:bodyPr/>
          <a:lstStyle>
            <a:lvl1pPr algn="ctr">
              <a:defRPr sz="6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IMPACT SLIDE</a:t>
            </a:r>
          </a:p>
        </p:txBody>
      </p:sp>
    </p:spTree>
    <p:extLst>
      <p:ext uri="{BB962C8B-B14F-4D97-AF65-F5344CB8AC3E}">
        <p14:creationId xmlns:p14="http://schemas.microsoft.com/office/powerpoint/2010/main" val="523481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5016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505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F426F881-56F3-7278-C4B4-707468F2AC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5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vertical_white and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98908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0214" y="1995029"/>
            <a:ext cx="5273670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5576E91-7C71-5036-49BC-D2CAB95CEE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9F32BBF5-332F-D5EC-9CFD-D1CED34BF7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1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header_horizontal_white and nav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12192000" cy="4181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EC2E3C-1452-2CF0-2D31-0AA7112AA01E}"/>
              </a:ext>
            </a:extLst>
          </p:cNvPr>
          <p:cNvSpPr/>
          <p:nvPr userDrawn="1"/>
        </p:nvSpPr>
        <p:spPr>
          <a:xfrm>
            <a:off x="0" y="0"/>
            <a:ext cx="12192000" cy="1525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11637583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996433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1995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484E9F-8188-4F54-F221-DB72D5B876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1163758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2525936D-2C54-53A3-FEDC-E66F1F6251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2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29124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29124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29124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2331" y="334029"/>
            <a:ext cx="528155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81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55214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55214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552142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8976" y="334029"/>
            <a:ext cx="5324907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61579D1-BB64-0034-0B34-A926EBE6C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45A491-AFF9-3457-68C5-1FE27924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66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ir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52ED9D-A47B-439C-9538-591DEFF73947}"/>
              </a:ext>
            </a:extLst>
          </p:cNvPr>
          <p:cNvSpPr/>
          <p:nvPr userDrawn="1"/>
        </p:nvSpPr>
        <p:spPr bwMode="white">
          <a:xfrm flipH="1">
            <a:off x="8176828" y="0"/>
            <a:ext cx="4015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10209AB-BC5D-5639-995B-AA00B6DF58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65996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876C07F-C862-8F33-3AA1-1D7696D373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65996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CB82393-18FF-E10B-4F59-4DCC8D63A1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A7B140-662B-DC94-6405-EE68EDC9D0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47672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25DC67A-5A45-CB62-FF19-EFC609DA1E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6057" y="1279617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BC8AA433-2DBB-7B92-6617-F9900D3743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050514-7106-E773-8C50-A6D55BF20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63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078545-1CC2-4F91-AD6A-4A06A58E78E6}"/>
              </a:ext>
            </a:extLst>
          </p:cNvPr>
          <p:cNvSpPr/>
          <p:nvPr userDrawn="1"/>
        </p:nvSpPr>
        <p:spPr bwMode="white">
          <a:xfrm flipH="1">
            <a:off x="9034270" y="0"/>
            <a:ext cx="31577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644560-B9B3-84ED-6AF8-DA264F052C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8568392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7E85F7-7D0D-F475-DD2A-1421C01034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8568392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0BA5B0-6E16-3BD2-8EF7-9D14B9CE35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812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EFDE5E2-A2B1-4F30-725D-C6378CC052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2879" y="1279617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ADA6CEA4-AEFF-8A6F-AEA1-AED25C2F26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60C12B-0714-9878-9E38-E095885D1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466A622-79A1-C1B1-160B-C61F4B5F0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33186" y="334029"/>
            <a:ext cx="25443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1986876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9484D7-FC42-5921-4A6D-EFDDEF797796}"/>
              </a:ext>
            </a:extLst>
          </p:cNvPr>
          <p:cNvSpPr/>
          <p:nvPr userDrawn="1"/>
        </p:nvSpPr>
        <p:spPr>
          <a:xfrm>
            <a:off x="-1" y="1"/>
            <a:ext cx="81768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21DDEE-696B-41F5-B466-974F08025C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752768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D1B0AD6-CB71-C26E-A674-6A84524575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752768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6AB9309-4D5D-C94C-D721-3D3D34AB7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752768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122935-FBEC-96F8-72B7-4EB93C74D1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29706" y="334029"/>
            <a:ext cx="344785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5F74EED-B923-2CCA-99B8-0E1636576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49C10EF6-C86B-C73D-49FC-D19958251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64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03C600-FDEF-8BAE-4300-C162C2F1C9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EC82B972-7ED2-DF4B-A628-849D131DD7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8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_Dark_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5BBE77-57E1-C83A-49A5-1E133537A276}"/>
              </a:ext>
            </a:extLst>
          </p:cNvPr>
          <p:cNvSpPr/>
          <p:nvPr userDrawn="1"/>
        </p:nvSpPr>
        <p:spPr>
          <a:xfrm>
            <a:off x="0" y="1"/>
            <a:ext cx="6095999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33A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9546B-2A81-FAEA-1971-63CAAE0CA5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5430745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A807C4D-F297-A648-D0E5-4BE792A4DF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58366D3-0CD5-73FA-4AC1-52E0803FAA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3138" y="334029"/>
            <a:ext cx="543074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AF7421-B4C7-A41B-DE07-B74A27698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1F0931-B313-CF9D-7BBF-DC0E2CF17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F9DF855D-8221-19B5-54AF-279834CFEF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2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4080764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84AE513-51ED-FF4D-7ACF-910D8A4FD2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3560109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04C409-3DE7-9E7A-4373-1D6F76AEB0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3560109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2A7EC06-B15E-1B40-5961-64129BAB31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3560109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C36BA8-CAD7-31E1-C3C1-B0FA2C164D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3945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91011BF-2FD9-DBF7-1A06-5399462CB6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2330" y="334029"/>
            <a:ext cx="3765176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30EDA3-D8B5-A79D-B743-FD068E4E2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FFFCB228-8300-BC73-B065-9BACEA253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3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D79AF4-5ADB-4E5E-A0E8-09488166DD3C}"/>
              </a:ext>
            </a:extLst>
          </p:cNvPr>
          <p:cNvSpPr/>
          <p:nvPr userDrawn="1"/>
        </p:nvSpPr>
        <p:spPr bwMode="ltGray">
          <a:xfrm flipH="1">
            <a:off x="0" y="-1309"/>
            <a:ext cx="3402282" cy="68593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rt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1C9C39-D812-6A1A-50AB-714DB3B589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79" y="334029"/>
            <a:ext cx="2842933" cy="974818"/>
          </a:xfrm>
          <a:prstGeom prst="rect">
            <a:avLst/>
          </a:prstGeom>
        </p:spPr>
        <p:txBody>
          <a:bodyPr/>
          <a:lstStyle>
            <a:lvl1pPr>
              <a:lnSpc>
                <a:spcPts val="36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 OF SLIDE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23DBF7B-19DD-E443-56F7-DA2A3E2A51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1352187"/>
            <a:ext cx="2842933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587202D-EED2-0EBA-5011-2CAE596AA4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874462"/>
            <a:ext cx="2842933" cy="1553883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970E52-791B-7AAD-F885-4FF22CB984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9886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289F0E2-F193-E474-9C80-C009E98E28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42953" y="334029"/>
            <a:ext cx="4201459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FACF0B-F330-5ADF-05E8-A8FDEC3AA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48A1FA4F-91FA-9AFB-5C79-01DC2CB945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3406398"/>
            <a:ext cx="12192000" cy="34516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C567FA4C-F40C-F68A-568D-CC73679FE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A4EDEB-A63A-9389-3520-C289FECDA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141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BF4972-3F3A-4DDC-9690-4753E627F1AE}"/>
              </a:ext>
            </a:extLst>
          </p:cNvPr>
          <p:cNvSpPr/>
          <p:nvPr userDrawn="1"/>
        </p:nvSpPr>
        <p:spPr>
          <a:xfrm flipV="1">
            <a:off x="0" y="0"/>
            <a:ext cx="12192000" cy="34391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DEFD52-3EE4-E374-0FC0-A7063D4E42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3B72C79-996A-179B-A6A0-02C7455440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FEAE2ED-1CC5-B729-0290-3A111DE2BA2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879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2EEC7E8-B659-EA24-8E20-2780B8F63B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7351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36C5900-FACD-FEFE-05BB-77E4BEA380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1823" y="127961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D297326-96A9-0999-3DB4-AB75B5973F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2880" y="357455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Second Heading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D4041E6-0CF8-158D-EA44-F113216A8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879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B925471F-4118-DFD3-0DC7-E5D4C80779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97351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FE58A6E-77AD-55D8-2D29-AAF5BCA4BB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1823" y="4047347"/>
            <a:ext cx="3751355" cy="1302218"/>
          </a:xfrm>
          <a:prstGeom prst="rect">
            <a:avLst/>
          </a:prstGeom>
        </p:spPr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E0EAAD-DCAB-C7B9-48B4-AD078E394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5B03F114-1CCA-2BCD-AEB7-33A97C12C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03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288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1FD4CF-7EC5-E1BB-6828-B4942C11BD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80" y="806823"/>
            <a:ext cx="11640298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52A340-B81A-13C9-2A4F-A4E14A7ACC9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03AD0B1-EB01-5145-8BD4-43AF370962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AE81C313-CFFE-7242-F236-8C090F189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3538D4F-C63B-17F8-B0B0-2474A07DA6F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E8C4259-8339-BC46-91CA-F8A577856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28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4651E-D0D0-AE67-E2A9-5BE2C3A458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22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555B14-A48F-B142-B1E5-B9FC446C04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03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522591A-690D-94E5-448F-A366290A8B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36354173-2455-38A6-D850-9E30EBFAA2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Layou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1B8D2E2-076B-F3F0-5D4F-4CFC1574C5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3010" y="334029"/>
            <a:ext cx="11640298" cy="472794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pic>
        <p:nvPicPr>
          <p:cNvPr id="2" name="Picture 1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B75DC08-AA3D-0B9B-BE10-9FC365A6C0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E5E0668-E0F2-65E6-9657-1B5204806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39185591-C09F-80CF-5976-B859677D247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52413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0C57C8E-9AB5-D4EA-A3DF-E0E1B87E3C2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21224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73AFC4A-4D17-D889-A190-32467451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90035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8636D1FF-4AC7-B87D-B8D3-D71951DA216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8846" y="1387475"/>
            <a:ext cx="2727455" cy="36417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E3C37E-50FF-DEBD-FFE0-12021561C0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41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0D0CF-C799-F88A-FC57-E0FE4CAB4D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21353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864F0F2-ACC8-ADFB-BFBA-6277B60066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0164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7A2F61D-2980-A3C3-F881-E0913ED0DA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58845" y="5183188"/>
            <a:ext cx="2727455" cy="1119187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404815E-0A5F-B49B-713F-9CF8370F94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79" y="850163"/>
            <a:ext cx="5430745" cy="400426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Optional Subheading</a:t>
            </a:r>
          </a:p>
        </p:txBody>
      </p:sp>
    </p:spTree>
    <p:extLst>
      <p:ext uri="{BB962C8B-B14F-4D97-AF65-F5344CB8AC3E}">
        <p14:creationId xmlns:p14="http://schemas.microsoft.com/office/powerpoint/2010/main" val="3029234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98D312D0-93DB-D17C-BB62-2372DC1D3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3861" y="6549780"/>
            <a:ext cx="924065" cy="35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30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Slide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45C81B5F-74BC-C6ED-0A15-A71F5CD5DA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950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2763E18B-9447-4AE0-06BF-160B2E51AC8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14014" y="408216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05A91090-36DC-C40C-23EF-E4F0ADBCB7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14014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ADC38324-7A5A-395D-1E9A-DABA5AADD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20467" y="3559627"/>
            <a:ext cx="3101382" cy="22696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4CC86894-E309-7F69-1A6C-93D55016E6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6604" y="2678113"/>
            <a:ext cx="4429771" cy="31511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D2C1CF-8CDF-CF82-0573-F131FAF156EC}"/>
              </a:ext>
            </a:extLst>
          </p:cNvPr>
          <p:cNvSpPr/>
          <p:nvPr userDrawn="1"/>
        </p:nvSpPr>
        <p:spPr>
          <a:xfrm>
            <a:off x="476603" y="408216"/>
            <a:ext cx="4429771" cy="1972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5FF3B76-99EC-4A8B-41BD-A2FA39A2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rtl="0" latinLnBrk="0"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EA2E03D-9F5B-5343-B21F-625258007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F346DA-4135-4E6F-CEF4-7453E64F1572}"/>
              </a:ext>
            </a:extLst>
          </p:cNvPr>
          <p:cNvCxnSpPr>
            <a:cxnSpLocks/>
          </p:cNvCxnSpPr>
          <p:nvPr userDrawn="1"/>
        </p:nvCxnSpPr>
        <p:spPr>
          <a:xfrm>
            <a:off x="5258490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D346EE-506C-E76D-89D6-D1609B84D44D}"/>
              </a:ext>
            </a:extLst>
          </p:cNvPr>
          <p:cNvCxnSpPr>
            <a:cxnSpLocks/>
          </p:cNvCxnSpPr>
          <p:nvPr userDrawn="1"/>
        </p:nvCxnSpPr>
        <p:spPr>
          <a:xfrm>
            <a:off x="8662058" y="2768903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25CFE0-2DF9-2E57-F4DA-DDC51A1002C3}"/>
              </a:ext>
            </a:extLst>
          </p:cNvPr>
          <p:cNvCxnSpPr>
            <a:cxnSpLocks/>
          </p:cNvCxnSpPr>
          <p:nvPr userDrawn="1"/>
        </p:nvCxnSpPr>
        <p:spPr>
          <a:xfrm>
            <a:off x="8662058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07A882-82DD-ABBD-9DD3-2B862067A27D}"/>
              </a:ext>
            </a:extLst>
          </p:cNvPr>
          <p:cNvCxnSpPr>
            <a:cxnSpLocks/>
          </p:cNvCxnSpPr>
          <p:nvPr userDrawn="1"/>
        </p:nvCxnSpPr>
        <p:spPr>
          <a:xfrm>
            <a:off x="5258490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525FE9-38C9-AD62-AC30-A752E7853E6F}"/>
              </a:ext>
            </a:extLst>
          </p:cNvPr>
          <p:cNvCxnSpPr>
            <a:cxnSpLocks/>
          </p:cNvCxnSpPr>
          <p:nvPr userDrawn="1"/>
        </p:nvCxnSpPr>
        <p:spPr>
          <a:xfrm>
            <a:off x="476604" y="5982121"/>
            <a:ext cx="0" cy="5457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01A612-EEEF-C011-34E4-1B6F741CA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454" y="487122"/>
            <a:ext cx="4195980" cy="1792258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TEXT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2F4131-8DBD-80E6-6FF2-00461C545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440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D883F05-5BB0-F688-00E2-D5B1C52BD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440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2A3D994B-0856-4125-D3AA-1100FAA17E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49868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53947B-8D12-3689-2C84-E9452616629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3914" y="2661941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9466189-8148-F155-A0DF-FD15E69EDA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3914" y="3000643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5B2BE68-84AB-1D04-B910-80B9E16E30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65342" y="3010057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AC011BE-3DDB-6ABA-B3DA-8125AE1C5B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1844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6BCFF4D-02A4-7E2E-0227-CA88E8DBC4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1844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4C7AE61A-892F-A7C6-5EBB-627CC02424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986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1ADBE6B6-0EA3-E2A7-A38C-1472DB8950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33914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5649F813-6984-AB45-6AA9-1BE62E2AD7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33914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5731EA4-2326-8EDC-0DDB-A4BFB36F1F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65342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9B7CBC9-88EC-DEFE-FAE5-C4E3A19CC6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4280" y="5879414"/>
            <a:ext cx="1788750" cy="392103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D74A993D-AD41-984F-950F-BA6E80528B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280" y="6218116"/>
            <a:ext cx="1453834" cy="347285"/>
          </a:xfrm>
          <a:prstGeom prst="rect">
            <a:avLst/>
          </a:prstGeo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en-US"/>
              <a:t>Sep. 12-13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93952CFC-4D8A-5739-D810-DD1814C78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5708" y="6227530"/>
            <a:ext cx="1671981" cy="347285"/>
          </a:xfrm>
          <a:prstGeom prst="rect">
            <a:avLst/>
          </a:prstGeom>
        </p:spPr>
        <p:txBody>
          <a:bodyPr/>
          <a:lstStyle>
            <a:lvl1pPr>
              <a:defRPr sz="1800" b="0" i="1"/>
            </a:lvl1pPr>
          </a:lstStyle>
          <a:p>
            <a:pPr lvl="0"/>
            <a:r>
              <a:rPr lang="en-US"/>
              <a:t>| location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DF55263D-9D78-FC22-5F6A-F61B765361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25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2C4E05-5B96-4FE8-9203-E062EA1E7D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7967" y="3103321"/>
            <a:ext cx="4016065" cy="651358"/>
          </a:xfrm>
          <a:prstGeom prst="rect">
            <a:avLst/>
          </a:prstGeom>
        </p:spPr>
      </p:pic>
      <p:pic>
        <p:nvPicPr>
          <p:cNvPr id="7" name="Picture 6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EF58CFE9-0B12-315B-7360-BE3DBD992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4795" y="6640504"/>
            <a:ext cx="895667" cy="14526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9D0AEEA-67CD-CEFB-EC74-DD960DA50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717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5BAC64B-FDA5-2AA6-6FE8-FFAFF209B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0603" y="6645842"/>
            <a:ext cx="611397" cy="212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42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294" r:id="rId2"/>
    <p:sldLayoutId id="2147484293" r:id="rId3"/>
    <p:sldLayoutId id="2147484315" r:id="rId4"/>
    <p:sldLayoutId id="2147484316" r:id="rId5"/>
    <p:sldLayoutId id="2147484296" r:id="rId6"/>
    <p:sldLayoutId id="2147484324" r:id="rId7"/>
    <p:sldLayoutId id="2147484322" r:id="rId8"/>
    <p:sldLayoutId id="2147484323" r:id="rId9"/>
    <p:sldLayoutId id="2147484295" r:id="rId10"/>
    <p:sldLayoutId id="2147484320" r:id="rId11"/>
    <p:sldLayoutId id="2147484298" r:id="rId12"/>
    <p:sldLayoutId id="2147484299" r:id="rId13"/>
    <p:sldLayoutId id="2147484326" r:id="rId14"/>
    <p:sldLayoutId id="2147484312" r:id="rId15"/>
    <p:sldLayoutId id="2147484321" r:id="rId16"/>
    <p:sldLayoutId id="2147484300" r:id="rId17"/>
    <p:sldLayoutId id="2147484301" r:id="rId18"/>
    <p:sldLayoutId id="2147484303" r:id="rId19"/>
    <p:sldLayoutId id="2147484313" r:id="rId20"/>
    <p:sldLayoutId id="2147484317" r:id="rId21"/>
    <p:sldLayoutId id="2147484318" r:id="rId22"/>
    <p:sldLayoutId id="2147484319" r:id="rId23"/>
    <p:sldLayoutId id="2147484325" r:id="rId24"/>
    <p:sldLayoutId id="2147484292" r:id="rId25"/>
  </p:sldLayoutIdLst>
  <p:hf hdr="0" dt="0"/>
  <p:txStyles>
    <p:titleStyle>
      <a:lvl1pPr algn="l" defTabSz="342882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42882" rtl="0" eaLnBrk="1" latinLnBrk="0" hangingPunct="1">
        <a:spcBef>
          <a:spcPct val="20000"/>
        </a:spcBef>
        <a:buClr>
          <a:schemeClr val="tx1"/>
        </a:buClr>
        <a:buSzPct val="110000"/>
        <a:buFontTx/>
        <a:buNone/>
        <a:defRPr sz="2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68325" indent="-225425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5738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33343" algn="l" defTabSz="342882" rtl="0" eaLnBrk="1" latinLnBrk="0" hangingPunct="1">
        <a:spcBef>
          <a:spcPct val="20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342882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342882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A6A653-9EE1-F684-49B1-D5FFD8C78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2E03D-9F5B-5343-B21F-6252580077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!! Title 1">
            <a:extLst>
              <a:ext uri="{FF2B5EF4-FFF2-40B4-BE49-F238E27FC236}">
                <a16:creationId xmlns:a16="http://schemas.microsoft.com/office/drawing/2014/main" id="{2E054E45-0021-0B6F-5B04-75AFBE033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z="3000" b="1">
                <a:solidFill>
                  <a:srgbClr val="FFFFFF"/>
                </a:solidFill>
              </a:rPr>
              <a:t>Robotics Setter Technician Program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501EE7-4F47-7AE3-2560-0933E285B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z="2000" b="1">
                <a:solidFill>
                  <a:srgbClr val="D5FB00"/>
                </a:solidFill>
              </a:rPr>
              <a:t>Robotic welding, from learning to improvement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435D6C-4908-8A25-4E0A-94761E2DE6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z="1300">
                <a:solidFill>
                  <a:srgbClr val="FFFFFF"/>
                </a:solidFill>
              </a:rPr>
              <a:t>Diego Adair de León Márquez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489204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Universidad Politécnica de Aguascalientes  |  Mechatronics Engineering, 9th term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Plant Tutor: Fernando Robledo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5FB00"/>
                </a:solidFill>
                <a:latin typeface="Segoe UI"/>
              </a:rPr>
              <a:t>Engineering Department  |  August 1, 2026 to January 1, 2027</a:t>
            </a:r>
          </a:p>
        </p:txBody>
      </p:sp>
    </p:spTree>
    <p:extLst>
      <p:ext uri="{BB962C8B-B14F-4D97-AF65-F5344CB8AC3E}">
        <p14:creationId xmlns:p14="http://schemas.microsoft.com/office/powerpoint/2010/main" val="4001796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Glass A"/>
          <p:cNvSpPr/>
          <p:nvPr/>
        </p:nvSpPr>
        <p:spPr>
          <a:xfrm>
            <a:off x="841248" y="1828800"/>
            <a:ext cx="10515600" cy="365760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24028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FB00"/>
                </a:solidFill>
                <a:latin typeface="Segoe UI"/>
              </a:rPr>
              <a:t>THE TENNECO VALUE I IDENTIFY WITH</a:t>
            </a:r>
          </a:p>
        </p:txBody>
      </p:sp>
      <p:sp>
        <p:nvSpPr>
          <p:cNvPr id="4" name="!! Title 1"/>
          <p:cNvSpPr txBox="1"/>
          <p:nvPr/>
        </p:nvSpPr>
        <p:spPr>
          <a:xfrm>
            <a:off x="1280160" y="274320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886200"/>
            <a:ext cx="137160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052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C6CDD1"/>
                </a:solidFill>
                <a:latin typeface="Segoe UI"/>
              </a:rPr>
              <a:t>We must earn the trust of our employees and customers.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D5FB00"/>
                </a:solidFill>
                <a:latin typeface="Segoe UI"/>
              </a:rPr>
              <a:t>For me, winning meant taking the longest, hardest weld off a team member’s hands.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Program scope and objective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Robotics Setter Technician  |  August 1, 2026 to January 1, 2027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38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51C2C"/>
                </a:solidFill>
                <a:latin typeface="Segoe UI"/>
              </a:rPr>
              <a:t>Become a specialist in robotic welding and advanced technical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310128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3547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931920"/>
            <a:ext cx="6492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When a welding robot stops, the line stops with it. A setter who can find the cause and adjust the cell on the spot keeps parts moving and quality under control.</a:t>
            </a:r>
          </a:p>
        </p:txBody>
      </p:sp>
      <p:sp>
        <p:nvSpPr>
          <p:cNvPr id="10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38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FINAL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77440"/>
            <a:ext cx="34290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51C2C"/>
                </a:solidFill>
                <a:latin typeface="Segoe UI"/>
              </a:rPr>
              <a:t>An implemented improvement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In quality, availability or productivity.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0033A0"/>
                </a:solidFill>
                <a:latin typeface="Segoe UI"/>
              </a:rPr>
              <a:t>Mine: 4M, implemented, with 47% less cycle time.</a:t>
            </a:r>
          </a:p>
          <a:p>
            <a:pPr>
              <a:spcBef>
                <a:spcPts val="2000"/>
              </a:spcBef>
              <a:spcAft>
                <a:spcPts val="0"/>
              </a:spcAft>
            </a:pPr>
            <a:r>
              <a:rPr sz="1400" b="1" i="0">
                <a:solidFill>
                  <a:srgbClr val="051C2C"/>
                </a:solidFill>
                <a:latin typeface="Segoe UI"/>
              </a:rPr>
              <a:t>An updated training process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How the next setters learn.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0033A0"/>
                </a:solidFill>
                <a:latin typeface="Segoe UI"/>
              </a:rPr>
              <a:t>Mine: study material reviewed, schedule rebuilt.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Four levels, from understanding to improving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The skill path of the program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91640"/>
            <a:ext cx="2715768" cy="306324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2167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2167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Understands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01568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Safety, the welding process, the procedure (WPS), defects and settings.</a:t>
            </a:r>
          </a:p>
        </p:txBody>
      </p:sp>
      <p:sp>
        <p:nvSpPr>
          <p:cNvPr id="8" name="!! Card 2"/>
          <p:cNvSpPr/>
          <p:nvPr/>
        </p:nvSpPr>
        <p:spPr>
          <a:xfrm>
            <a:off x="3246120" y="1691640"/>
            <a:ext cx="2715768" cy="306324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5" y="1965960"/>
            <a:ext cx="2167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5" y="2651760"/>
            <a:ext cx="2167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Does it with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5" y="3401568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Basic adjustments, checking settings and changing consumables.</a:t>
            </a:r>
          </a:p>
        </p:txBody>
      </p:sp>
      <p:sp>
        <p:nvSpPr>
          <p:cNvPr id="12" name="!! Card 3"/>
          <p:cNvSpPr/>
          <p:nvPr/>
        </p:nvSpPr>
        <p:spPr>
          <a:xfrm>
            <a:off x="6236208" y="1691640"/>
            <a:ext cx="2715768" cy="3063240"/>
          </a:xfrm>
          <a:prstGeom prst="rect">
            <a:avLst/>
          </a:prstGeom>
          <a:blipFill rotWithShape="1">
            <a:blip r:embed="rId4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965960"/>
            <a:ext cx="2167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51760"/>
            <a:ext cx="2167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Does it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401568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Programming the robot (SKS), creating programs and setting them up.</a:t>
            </a:r>
          </a:p>
        </p:txBody>
      </p:sp>
      <p:sp>
        <p:nvSpPr>
          <p:cNvPr id="16" name="!! Glass B"/>
          <p:cNvSpPr/>
          <p:nvPr/>
        </p:nvSpPr>
        <p:spPr>
          <a:xfrm>
            <a:off x="9226296" y="1691640"/>
            <a:ext cx="2715768" cy="3063240"/>
          </a:xfrm>
          <a:prstGeom prst="rect">
            <a:avLst/>
          </a:prstGeom>
          <a:blipFill rotWithShape="1">
            <a:blip r:embed="rId5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965960"/>
            <a:ext cx="21671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2651760"/>
            <a:ext cx="21671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Improves and teaches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3401568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Troubleshooting, training others, Lean and continuous improvement.</a:t>
            </a:r>
          </a:p>
        </p:txBody>
      </p:sp>
      <p:sp>
        <p:nvSpPr>
          <p:cNvPr id="20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blipFill rotWithShape="1">
            <a:blip r:embed="rId6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B00"/>
                </a:solidFill>
                <a:latin typeface="Segoe UI"/>
              </a:rP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120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Each level builds on the one before: first understand, then do, then own it, then improve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Eight weeks in, fourteen to go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Program timeline</a:t>
            </a:r>
          </a:p>
        </p:txBody>
      </p:sp>
      <p:sp>
        <p:nvSpPr>
          <p:cNvPr id="4" name="!! Glass A"/>
          <p:cNvSpPr/>
          <p:nvPr/>
        </p:nvSpPr>
        <p:spPr>
          <a:xfrm>
            <a:off x="603504" y="2157984"/>
            <a:ext cx="11210544" cy="2542032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" y="3557016"/>
            <a:ext cx="10881360" cy="18288"/>
          </a:xfrm>
          <a:prstGeom prst="rect">
            <a:avLst/>
          </a:prstGeom>
          <a:solidFill>
            <a:srgbClr val="6B7A83">
              <a:alpha val="45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83080" y="3552444"/>
            <a:ext cx="2194559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87068" y="3470148"/>
            <a:ext cx="192024" cy="19202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51C2C"/>
                </a:solidFill>
                <a:latin typeface="Segoe UI"/>
              </a:rPr>
              <a:t>Program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87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August 1, 2026</a:t>
            </a:r>
          </a:p>
        </p:txBody>
      </p:sp>
      <p:sp>
        <p:nvSpPr>
          <p:cNvPr id="10" name="Oval 9"/>
          <p:cNvSpPr/>
          <p:nvPr/>
        </p:nvSpPr>
        <p:spPr>
          <a:xfrm>
            <a:off x="3840479" y="3429000"/>
            <a:ext cx="274320" cy="27432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4087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3A0"/>
                </a:solidFill>
                <a:latin typeface="Segoe UI"/>
              </a:rPr>
              <a:t>September 25</a:t>
            </a:r>
          </a:p>
        </p:txBody>
      </p:sp>
      <p:sp>
        <p:nvSpPr>
          <p:cNvPr id="13" name="Oval 12"/>
          <p:cNvSpPr/>
          <p:nvPr/>
        </p:nvSpPr>
        <p:spPr>
          <a:xfrm>
            <a:off x="6076188" y="347014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51C2C"/>
                </a:solidFill>
                <a:latin typeface="Segoe UI"/>
              </a:rPr>
              <a:t>Level I exam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087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October</a:t>
            </a:r>
          </a:p>
        </p:txBody>
      </p:sp>
      <p:sp>
        <p:nvSpPr>
          <p:cNvPr id="16" name="Oval 15"/>
          <p:cNvSpPr/>
          <p:nvPr/>
        </p:nvSpPr>
        <p:spPr>
          <a:xfrm>
            <a:off x="8270747" y="347014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51C2C"/>
                </a:solidFill>
                <a:latin typeface="Segoe UI"/>
              </a:rPr>
              <a:t>Levels L and 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4087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November to December</a:t>
            </a:r>
          </a:p>
        </p:txBody>
      </p:sp>
      <p:sp>
        <p:nvSpPr>
          <p:cNvPr id="19" name="Oval 18"/>
          <p:cNvSpPr/>
          <p:nvPr/>
        </p:nvSpPr>
        <p:spPr>
          <a:xfrm>
            <a:off x="10465307" y="347014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51C2C"/>
                </a:solidFill>
                <a:latin typeface="Segoe UI"/>
              </a:rPr>
              <a:t>Program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4087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83"/>
                </a:solidFill>
                <a:latin typeface="Segoe UI"/>
              </a:rPr>
              <a:t>January 1, 2027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Level I: understand it before you touch the robot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I learned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FIVE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915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368296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Working at the cell without putting anyone at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96265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GMAW welding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97180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How wire, gas and an electric arc join the steel.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438144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5661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The WPS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575304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The approved recipe that every weld has to follow.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041648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6966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Defects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178808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Recognizing a bad weld and understanding its cause.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645152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7731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782312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The settings that shape the weld, and their limits.</a:t>
            </a:r>
          </a:p>
        </p:txBody>
      </p:sp>
      <p:sp>
        <p:nvSpPr>
          <p:cNvPr id="20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HOW I LEARNED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331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5FB00"/>
                </a:solidFill>
                <a:latin typeface="Segoe UI"/>
              </a:rPr>
              <a:t>616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7889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pages of training manual and customer standard, read page by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3375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5FB00"/>
                </a:solidFill>
                <a:latin typeface="Segoe UI"/>
              </a:rPr>
              <a:t>Daily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9476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at the cells, attending robot stops with the technicians.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343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5FB00"/>
                </a:solidFill>
                <a:latin typeface="Segoe UI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006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questions of a practice exam from previous years, solved.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Four skills on my own, thirteen in progress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Progress on the 23 skills of the program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836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293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Understands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76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9 skills</a:t>
            </a:r>
          </a:p>
        </p:txBody>
      </p:sp>
      <p:sp>
        <p:nvSpPr>
          <p:cNvPr id="8" name="Oval 7"/>
          <p:cNvSpPr/>
          <p:nvPr/>
        </p:nvSpPr>
        <p:spPr>
          <a:xfrm>
            <a:off x="315468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8620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500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80760" y="1993392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6974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With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5 skills</a:t>
            </a:r>
          </a:p>
        </p:txBody>
      </p:sp>
      <p:sp>
        <p:nvSpPr>
          <p:cNvPr id="20" name="Oval 19"/>
          <p:cNvSpPr/>
          <p:nvPr/>
        </p:nvSpPr>
        <p:spPr>
          <a:xfrm>
            <a:off x="315468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2044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86200" y="2761488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51960" y="2761488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17720" y="2761488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4655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1246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3 skills</a:t>
            </a:r>
          </a:p>
        </p:txBody>
      </p:sp>
      <p:sp>
        <p:nvSpPr>
          <p:cNvPr id="28" name="Oval 27"/>
          <p:cNvSpPr/>
          <p:nvPr/>
        </p:nvSpPr>
        <p:spPr>
          <a:xfrm>
            <a:off x="3154680" y="3529584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20440" y="3529584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86200" y="3529584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33A0"/>
                </a:solidFill>
                <a:latin typeface="Segoe UI"/>
              </a:rPr>
              <a:t>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1C2C"/>
                </a:solidFill>
                <a:latin typeface="Segoe UI"/>
              </a:rPr>
              <a:t>Improves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480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6 skills</a:t>
            </a:r>
          </a:p>
        </p:txBody>
      </p:sp>
      <p:sp>
        <p:nvSpPr>
          <p:cNvPr id="34" name="Oval 33"/>
          <p:cNvSpPr/>
          <p:nvPr/>
        </p:nvSpPr>
        <p:spPr>
          <a:xfrm>
            <a:off x="3154680" y="4297680"/>
            <a:ext cx="237744" cy="237744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0440" y="4297680"/>
            <a:ext cx="237744" cy="237744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8620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1772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83480" y="4297680"/>
            <a:ext cx="237744" cy="237744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54680" y="5047488"/>
            <a:ext cx="164592" cy="164592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0712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On my own</a:t>
            </a:r>
          </a:p>
        </p:txBody>
      </p:sp>
      <p:sp>
        <p:nvSpPr>
          <p:cNvPr id="42" name="Oval 41"/>
          <p:cNvSpPr/>
          <p:nvPr/>
        </p:nvSpPr>
        <p:spPr>
          <a:xfrm>
            <a:off x="4636008" y="5047488"/>
            <a:ext cx="164592" cy="164592"/>
          </a:xfrm>
          <a:prstGeom prst="ellipse">
            <a:avLst/>
          </a:prstGeom>
          <a:solidFill>
            <a:srgbClr val="0033A0">
              <a:alpha val="35000"/>
            </a:srgbClr>
          </a:solidFill>
          <a:ln w="15875">
            <a:solidFill>
              <a:srgbClr val="0033A0"/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In progress</a:t>
            </a:r>
          </a:p>
        </p:txBody>
      </p:sp>
      <p:sp>
        <p:nvSpPr>
          <p:cNvPr id="44" name="Oval 43"/>
          <p:cNvSpPr/>
          <p:nvPr/>
        </p:nvSpPr>
        <p:spPr>
          <a:xfrm>
            <a:off x="6117336" y="5047488"/>
            <a:ext cx="164592" cy="164592"/>
          </a:xfrm>
          <a:prstGeom prst="ellipse">
            <a:avLst/>
          </a:prstGeom>
          <a:noFill/>
          <a:ln w="12700">
            <a:solidFill>
              <a:srgbClr val="6B7A83">
                <a:alpha val="60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83"/>
                </a:solidFill>
                <a:latin typeface="Segoe UI"/>
              </a:rPr>
              <a:t>Not started</a:t>
            </a:r>
          </a:p>
        </p:txBody>
      </p:sp>
      <p:sp>
        <p:nvSpPr>
          <p:cNvPr id="46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ON MY OWN TODAY</a:t>
            </a:r>
          </a:p>
        </p:txBody>
      </p:sp>
      <p:sp>
        <p:nvSpPr>
          <p:cNvPr id="48" name="Chevron 47"/>
          <p:cNvSpPr/>
          <p:nvPr/>
        </p:nvSpPr>
        <p:spPr>
          <a:xfrm>
            <a:off x="8458200" y="2478024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23957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Changing consumables</a:t>
            </a:r>
          </a:p>
        </p:txBody>
      </p:sp>
      <p:sp>
        <p:nvSpPr>
          <p:cNvPr id="50" name="Chevron 49"/>
          <p:cNvSpPr/>
          <p:nvPr/>
        </p:nvSpPr>
        <p:spPr>
          <a:xfrm>
            <a:off x="8458200" y="3136391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20" y="305409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Adjusting the key welding settings</a:t>
            </a:r>
          </a:p>
        </p:txBody>
      </p:sp>
      <p:sp>
        <p:nvSpPr>
          <p:cNvPr id="52" name="Chevron 51"/>
          <p:cNvSpPr/>
          <p:nvPr/>
        </p:nvSpPr>
        <p:spPr>
          <a:xfrm>
            <a:off x="8458200" y="3794760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371246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Reading weld symbols on drawings</a:t>
            </a:r>
          </a:p>
        </p:txBody>
      </p:sp>
      <p:sp>
        <p:nvSpPr>
          <p:cNvPr id="54" name="Chevron 53"/>
          <p:cNvSpPr/>
          <p:nvPr/>
        </p:nvSpPr>
        <p:spPr>
          <a:xfrm>
            <a:off x="8458200" y="4453128"/>
            <a:ext cx="128016" cy="128016"/>
          </a:xfrm>
          <a:prstGeom prst="chevron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437083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Closing ANDON calls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49834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33A0"/>
                </a:solidFill>
                <a:latin typeface="Segoe UI"/>
              </a:rPr>
              <a:t>Level I: exam still pending.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Most of my time goes to industrialization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How my time is split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4754880" cy="388620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5FB00"/>
                </a:solidFill>
                <a:latin typeface="Segoe UI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69748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Industrialization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429000"/>
            <a:ext cx="4023360" cy="14630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3429000"/>
            <a:ext cx="2414016" cy="14630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886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4348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Support at the robotic cells: stops, adjustments and ANDON calls.</a:t>
            </a:r>
          </a:p>
        </p:txBody>
      </p:sp>
      <p:sp>
        <p:nvSpPr>
          <p:cNvPr id="11" name="!! Glass B"/>
          <p:cNvSpPr/>
          <p:nvPr/>
        </p:nvSpPr>
        <p:spPr>
          <a:xfrm>
            <a:off x="5303520" y="1600200"/>
            <a:ext cx="662940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THE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04288"/>
            <a:ext cx="5897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Industrialization of the new Cummins project, together with Engineering.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310128"/>
            <a:ext cx="1097280" cy="2743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547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WHAT INDUSTRIALIZATION 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950208"/>
            <a:ext cx="5897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6CDD1"/>
                </a:solidFill>
                <a:latin typeface="Segoe UI"/>
              </a:rPr>
              <a:t>Getting a new process ready to run on the floor: equipment, programs, trials and the release to production.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Improvement idea: from a manual booth to the 4M cell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Improvement idea and implementation  |  Done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88620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860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Long welds, done by hand in a manual booth: 146 s of welding per part, in uncomfortable positions.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01568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Move the process to 4M, an automatic robotic cell, with the same fixture.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06240"/>
            <a:ext cx="1097280" cy="274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389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7548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33A0"/>
                </a:solidFill>
                <a:latin typeface="Segoe UI"/>
              </a:rPr>
              <a:t>Running in 4M today. The robot welds, and the team member only loads and unloads.</a:t>
            </a:r>
          </a:p>
        </p:txBody>
      </p:sp>
      <p:sp>
        <p:nvSpPr>
          <p:cNvPr id="12" name="!! Glass B"/>
          <p:cNvSpPr/>
          <p:nvPr/>
        </p:nvSpPr>
        <p:spPr>
          <a:xfrm>
            <a:off x="6382512" y="1600200"/>
            <a:ext cx="5550408" cy="184708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7104" y="1764792"/>
            <a:ext cx="5221224" cy="1517904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49424"/>
            <a:ext cx="5550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3A0"/>
                </a:solidFill>
                <a:latin typeface="Segoe UI"/>
              </a:rPr>
              <a:t>PHOTO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Before: manual welding booth</a:t>
            </a:r>
          </a:p>
        </p:txBody>
      </p:sp>
      <p:sp>
        <p:nvSpPr>
          <p:cNvPr id="15" name="!! Glass C"/>
          <p:cNvSpPr/>
          <p:nvPr/>
        </p:nvSpPr>
        <p:spPr>
          <a:xfrm>
            <a:off x="6382512" y="3639312"/>
            <a:ext cx="5550408" cy="184708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7104" y="3803904"/>
            <a:ext cx="5221224" cy="1517904"/>
          </a:xfrm>
          <a:prstGeom prst="rect">
            <a:avLst/>
          </a:prstGeom>
          <a:noFill/>
          <a:ln w="9525">
            <a:solidFill>
              <a:srgbClr val="6B7A83">
                <a:alpha val="35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288536"/>
            <a:ext cx="5550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3A0"/>
                </a:solidFill>
                <a:latin typeface="Segoe UI"/>
              </a:rPr>
              <a:t>PHOTO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After: 4M robotic cell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Same part, 47% less cycle time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Improvement  |  Results, in seconds per part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543800" cy="388620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CYCLE TIME PER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95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Manual booth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743200"/>
            <a:ext cx="603188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412" y="2743200"/>
            <a:ext cx="4576099" cy="420624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5943" y="2743200"/>
            <a:ext cx="224816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7977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174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5112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4M robotic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858768"/>
            <a:ext cx="603188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412" y="3858768"/>
            <a:ext cx="2022085" cy="420624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1C2C"/>
                </a:solidFill>
                <a:latin typeface="Segoe UI"/>
              </a:rPr>
              <a:t>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1929" y="3858768"/>
            <a:ext cx="224816" cy="420624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3906" y="389534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5FB00"/>
                </a:solidFill>
                <a:latin typeface="Segoe UI"/>
              </a:rPr>
              <a:t>93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4681728"/>
            <a:ext cx="164592" cy="164592"/>
          </a:xfrm>
          <a:prstGeom prst="rect">
            <a:avLst/>
          </a:prstGeom>
          <a:solidFill>
            <a:srgbClr val="C6CDD1">
              <a:alpha val="3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6542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Load and unload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2032" y="4681728"/>
            <a:ext cx="164592" cy="164592"/>
          </a:xfrm>
          <a:prstGeom prst="rect">
            <a:avLst/>
          </a:prstGeom>
          <a:solidFill>
            <a:srgbClr val="C6CDD1">
              <a:alpha val="70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064" y="46542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Welding by hand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4681728"/>
            <a:ext cx="164592" cy="164592"/>
          </a:xfrm>
          <a:prstGeom prst="rect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46542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6CDD1"/>
                </a:solidFill>
                <a:latin typeface="Segoe UI"/>
              </a:rPr>
              <a:t>Welding by robot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01091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BA8"/>
                </a:solidFill>
                <a:latin typeface="Segoe UI"/>
              </a:rPr>
              <a:t>Same fixture, so loading and unloading take the same time. The gain is all in the welding.</a:t>
            </a:r>
          </a:p>
        </p:txBody>
      </p:sp>
      <p:sp>
        <p:nvSpPr>
          <p:cNvPr id="23" name="!! Glass B"/>
          <p:cNvSpPr/>
          <p:nvPr/>
        </p:nvSpPr>
        <p:spPr>
          <a:xfrm>
            <a:off x="8092440" y="1600200"/>
            <a:ext cx="384048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8470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−47%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450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cycle time, 174 s to 93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03580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−56%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6393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welding time, 146 s to 65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2245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5FB00"/>
                </a:solidFill>
                <a:latin typeface="Segoe UI"/>
              </a:rPr>
              <a:t>81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saved on every part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What I would change in how setters learn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Final project  |  Training process update, a proposal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965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108960"/>
            <a:ext cx="3044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616 pages of training manual and customer standard, page by page, against what Level I asks.</a:t>
            </a:r>
          </a:p>
        </p:txBody>
      </p:sp>
      <p:sp>
        <p:nvSpPr>
          <p:cNvPr id="8" name="!! Card 2"/>
          <p:cNvSpPr/>
          <p:nvPr/>
        </p:nvSpPr>
        <p:spPr>
          <a:xfrm>
            <a:off x="4251960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965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3108960"/>
            <a:ext cx="3044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Gaps: topics the exam asks about that the material barely covers, and an error in one key table.</a:t>
            </a:r>
          </a:p>
        </p:txBody>
      </p:sp>
      <p:sp>
        <p:nvSpPr>
          <p:cNvPr id="12" name="!! Glass B"/>
          <p:cNvSpPr/>
          <p:nvPr/>
        </p:nvSpPr>
        <p:spPr>
          <a:xfrm>
            <a:off x="8247888" y="1691640"/>
            <a:ext cx="3703320" cy="306324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965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033A0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1C2C"/>
                </a:solidFill>
                <a:latin typeface="Segoe UI"/>
              </a:rPr>
              <a:t>Rebuilt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108960"/>
            <a:ext cx="3044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A83"/>
                </a:solidFill>
                <a:latin typeface="Segoe UI"/>
              </a:rPr>
              <a:t>The schedule, in the plant’s own format, so plan and reality can be compared week by week.</a:t>
            </a:r>
          </a:p>
        </p:txBody>
      </p:sp>
      <p:sp>
        <p:nvSpPr>
          <p:cNvPr id="16" name="!! Strip"/>
          <p:cNvSpPr/>
          <p:nvPr/>
        </p:nvSpPr>
        <p:spPr>
          <a:xfrm>
            <a:off x="256032" y="4956048"/>
            <a:ext cx="11676888" cy="566928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33A0"/>
                </a:solidFill>
                <a:latin typeface="Segoe UI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120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51C2C"/>
                </a:solidFill>
                <a:latin typeface="Segoe UI"/>
              </a:rPr>
              <a:t>Use the corrected material and the new schedule with the next group of setters.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Next: from knowing it to doing it alone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D5FB00"/>
                </a:solidFill>
                <a:latin typeface="Segoe UI"/>
              </a:rPr>
              <a:t>What comes next, until January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7223760" cy="3886200"/>
          </a:xfrm>
          <a:prstGeom prst="rect">
            <a:avLst/>
          </a:prstGeom>
          <a:blipFill rotWithShape="1">
            <a:blip r:embed="rId2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NEXT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957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Validate settings and find defects at the cell, with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November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191256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1927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5584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Create and set up robot programs on my own (SKS).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850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December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151376"/>
            <a:ext cx="6492240" cy="9144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279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FB00"/>
                </a:solidFill>
                <a:latin typeface="Segoe UI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1596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Solve problems, share what I learn, keep improving.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451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CDD1"/>
                </a:solidFill>
                <a:latin typeface="Segoe UI"/>
              </a:rPr>
              <a:t>Already started with 4M</a:t>
            </a:r>
          </a:p>
        </p:txBody>
      </p:sp>
      <p:sp>
        <p:nvSpPr>
          <p:cNvPr id="17" name="!! Glass B"/>
          <p:cNvSpPr/>
          <p:nvPr/>
        </p:nvSpPr>
        <p:spPr>
          <a:xfrm>
            <a:off x="7818120" y="1600200"/>
            <a:ext cx="4114800" cy="3886200"/>
          </a:xfrm>
          <a:prstGeom prst="rect">
            <a:avLst/>
          </a:prstGeom>
          <a:blipFill rotWithShape="1">
            <a:blip r:embed="rId3">
              <a:alphaModFix amt="50000"/>
            </a:blip>
            <a:stretch>
              <a:fillRect/>
            </a:stretch>
          </a:blipFill>
          <a:ln w="9525">
            <a:solidFill>
              <a:srgbClr val="FFFFFF">
                <a:alpha val="16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FB00"/>
                </a:solidFill>
                <a:latin typeface="Segoe UI"/>
              </a:rPr>
              <a:t>WHAT I NEED</a:t>
            </a:r>
          </a:p>
        </p:txBody>
      </p:sp>
      <p:sp>
        <p:nvSpPr>
          <p:cNvPr id="19" name="Chevron 18"/>
          <p:cNvSpPr/>
          <p:nvPr/>
        </p:nvSpPr>
        <p:spPr>
          <a:xfrm>
            <a:off x="8183879" y="247802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39572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A date for my Level I exam</a:t>
            </a:r>
          </a:p>
        </p:txBody>
      </p:sp>
      <p:sp>
        <p:nvSpPr>
          <p:cNvPr id="21" name="Chevron 20"/>
          <p:cNvSpPr/>
          <p:nvPr/>
        </p:nvSpPr>
        <p:spPr>
          <a:xfrm>
            <a:off x="8183879" y="320954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12724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Supervised time programming robots in SKS</a:t>
            </a:r>
          </a:p>
        </p:txBody>
      </p:sp>
      <p:sp>
        <p:nvSpPr>
          <p:cNvPr id="23" name="Chevron 22"/>
          <p:cNvSpPr/>
          <p:nvPr/>
        </p:nvSpPr>
        <p:spPr>
          <a:xfrm>
            <a:off x="8183879" y="3941064"/>
            <a:ext cx="128016" cy="128016"/>
          </a:xfrm>
          <a:prstGeom prst="chevron">
            <a:avLst/>
          </a:prstGeom>
          <a:solidFill>
            <a:srgbClr val="D5FB0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85876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Your feedback on the training proposal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sz="2800" b="1">
                <a:solidFill>
                  <a:srgbClr val="051C2C"/>
                </a:solidFill>
                <a:latin typeface="Segoe UI"/>
              </a:rPr>
              <a:t>Conclusions and next steps</a:t>
            </a:r>
          </a:p>
        </p:txBody>
      </p:sp>
      <p:sp>
        <p:nvSpPr>
          <p:cNvPr id="3" name="!! Subtitle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1300" b="0">
                <a:solidFill>
                  <a:srgbClr val="0033A0"/>
                </a:solidFill>
                <a:latin typeface="Segoe UI"/>
              </a:rPr>
              <a:t>What is in place, and what comes next</a:t>
            </a:r>
          </a:p>
        </p:txBody>
      </p:sp>
      <p:sp>
        <p:nvSpPr>
          <p:cNvPr id="4" name="!! Glass A"/>
          <p:cNvSpPr/>
          <p:nvPr/>
        </p:nvSpPr>
        <p:spPr>
          <a:xfrm>
            <a:off x="256032" y="1600200"/>
            <a:ext cx="5806440" cy="37033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IN PLACE</a:t>
            </a:r>
          </a:p>
        </p:txBody>
      </p:sp>
      <p:sp>
        <p:nvSpPr>
          <p:cNvPr id="6" name="!! Glass B"/>
          <p:cNvSpPr/>
          <p:nvPr/>
        </p:nvSpPr>
        <p:spPr>
          <a:xfrm>
            <a:off x="6382512" y="1600200"/>
            <a:ext cx="5550408" cy="3703320"/>
          </a:xfrm>
          <a:prstGeom prst="rect">
            <a:avLst/>
          </a:prstGeom>
          <a:solidFill>
            <a:srgbClr val="051C2C">
              <a:alpha val="4000"/>
            </a:srgbClr>
          </a:solidFill>
          <a:ln w="9525">
            <a:solidFill>
              <a:srgbClr val="051C2C">
                <a:alpha val="12000"/>
              </a:srgbClr>
            </a:solidFill>
          </a:ln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901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33A0"/>
                </a:solidFill>
                <a:latin typeface="Segoe U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Level I studied in full, and four skills done on my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10128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A manual weld moved to the 4M robotic cell: 47% less cycle time, less strain.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24528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A reviewed study path, and a schedule that shows plan versus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395728"/>
            <a:ext cx="4818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Pass the Level I exam in October.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3310128"/>
            <a:ext cx="4818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Reach Levels L and U before January.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224528"/>
            <a:ext cx="4818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51C2C"/>
                </a:solidFill>
                <a:latin typeface="Segoe UI"/>
              </a:rPr>
              <a:t>Keep measuring 4M, and find the next weld to automate.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150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33A0"/>
                </a:solidFill>
                <a:latin typeface="Segoe UI"/>
              </a:rPr>
              <a:t>I came to learn robotic welding, and I am already improving it.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 Title 1"/>
          <p:cNvSpPr txBox="1"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4068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6CDD1"/>
                </a:solidFill>
                <a:latin typeface="Segoe UI"/>
              </a:rPr>
              <a:t>Diego Adair de León Márquez   |   Engineering Department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1_White">
  <a:themeElements>
    <a:clrScheme name="Tenneco Color 25">
      <a:dk1>
        <a:srgbClr val="000000"/>
      </a:dk1>
      <a:lt1>
        <a:srgbClr val="FFFFFF"/>
      </a:lt1>
      <a:dk2>
        <a:srgbClr val="051C2C"/>
      </a:dk2>
      <a:lt2>
        <a:srgbClr val="E8EBEC"/>
      </a:lt2>
      <a:accent1>
        <a:srgbClr val="0033A0"/>
      </a:accent1>
      <a:accent2>
        <a:srgbClr val="D5FB00"/>
      </a:accent2>
      <a:accent3>
        <a:srgbClr val="75F0E7"/>
      </a:accent3>
      <a:accent4>
        <a:srgbClr val="001D34"/>
      </a:accent4>
      <a:accent5>
        <a:srgbClr val="C6CDD1"/>
      </a:accent5>
      <a:accent6>
        <a:srgbClr val="0033A0"/>
      </a:accent6>
      <a:hlink>
        <a:srgbClr val="005CA6"/>
      </a:hlink>
      <a:folHlink>
        <a:srgbClr val="00B050"/>
      </a:folHlink>
    </a:clrScheme>
    <a:fontScheme name="Tennec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B157E22-A02F-4FAF-A2FB-73BD9D9D4FFB}" vid="{EF3754FB-E33A-4020-9705-0817439DF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0B4C10F8A3B04DA4DBE0F0A3904D74" ma:contentTypeVersion="16" ma:contentTypeDescription="Create a new document." ma:contentTypeScope="" ma:versionID="52f2129a391aed5232fef677c67f3900">
  <xsd:schema xmlns:xsd="http://www.w3.org/2001/XMLSchema" xmlns:xs="http://www.w3.org/2001/XMLSchema" xmlns:p="http://schemas.microsoft.com/office/2006/metadata/properties" xmlns:ns3="5c14cc6d-e40f-4b2d-a417-eec04fa8d460" xmlns:ns4="ceee2a82-2205-4a84-b9c6-2fd18c27ec94" targetNamespace="http://schemas.microsoft.com/office/2006/metadata/properties" ma:root="true" ma:fieldsID="f156e9a2547d43c7295749e76bd37f10" ns3:_="" ns4:_="">
    <xsd:import namespace="5c14cc6d-e40f-4b2d-a417-eec04fa8d460"/>
    <xsd:import namespace="ceee2a82-2205-4a84-b9c6-2fd18c27ec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4cc6d-e40f-4b2d-a417-eec04fa8d4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ee2a82-2205-4a84-b9c6-2fd18c27ec9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14cc6d-e40f-4b2d-a417-eec04fa8d4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66201A-1EA5-482A-9784-C5B52D8AB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4cc6d-e40f-4b2d-a417-eec04fa8d460"/>
    <ds:schemaRef ds:uri="ceee2a82-2205-4a84-b9c6-2fd18c27ec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D069B-D1CD-4CA8-B708-14136CD06A0E}">
  <ds:schemaRefs>
    <ds:schemaRef ds:uri="ceee2a82-2205-4a84-b9c6-2fd18c27ec94"/>
    <ds:schemaRef ds:uri="http://schemas.microsoft.com/office/2006/metadata/properties"/>
    <ds:schemaRef ds:uri="http://purl.org/dc/terms/"/>
    <ds:schemaRef ds:uri="http://purl.org/dc/elements/1.1/"/>
    <ds:schemaRef ds:uri="5c14cc6d-e40f-4b2d-a417-eec04fa8d460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9CD2D24-FE7C-438A-8DC6-540DB83786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Tenneco PPT template.February 2024</Template>
  <TotalTime>4104</TotalTime>
  <Words>575</Words>
  <Application>Microsoft Office PowerPoint</Application>
  <PresentationFormat>Widescreen</PresentationFormat>
  <Paragraphs>295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Segoe UI</vt:lpstr>
      <vt:lpstr>Wingdings</vt:lpstr>
      <vt:lpstr>1_White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Tenneco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Neely, Marissa</dc:creator>
  <cp:lastModifiedBy>Canales, Rocio Vianey</cp:lastModifiedBy>
  <cp:revision>27</cp:revision>
  <dcterms:created xsi:type="dcterms:W3CDTF">2025-02-07T15:41:40Z</dcterms:created>
  <dcterms:modified xsi:type="dcterms:W3CDTF">2026-09-11T16:09:19Z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  <property fmtid="{D5CDD505-2E9C-101B-9397-08002B2CF9AE}" pid="4" name="TaxKeyword">
    <vt:lpwstr/>
  </property>
  <property fmtid="{D5CDD505-2E9C-101B-9397-08002B2CF9AE}" pid="5" name="Topic">
    <vt:lpwstr/>
  </property>
  <property fmtid="{D5CDD505-2E9C-101B-9397-08002B2CF9AE}" pid="6" name="ContentTypeId">
    <vt:lpwstr>0x010100720B4C10F8A3B04DA4DBE0F0A3904D74</vt:lpwstr>
  </property>
  <property fmtid="{D5CDD505-2E9C-101B-9397-08002B2CF9AE}" pid="7" name="Team">
    <vt:lpwstr>4;#Communications|55433342-d803-4d30-a5b5-f7b631e0c9e4</vt:lpwstr>
  </property>
  <property fmtid="{D5CDD505-2E9C-101B-9397-08002B2CF9AE}" pid="8" name="ResourceType">
    <vt:lpwstr/>
  </property>
  <property fmtid="{D5CDD505-2E9C-101B-9397-08002B2CF9AE}" pid="9" name="TeamType">
    <vt:lpwstr>6;#Function|ae29062b-af98-4a35-a748-b0a4bdb4b1fa</vt:lpwstr>
  </property>
  <property fmtid="{D5CDD505-2E9C-101B-9397-08002B2CF9AE}" pid="10" name="Languages">
    <vt:lpwstr>1;#|94dd1d05-d422-4901-bbbe-44330005c902</vt:lpwstr>
  </property>
  <property fmtid="{D5CDD505-2E9C-101B-9397-08002B2CF9AE}" pid="11" name="MSIP_Label_7303cfa0-d896-4cc6-b4f0-0d6fcb44e974_Enabled">
    <vt:lpwstr>true</vt:lpwstr>
  </property>
  <property fmtid="{D5CDD505-2E9C-101B-9397-08002B2CF9AE}" pid="12" name="MSIP_Label_7303cfa0-d896-4cc6-b4f0-0d6fcb44e974_SetDate">
    <vt:lpwstr>2022-03-08T15:09:46Z</vt:lpwstr>
  </property>
  <property fmtid="{D5CDD505-2E9C-101B-9397-08002B2CF9AE}" pid="13" name="MSIP_Label_7303cfa0-d896-4cc6-b4f0-0d6fcb44e974_Method">
    <vt:lpwstr>Standard</vt:lpwstr>
  </property>
  <property fmtid="{D5CDD505-2E9C-101B-9397-08002B2CF9AE}" pid="14" name="MSIP_Label_7303cfa0-d896-4cc6-b4f0-0d6fcb44e974_Name">
    <vt:lpwstr>General Not Encrypted</vt:lpwstr>
  </property>
  <property fmtid="{D5CDD505-2E9C-101B-9397-08002B2CF9AE}" pid="15" name="MSIP_Label_7303cfa0-d896-4cc6-b4f0-0d6fcb44e974_SiteId">
    <vt:lpwstr>a33489ef-a7bc-48cc-9660-8a2d7703dcc7</vt:lpwstr>
  </property>
  <property fmtid="{D5CDD505-2E9C-101B-9397-08002B2CF9AE}" pid="16" name="MSIP_Label_7303cfa0-d896-4cc6-b4f0-0d6fcb44e974_ActionId">
    <vt:lpwstr>1343a2ce-de59-4d00-aa98-518ac6d980ae</vt:lpwstr>
  </property>
  <property fmtid="{D5CDD505-2E9C-101B-9397-08002B2CF9AE}" pid="17" name="MSIP_Label_7303cfa0-d896-4cc6-b4f0-0d6fcb44e974_ContentBits">
    <vt:lpwstr>0</vt:lpwstr>
  </property>
  <property fmtid="{D5CDD505-2E9C-101B-9397-08002B2CF9AE}" pid="18" name="MediaServiceImageTags">
    <vt:lpwstr/>
  </property>
  <property fmtid="{D5CDD505-2E9C-101B-9397-08002B2CF9AE}" pid="19" name="MSIP_Label_40aec7cc-352d-4b45-bfa1-c0f7d77959a8_Enabled">
    <vt:lpwstr>true</vt:lpwstr>
  </property>
  <property fmtid="{D5CDD505-2E9C-101B-9397-08002B2CF9AE}" pid="20" name="MSIP_Label_40aec7cc-352d-4b45-bfa1-c0f7d77959a8_SetDate">
    <vt:lpwstr>2025-02-25T20:55:55Z</vt:lpwstr>
  </property>
  <property fmtid="{D5CDD505-2E9C-101B-9397-08002B2CF9AE}" pid="21" name="MSIP_Label_40aec7cc-352d-4b45-bfa1-c0f7d77959a8_Method">
    <vt:lpwstr>Privileged</vt:lpwstr>
  </property>
  <property fmtid="{D5CDD505-2E9C-101B-9397-08002B2CF9AE}" pid="22" name="MSIP_Label_40aec7cc-352d-4b45-bfa1-c0f7d77959a8_Name">
    <vt:lpwstr>General Confidential - Tenneco Confidential</vt:lpwstr>
  </property>
  <property fmtid="{D5CDD505-2E9C-101B-9397-08002B2CF9AE}" pid="23" name="MSIP_Label_40aec7cc-352d-4b45-bfa1-c0f7d77959a8_SiteId">
    <vt:lpwstr>6eec918b-f654-44a7-ac1a-abfdb64e694e</vt:lpwstr>
  </property>
  <property fmtid="{D5CDD505-2E9C-101B-9397-08002B2CF9AE}" pid="24" name="MSIP_Label_40aec7cc-352d-4b45-bfa1-c0f7d77959a8_ActionId">
    <vt:lpwstr>42cda4f5-515a-4292-adf7-13e863a999f7</vt:lpwstr>
  </property>
  <property fmtid="{D5CDD505-2E9C-101B-9397-08002B2CF9AE}" pid="25" name="MSIP_Label_40aec7cc-352d-4b45-bfa1-c0f7d77959a8_ContentBits">
    <vt:lpwstr>1</vt:lpwstr>
  </property>
  <property fmtid="{D5CDD505-2E9C-101B-9397-08002B2CF9AE}" pid="26" name="ClassificationContentMarkingHeaderLocations">
    <vt:lpwstr>1_White:9</vt:lpwstr>
  </property>
  <property fmtid="{D5CDD505-2E9C-101B-9397-08002B2CF9AE}" pid="27" name="ClassificationContentMarkingHeaderText">
    <vt:lpwstr>General Confidential - Tenneco Confidential</vt:lpwstr>
  </property>
</Properties>
</file>