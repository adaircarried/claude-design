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 id="266" r:id="rId24"/>
    <p:sldId id="267" r:id="rId25"/>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León, and I study Mechatronics Engineering at the Universidad Politécnica de Aguascalientes. Since August I have been part of the Robotics Setter Technician program here in Aguascalientes, with Fernando Robledo as my plant tutor. In the next fifteen minutes I will show you what the program asks of me, what I have learned so far, and the improvement we already put on the floor.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Tenneco value I identify with is Win. Win means earning the trust of our people and our customers. On the floor, trust is not given because of a title. You earn it by showing up when a robot stops, by learning the process properly, and by making someone else’s job better. The clearest moment for me was the improvement I will show you later: a long, uncomfortable weld that a team member did by hand now runs on a robot. That is what winning looks like to 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program in one sentence: become a specialist in robotic welding and advanced technical support. It matters because when a welding robot stops, the line stops with it. The program closes with a final project in two parts. First, an improvement that is actually implemented, in quality, availability or productivity. Second, an update to the training process, so the next setters learn faster. I already have something real for both, and I will show you each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 follows four levels, the same ILUO path the plant uses for any skill. I is understanding: safety, how the welding process works, the approved procedure, defects and settings. L is doing it with support: adjustments, checking settings and changing consumables. U is doing it alone, which here means programming the robot. And O is the highest level: solving problems, teaching others and improving the process. Each level builds on the one before.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we are in time. The program started on August 1 and closes on January 1. Today I am eight weeks in, with fourteen to go. The next step is the Level I exam, planned for October. After that, November and December are for Levels L and U, where the work moves from knowing to doing: first with support, then on my own. One thing to keep in mind: there are no fixed training hours. Most of the learning happens while we attend real stops at the cells.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I is about understanding before touching anything. It has five topics. Safety, so nobody gets hurt around the cell. GMAW welding, which is how the robot joins steel with wire, gas and an electric arc. The WPS, the approved recipe every weld must follow. Defects, meaning how to recognize a bad weld and what caused it. And parameters, the settings that shape the weld and how far they are allowed to move. I learned it from six hundred pages of material, a practice exam, and every day at the cells.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honest status on the twenty three skills of the program. Four I already do on my own: changing consumables, adjusting the key welding settings, reading weld symbols on drawings, and closing ANDON calls. Thirteen are in progress, including all of Level I, which I have studied completely but still have to prove in the exam. Six have not started yet, most of them in the top level. The 4M improvement counts here too: it is my first step in the improvement skill.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sixty percent of my time goes to an industrialization project with Engineering. Industrialization means getting a new process ready to run on the floor: the equipment, the programs, the trials and the release to production. [Add one or two sentences on the project and your role.] The other forty percent is support at the robotic cells, and that is where most of my hands-on learning comes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It started with one process that ran in a manual welding booth. The welds on this part were long, so every part took a long time. And for the team member it was hard work: uncomfortable positions, held for a long time, part after part. My supervisor and I asked a simple question: why is a person doing the longest and hardest weld, when we have robots that can do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we did it, in four steps. First, we studied the part: which welds, how long they took, and what made them hard. Second, we moved the part into the 4M cell, which is an automatic welding cell. Third, we programmed the robot and adjusted the welding settings until the weld was right. And fourth, we checked the weld quality and released it to production. I did this together with my supervisor, from the idea to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 the results. Before, in the manual booth, each part took XX minutes. Now, in the 4M cell, it takes XX minutes. That is XX percent less process time. XX welds moved from a person to the robot, and the team member no longer spends XX minutes per shift in uncomfortable positions. For me, this is the part I am proudest of: the process got faster, and a person’s work got better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final project is the training process. I read the full training material, more than six hundred pages including the customer standard, and compared it with what Level I asks. I found gaps: for example, the practice exam spends eight of its twenty five questions on TIG welding, which the skill matrix does not mention. I also found an error in one of the key tables. And I rebuilt the training schedule in the plant format, so we can compare the plan with what really happened. My proposal is to use both with the next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comes next. In November, Level L: validating settings and finding defects at the cell, with support. In December, Level U: creating and setting up robot programs on my own. Level O, solving problems and improving, already started with 4M. To get there I need three things: a date for my Level I exam, supervised time programming robots, and your feedback on the training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In place today: Level I studied in full, four skills I do on my own, a manual weld moved to the 4M cell with less time and less strain, and a reviewed training path. Next: pass the Level I exam in October, reach Levels L and U before January, and keep measuring 4M while we look for the next weld to automate. I came here to learn robotic welding, and I am already improving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16.jp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jpg"/><Relationship Id="rId3" Type="http://schemas.openxmlformats.org/officeDocument/2006/relationships/image" Target="../media/image34.jp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 Title 1">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sz="3000" b="1">
                <a:solidFill>
                  <a:srgbClr val="FFFFFF"/>
                </a:solidFill>
              </a:rPr>
              <a:t>Robotics Setter Technician Program</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sz="2000" b="1">
                <a:solidFill>
                  <a:srgbClr val="D5FB00"/>
                </a:solidFill>
              </a:rPr>
              <a:t>Robotic welding, from learning to improvement</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r>
              <a:rPr lang="en-US" dirty="0" sz="1300">
                <a:solidFill>
                  <a:srgbClr val="FFFFFF"/>
                </a:solidFill>
              </a:rPr>
              <a:t>Diego Adair de León Márquez</a:t>
            </a:r>
            <a:endParaRPr lang="en-US" dirty="0"/>
          </a:p>
        </p:txBody>
      </p:sp>
      <p:sp>
        <p:nvSpPr>
          <p:cNvPr id="12" name="TextBox 11"/>
          <p:cNvSpPr txBox="1"/>
          <p:nvPr/>
        </p:nvSpPr>
        <p:spPr>
          <a:xfrm>
            <a:off x="0" y="4892040"/>
            <a:ext cx="12191695" cy="914400"/>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Universidad Politécnica de Aguascalientes  |  Mechatronics Engineering, 9th term</a:t>
            </a:r>
          </a:p>
          <a:p>
            <a:pPr algn="ctr">
              <a:spcBef>
                <a:spcPts val="200"/>
              </a:spcBef>
              <a:spcAft>
                <a:spcPts val="0"/>
              </a:spcAft>
            </a:pPr>
            <a:r>
              <a:rPr sz="1100" b="0" i="0">
                <a:solidFill>
                  <a:srgbClr val="C6CDD1"/>
                </a:solidFill>
                <a:latin typeface="Segoe UI"/>
              </a:rPr>
              <a:t>Plant Tutor: Fernando Robledo</a:t>
            </a:r>
          </a:p>
          <a:p>
            <a:pPr algn="ctr">
              <a:spcBef>
                <a:spcPts val="200"/>
              </a:spcBef>
              <a:spcAft>
                <a:spcPts val="0"/>
              </a:spcAft>
            </a:pPr>
            <a:r>
              <a:rPr sz="1100" b="0" i="0">
                <a:solidFill>
                  <a:srgbClr val="D5FB00"/>
                </a:solidFill>
                <a:latin typeface="Segoe UI"/>
              </a:rPr>
              <a:t>Engineering Department  |  August 1, 2026 to January 1, 2027</a:t>
            </a:r>
          </a:p>
        </p:txBody>
      </p:sp>
    </p:spTree>
    <p:extLst>
      <p:ext uri="{BB962C8B-B14F-4D97-AF65-F5344CB8AC3E}">
        <p14:creationId xmlns:p14="http://schemas.microsoft.com/office/powerpoint/2010/main" val="40017965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 Glass A" descr="Decorative glass panel"/>
          <p:cNvPicPr>
            <a:picLocks noChangeAspect="1"/>
          </p:cNvPicPr>
          <p:nvPr/>
        </p:nvPicPr>
        <p:blipFill>
          <a:blip r:embed="rId2">
            <a:alphaModFix amt="50000"/>
          </a:blip>
          <a:stretch>
            <a:fillRect/>
          </a:stretch>
        </p:blipFill>
        <p:spPr>
          <a:xfrm>
            <a:off x="841248" y="1828800"/>
            <a:ext cx="10515600" cy="3657600"/>
          </a:xfrm>
          <a:prstGeom prst="rect">
            <a:avLst/>
          </a:prstGeom>
        </p:spPr>
      </p:pic>
      <p:sp>
        <p:nvSpPr>
          <p:cNvPr id="3" name="!! Glass A rim"/>
          <p:cNvSpPr/>
          <p:nvPr/>
        </p:nvSpPr>
        <p:spPr>
          <a:xfrm>
            <a:off x="841248" y="1828800"/>
            <a:ext cx="10515600" cy="3657600"/>
          </a:xfrm>
          <a:prstGeom prst="rect">
            <a:avLst/>
          </a:prstGeom>
          <a:noFill/>
          <a:ln w="9525">
            <a:solidFill>
              <a:srgbClr val="FFFFFF">
                <a:alpha val="16000"/>
              </a:srgbClr>
            </a:solidFill>
          </a:ln>
        </p:spPr>
        <p:txBody>
          <a:bodyPr rtlCol="0" anchor="ctr" wrap="square" lIns="0" rIns="0" tIns="0" bIns="0"/>
          <a:lstStyle/>
          <a:p>
            <a:pPr algn="ctr"/>
          </a:p>
        </p:txBody>
      </p:sp>
      <p:sp>
        <p:nvSpPr>
          <p:cNvPr id="4" name="TextBox 3"/>
          <p:cNvSpPr txBox="1"/>
          <p:nvPr/>
        </p:nvSpPr>
        <p:spPr>
          <a:xfrm>
            <a:off x="1280160" y="2240280"/>
            <a:ext cx="9692640" cy="274320"/>
          </a:xfrm>
          <a:prstGeom prst="rect">
            <a:avLst/>
          </a:prstGeom>
          <a:noFill/>
        </p:spPr>
        <p:txBody>
          <a:bodyPr wrap="square" lIns="0" rIns="0" tIns="0" bIns="0" anchor="t">
            <a:spAutoFit/>
          </a:bodyPr>
          <a:lstStyle/>
          <a:p>
            <a:pPr algn="l">
              <a:spcBef>
                <a:spcPts val="0"/>
              </a:spcBef>
              <a:spcAft>
                <a:spcPts val="0"/>
              </a:spcAft>
            </a:pPr>
            <a:r>
              <a:rPr sz="1200" b="1" i="0">
                <a:solidFill>
                  <a:srgbClr val="D5FB00"/>
                </a:solidFill>
                <a:latin typeface="Segoe UI"/>
              </a:rPr>
              <a:t>THE TENNECO VALUE I IDENTIFY WITH</a:t>
            </a:r>
          </a:p>
        </p:txBody>
      </p:sp>
      <p:sp>
        <p:nvSpPr>
          <p:cNvPr id="5" name="!! Title 1"/>
          <p:cNvSpPr txBox="1"/>
          <p:nvPr/>
        </p:nvSpPr>
        <p:spPr>
          <a:xfrm>
            <a:off x="1280160" y="2743200"/>
            <a:ext cx="9692640" cy="914400"/>
          </a:xfrm>
          <a:prstGeom prst="rect">
            <a:avLst/>
          </a:prstGeom>
          <a:noFill/>
        </p:spPr>
        <p:txBody>
          <a:bodyPr wrap="square" lIns="0" rIns="0" tIns="0" bIns="0" anchor="t">
            <a:spAutoFit/>
          </a:bodyPr>
          <a:lstStyle/>
          <a:p>
            <a:pPr algn="l">
              <a:spcBef>
                <a:spcPts val="0"/>
              </a:spcBef>
              <a:spcAft>
                <a:spcPts val="0"/>
              </a:spcAft>
            </a:pPr>
            <a:r>
              <a:rPr sz="4200" b="1" i="0">
                <a:solidFill>
                  <a:srgbClr val="FFFFFF"/>
                </a:solidFill>
                <a:latin typeface="Segoe UI"/>
              </a:rPr>
              <a:t>Win</a:t>
            </a:r>
          </a:p>
        </p:txBody>
      </p:sp>
      <p:sp>
        <p:nvSpPr>
          <p:cNvPr id="6" name="Rectangle 5"/>
          <p:cNvSpPr/>
          <p:nvPr/>
        </p:nvSpPr>
        <p:spPr>
          <a:xfrm>
            <a:off x="1280160" y="3886200"/>
            <a:ext cx="1371600" cy="27432"/>
          </a:xfrm>
          <a:prstGeom prst="rect">
            <a:avLst/>
          </a:prstGeom>
          <a:solidFill>
            <a:srgbClr val="D5FB00"/>
          </a:solidFill>
          <a:ln>
            <a:noFill/>
          </a:ln>
        </p:spPr>
        <p:txBody>
          <a:bodyPr rtlCol="0" anchor="ctr" wrap="square" lIns="0" rIns="0" tIns="0" bIns="0"/>
          <a:lstStyle/>
          <a:p>
            <a:pPr algn="ctr"/>
          </a:p>
        </p:txBody>
      </p:sp>
      <p:sp>
        <p:nvSpPr>
          <p:cNvPr id="7" name="TextBox 6"/>
          <p:cNvSpPr txBox="1"/>
          <p:nvPr/>
        </p:nvSpPr>
        <p:spPr>
          <a:xfrm>
            <a:off x="1280160" y="4206240"/>
            <a:ext cx="9052560" cy="1280160"/>
          </a:xfrm>
          <a:prstGeom prst="rect">
            <a:avLst/>
          </a:prstGeom>
          <a:noFill/>
        </p:spPr>
        <p:txBody>
          <a:bodyPr wrap="square" lIns="0" rIns="0" tIns="0" bIns="0" anchor="t">
            <a:spAutoFit/>
          </a:bodyPr>
          <a:lstStyle/>
          <a:p>
            <a:pPr algn="l">
              <a:spcBef>
                <a:spcPts val="0"/>
              </a:spcBef>
              <a:spcAft>
                <a:spcPts val="0"/>
              </a:spcAft>
            </a:pPr>
            <a:r>
              <a:rPr sz="1500" b="0" i="1">
                <a:solidFill>
                  <a:srgbClr val="C6CDD1"/>
                </a:solidFill>
                <a:latin typeface="Segoe UI"/>
              </a:rPr>
              <a:t>We must earn the trust of our employees and customers.</a:t>
            </a:r>
          </a:p>
          <a:p>
            <a:pPr>
              <a:spcBef>
                <a:spcPts val="1000"/>
              </a:spcBef>
              <a:spcAft>
                <a:spcPts val="0"/>
              </a:spcAft>
            </a:pPr>
            <a:r>
              <a:rPr sz="1400" b="0" i="0">
                <a:solidFill>
                  <a:srgbClr val="D5FB00"/>
                </a:solidFill>
                <a:latin typeface="Segoe UI"/>
              </a:rPr>
              <a:t>For me, winning meant taking the longest, hardest weld off a team member’s hands.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Program scope and objective</a:t>
            </a:r>
          </a:p>
        </p:txBody>
      </p:sp>
      <p:sp>
        <p:nvSpPr>
          <p:cNvPr id="3" name="!! Subtitle 1"/>
          <p:cNvSpPr>
            <a:spLocks noGrp="1"/>
          </p:cNvSpPr>
          <p:nvPr>
            <p:ph type="body" idx="21" sz="quarter"/>
          </p:nvPr>
        </p:nvSpPr>
        <p:spPr/>
        <p:txBody>
          <a:bodyPr/>
          <a:lstStyle/>
          <a:p>
            <a:r>
              <a:rPr sz="1300" b="0">
                <a:solidFill>
                  <a:srgbClr val="D5FB00"/>
                </a:solidFill>
                <a:latin typeface="Segoe UI"/>
              </a:rPr>
              <a:t>Robotics Setter Technician  |  August 1, 2026 to January 1, 2027</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7223760" cy="3886200"/>
          </a:xfrm>
          <a:prstGeom prst="rect">
            <a:avLst/>
          </a:prstGeom>
        </p:spPr>
      </p:pic>
      <p:sp>
        <p:nvSpPr>
          <p:cNvPr id="5" name="!! Glass A rim"/>
          <p:cNvSpPr/>
          <p:nvPr/>
        </p:nvSpPr>
        <p:spPr>
          <a:xfrm>
            <a:off x="256032" y="1600200"/>
            <a:ext cx="722376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938528"/>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OBJECTIVE</a:t>
            </a:r>
          </a:p>
        </p:txBody>
      </p:sp>
      <p:sp>
        <p:nvSpPr>
          <p:cNvPr id="7" name="TextBox 6"/>
          <p:cNvSpPr txBox="1"/>
          <p:nvPr/>
        </p:nvSpPr>
        <p:spPr>
          <a:xfrm>
            <a:off x="621792" y="2331720"/>
            <a:ext cx="6492240" cy="822960"/>
          </a:xfrm>
          <a:prstGeom prst="rect">
            <a:avLst/>
          </a:prstGeom>
          <a:noFill/>
        </p:spPr>
        <p:txBody>
          <a:bodyPr wrap="square" lIns="0" rIns="0" tIns="0" bIns="0" anchor="t">
            <a:spAutoFit/>
          </a:bodyPr>
          <a:lstStyle/>
          <a:p>
            <a:pPr algn="l">
              <a:spcBef>
                <a:spcPts val="0"/>
              </a:spcBef>
              <a:spcAft>
                <a:spcPts val="0"/>
              </a:spcAft>
            </a:pPr>
            <a:r>
              <a:rPr sz="1700" b="0" i="0">
                <a:solidFill>
                  <a:srgbClr val="FFFFFF"/>
                </a:solidFill>
                <a:latin typeface="Segoe UI"/>
              </a:rPr>
              <a:t>Become a specialist in robotic welding and advanced technical support.</a:t>
            </a:r>
          </a:p>
        </p:txBody>
      </p:sp>
      <p:sp>
        <p:nvSpPr>
          <p:cNvPr id="8" name="Rectangle 7"/>
          <p:cNvSpPr/>
          <p:nvPr/>
        </p:nvSpPr>
        <p:spPr>
          <a:xfrm>
            <a:off x="621792" y="3310128"/>
            <a:ext cx="1097280" cy="27432"/>
          </a:xfrm>
          <a:prstGeom prst="rect">
            <a:avLst/>
          </a:prstGeom>
          <a:solidFill>
            <a:srgbClr val="D5FB00"/>
          </a:solidFill>
          <a:ln>
            <a:noFill/>
          </a:ln>
        </p:spPr>
        <p:txBody>
          <a:bodyPr rtlCol="0" anchor="ctr" wrap="square" lIns="0" rIns="0" tIns="0" bIns="0"/>
          <a:lstStyle/>
          <a:p>
            <a:pPr algn="ctr"/>
          </a:p>
        </p:txBody>
      </p:sp>
      <p:sp>
        <p:nvSpPr>
          <p:cNvPr id="9" name="TextBox 8"/>
          <p:cNvSpPr txBox="1"/>
          <p:nvPr/>
        </p:nvSpPr>
        <p:spPr>
          <a:xfrm>
            <a:off x="621792" y="354787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WHY IT MATTERS</a:t>
            </a:r>
          </a:p>
        </p:txBody>
      </p:sp>
      <p:sp>
        <p:nvSpPr>
          <p:cNvPr id="10" name="TextBox 9"/>
          <p:cNvSpPr txBox="1"/>
          <p:nvPr/>
        </p:nvSpPr>
        <p:spPr>
          <a:xfrm>
            <a:off x="621792" y="3931920"/>
            <a:ext cx="6492240" cy="1280160"/>
          </a:xfrm>
          <a:prstGeom prst="rect">
            <a:avLst/>
          </a:prstGeom>
          <a:noFill/>
        </p:spPr>
        <p:txBody>
          <a:bodyPr wrap="square" lIns="0" rIns="0" tIns="0" bIns="0" anchor="t">
            <a:spAutoFit/>
          </a:bodyPr>
          <a:lstStyle/>
          <a:p>
            <a:pPr algn="l">
              <a:lnSpc>
                <a:spcPct val="110000"/>
              </a:lnSpc>
              <a:spcBef>
                <a:spcPts val="0"/>
              </a:spcBef>
              <a:spcAft>
                <a:spcPts val="0"/>
              </a:spcAft>
            </a:pPr>
            <a:r>
              <a:rPr sz="1400" b="0" i="0">
                <a:solidFill>
                  <a:srgbClr val="C6CDD1"/>
                </a:solidFill>
                <a:latin typeface="Segoe UI"/>
              </a:rPr>
              <a:t>When a welding robot stops, the line stops with it. A setter who can find the cause and adjust the cell on the spot keeps parts moving and quality under control.</a:t>
            </a:r>
          </a:p>
        </p:txBody>
      </p:sp>
      <p:pic>
        <p:nvPicPr>
          <p:cNvPr id="11" name="!! Glass B" descr="Decorative glass panel"/>
          <p:cNvPicPr>
            <a:picLocks noChangeAspect="1"/>
          </p:cNvPicPr>
          <p:nvPr/>
        </p:nvPicPr>
        <p:blipFill>
          <a:blip r:embed="rId3">
            <a:alphaModFix amt="50000"/>
          </a:blip>
          <a:stretch>
            <a:fillRect/>
          </a:stretch>
        </p:blipFill>
        <p:spPr>
          <a:xfrm>
            <a:off x="7818120" y="1600200"/>
            <a:ext cx="4114800" cy="3886200"/>
          </a:xfrm>
          <a:prstGeom prst="rect">
            <a:avLst/>
          </a:prstGeom>
        </p:spPr>
      </p:pic>
      <p:sp>
        <p:nvSpPr>
          <p:cNvPr id="12" name="!! Glass B rim"/>
          <p:cNvSpPr/>
          <p:nvPr/>
        </p:nvSpPr>
        <p:spPr>
          <a:xfrm>
            <a:off x="7818120" y="1600200"/>
            <a:ext cx="4114800" cy="3886200"/>
          </a:xfrm>
          <a:prstGeom prst="rect">
            <a:avLst/>
          </a:prstGeom>
          <a:noFill/>
          <a:ln w="9525">
            <a:solidFill>
              <a:srgbClr val="FFFFFF">
                <a:alpha val="16000"/>
              </a:srgbClr>
            </a:solidFill>
          </a:ln>
        </p:spPr>
        <p:txBody>
          <a:bodyPr rtlCol="0" anchor="ctr" wrap="square" lIns="0" rIns="0" tIns="0" bIns="0"/>
          <a:lstStyle/>
          <a:p>
            <a:pPr algn="ctr"/>
          </a:p>
        </p:txBody>
      </p:sp>
      <p:sp>
        <p:nvSpPr>
          <p:cNvPr id="13" name="TextBox 12"/>
          <p:cNvSpPr txBox="1"/>
          <p:nvPr/>
        </p:nvSpPr>
        <p:spPr>
          <a:xfrm>
            <a:off x="8183879" y="1938528"/>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FINAL PROJECT</a:t>
            </a:r>
          </a:p>
        </p:txBody>
      </p:sp>
      <p:sp>
        <p:nvSpPr>
          <p:cNvPr id="14" name="TextBox 13"/>
          <p:cNvSpPr txBox="1"/>
          <p:nvPr/>
        </p:nvSpPr>
        <p:spPr>
          <a:xfrm>
            <a:off x="8183879" y="2377440"/>
            <a:ext cx="3429000" cy="292608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An implemented improvement</a:t>
            </a:r>
          </a:p>
          <a:p>
            <a:pPr>
              <a:spcBef>
                <a:spcPts val="200"/>
              </a:spcBef>
              <a:spcAft>
                <a:spcPts val="0"/>
              </a:spcAft>
            </a:pPr>
            <a:r>
              <a:rPr sz="1200" b="0" i="0">
                <a:solidFill>
                  <a:srgbClr val="C6CDD1"/>
                </a:solidFill>
                <a:latin typeface="Segoe UI"/>
              </a:rPr>
              <a:t>In quality, availability or productivity.</a:t>
            </a:r>
          </a:p>
          <a:p>
            <a:pPr>
              <a:spcBef>
                <a:spcPts val="400"/>
              </a:spcBef>
              <a:spcAft>
                <a:spcPts val="0"/>
              </a:spcAft>
            </a:pPr>
            <a:r>
              <a:rPr sz="1200" b="0" i="0">
                <a:solidFill>
                  <a:srgbClr val="D5FB00"/>
                </a:solidFill>
                <a:latin typeface="Segoe UI"/>
              </a:rPr>
              <a:t>Mine: a manual weld moved to the 4M robotic cell.</a:t>
            </a:r>
          </a:p>
          <a:p>
            <a:pPr>
              <a:spcBef>
                <a:spcPts val="2000"/>
              </a:spcBef>
              <a:spcAft>
                <a:spcPts val="0"/>
              </a:spcAft>
            </a:pPr>
            <a:r>
              <a:rPr sz="1400" b="1" i="0">
                <a:solidFill>
                  <a:srgbClr val="FFFFFF"/>
                </a:solidFill>
                <a:latin typeface="Segoe UI"/>
              </a:rPr>
              <a:t>An updated training process</a:t>
            </a:r>
          </a:p>
          <a:p>
            <a:pPr>
              <a:spcBef>
                <a:spcPts val="200"/>
              </a:spcBef>
              <a:spcAft>
                <a:spcPts val="0"/>
              </a:spcAft>
            </a:pPr>
            <a:r>
              <a:rPr sz="1200" b="0" i="0">
                <a:solidFill>
                  <a:srgbClr val="C6CDD1"/>
                </a:solidFill>
                <a:latin typeface="Segoe UI"/>
              </a:rPr>
              <a:t>How the next setters learn.</a:t>
            </a:r>
          </a:p>
          <a:p>
            <a:pPr>
              <a:spcBef>
                <a:spcPts val="400"/>
              </a:spcBef>
              <a:spcAft>
                <a:spcPts val="0"/>
              </a:spcAft>
            </a:pPr>
            <a:r>
              <a:rPr sz="1200" b="0" i="0">
                <a:solidFill>
                  <a:srgbClr val="D5FB00"/>
                </a:solidFill>
                <a:latin typeface="Segoe UI"/>
              </a:rPr>
              <a:t>Mine: study material reviewed, schedule rebuilt.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Four levels, from understanding to improving</a:t>
            </a:r>
          </a:p>
        </p:txBody>
      </p:sp>
      <p:sp>
        <p:nvSpPr>
          <p:cNvPr id="3" name="!! Subtitle 1"/>
          <p:cNvSpPr>
            <a:spLocks noGrp="1"/>
          </p:cNvSpPr>
          <p:nvPr>
            <p:ph type="body" idx="21" sz="quarter"/>
          </p:nvPr>
        </p:nvSpPr>
        <p:spPr/>
        <p:txBody>
          <a:bodyPr/>
          <a:lstStyle/>
          <a:p>
            <a:r>
              <a:rPr sz="1300" b="0">
                <a:solidFill>
                  <a:srgbClr val="D5FB00"/>
                </a:solidFill>
                <a:latin typeface="Segoe UI"/>
              </a:rPr>
              <a:t>The skill path of the program</a:t>
            </a:r>
          </a:p>
        </p:txBody>
      </p:sp>
      <p:pic>
        <p:nvPicPr>
          <p:cNvPr id="4" name="!! Card 1" descr="Decorative glass panel"/>
          <p:cNvPicPr>
            <a:picLocks noChangeAspect="1"/>
          </p:cNvPicPr>
          <p:nvPr/>
        </p:nvPicPr>
        <p:blipFill>
          <a:blip r:embed="rId2">
            <a:alphaModFix amt="50000"/>
          </a:blip>
          <a:stretch>
            <a:fillRect/>
          </a:stretch>
        </p:blipFill>
        <p:spPr>
          <a:xfrm>
            <a:off x="256032" y="1691640"/>
            <a:ext cx="2715768" cy="3063240"/>
          </a:xfrm>
          <a:prstGeom prst="rect">
            <a:avLst/>
          </a:prstGeom>
        </p:spPr>
      </p:pic>
      <p:sp>
        <p:nvSpPr>
          <p:cNvPr id="5" name="!! Card 1 rim"/>
          <p:cNvSpPr/>
          <p:nvPr/>
        </p:nvSpPr>
        <p:spPr>
          <a:xfrm>
            <a:off x="256032" y="1691640"/>
            <a:ext cx="2715768" cy="306324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566928" y="1965960"/>
            <a:ext cx="2167128" cy="54864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a:t>
            </a:r>
          </a:p>
        </p:txBody>
      </p:sp>
      <p:sp>
        <p:nvSpPr>
          <p:cNvPr id="7" name="TextBox 6"/>
          <p:cNvSpPr txBox="1"/>
          <p:nvPr/>
        </p:nvSpPr>
        <p:spPr>
          <a:xfrm>
            <a:off x="566928" y="265176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Understands</a:t>
            </a:r>
          </a:p>
        </p:txBody>
      </p:sp>
      <p:sp>
        <p:nvSpPr>
          <p:cNvPr id="8" name="TextBox 7"/>
          <p:cNvSpPr txBox="1"/>
          <p:nvPr/>
        </p:nvSpPr>
        <p:spPr>
          <a:xfrm>
            <a:off x="566928" y="3401568"/>
            <a:ext cx="2148840"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Safety, the welding process, the procedure (WPS), defects and settings.</a:t>
            </a:r>
          </a:p>
        </p:txBody>
      </p:sp>
      <p:pic>
        <p:nvPicPr>
          <p:cNvPr id="9" name="!! Card 2" descr="Decorative glass panel"/>
          <p:cNvPicPr>
            <a:picLocks noChangeAspect="1"/>
          </p:cNvPicPr>
          <p:nvPr/>
        </p:nvPicPr>
        <p:blipFill>
          <a:blip r:embed="rId3">
            <a:alphaModFix amt="50000"/>
          </a:blip>
          <a:stretch>
            <a:fillRect/>
          </a:stretch>
        </p:blipFill>
        <p:spPr>
          <a:xfrm>
            <a:off x="3246120" y="1691640"/>
            <a:ext cx="2715768" cy="3063240"/>
          </a:xfrm>
          <a:prstGeom prst="rect">
            <a:avLst/>
          </a:prstGeom>
        </p:spPr>
      </p:pic>
      <p:sp>
        <p:nvSpPr>
          <p:cNvPr id="10" name="!! Card 2 rim"/>
          <p:cNvSpPr/>
          <p:nvPr/>
        </p:nvSpPr>
        <p:spPr>
          <a:xfrm>
            <a:off x="3246120" y="1691640"/>
            <a:ext cx="2715768" cy="3063240"/>
          </a:xfrm>
          <a:prstGeom prst="rect">
            <a:avLst/>
          </a:prstGeom>
          <a:noFill/>
          <a:ln w="9525">
            <a:solidFill>
              <a:srgbClr val="FFFFFF">
                <a:alpha val="16000"/>
              </a:srgbClr>
            </a:solidFill>
          </a:ln>
        </p:spPr>
        <p:txBody>
          <a:bodyPr rtlCol="0" anchor="ctr" wrap="square" lIns="0" rIns="0" tIns="0" bIns="0"/>
          <a:lstStyle/>
          <a:p>
            <a:pPr algn="ctr"/>
          </a:p>
        </p:txBody>
      </p:sp>
      <p:sp>
        <p:nvSpPr>
          <p:cNvPr id="11" name="TextBox 10"/>
          <p:cNvSpPr txBox="1"/>
          <p:nvPr/>
        </p:nvSpPr>
        <p:spPr>
          <a:xfrm>
            <a:off x="3557015" y="1965960"/>
            <a:ext cx="2167128" cy="54864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L</a:t>
            </a:r>
          </a:p>
        </p:txBody>
      </p:sp>
      <p:sp>
        <p:nvSpPr>
          <p:cNvPr id="12" name="TextBox 11"/>
          <p:cNvSpPr txBox="1"/>
          <p:nvPr/>
        </p:nvSpPr>
        <p:spPr>
          <a:xfrm>
            <a:off x="3557015" y="265176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Does it with support</a:t>
            </a:r>
          </a:p>
        </p:txBody>
      </p:sp>
      <p:sp>
        <p:nvSpPr>
          <p:cNvPr id="13" name="TextBox 12"/>
          <p:cNvSpPr txBox="1"/>
          <p:nvPr/>
        </p:nvSpPr>
        <p:spPr>
          <a:xfrm>
            <a:off x="3557015" y="3401568"/>
            <a:ext cx="2148840"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Basic adjustments, checking settings and changing consumables.</a:t>
            </a:r>
          </a:p>
        </p:txBody>
      </p:sp>
      <p:pic>
        <p:nvPicPr>
          <p:cNvPr id="14" name="!! Card 3" descr="Decorative glass panel"/>
          <p:cNvPicPr>
            <a:picLocks noChangeAspect="1"/>
          </p:cNvPicPr>
          <p:nvPr/>
        </p:nvPicPr>
        <p:blipFill>
          <a:blip r:embed="rId4">
            <a:alphaModFix amt="50000"/>
          </a:blip>
          <a:stretch>
            <a:fillRect/>
          </a:stretch>
        </p:blipFill>
        <p:spPr>
          <a:xfrm>
            <a:off x="6236208" y="1691640"/>
            <a:ext cx="2715768" cy="3063240"/>
          </a:xfrm>
          <a:prstGeom prst="rect">
            <a:avLst/>
          </a:prstGeom>
        </p:spPr>
      </p:pic>
      <p:sp>
        <p:nvSpPr>
          <p:cNvPr id="15" name="!! Card 3 rim"/>
          <p:cNvSpPr/>
          <p:nvPr/>
        </p:nvSpPr>
        <p:spPr>
          <a:xfrm>
            <a:off x="6236208" y="1691640"/>
            <a:ext cx="2715768" cy="3063240"/>
          </a:xfrm>
          <a:prstGeom prst="rect">
            <a:avLst/>
          </a:prstGeom>
          <a:noFill/>
          <a:ln w="9525">
            <a:solidFill>
              <a:srgbClr val="FFFFFF">
                <a:alpha val="16000"/>
              </a:srgbClr>
            </a:solidFill>
          </a:ln>
        </p:spPr>
        <p:txBody>
          <a:bodyPr rtlCol="0" anchor="ctr" wrap="square" lIns="0" rIns="0" tIns="0" bIns="0"/>
          <a:lstStyle/>
          <a:p>
            <a:pPr algn="ctr"/>
          </a:p>
        </p:txBody>
      </p:sp>
      <p:sp>
        <p:nvSpPr>
          <p:cNvPr id="16" name="TextBox 15"/>
          <p:cNvSpPr txBox="1"/>
          <p:nvPr/>
        </p:nvSpPr>
        <p:spPr>
          <a:xfrm>
            <a:off x="6547104" y="1965960"/>
            <a:ext cx="2167128" cy="54864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U</a:t>
            </a:r>
          </a:p>
        </p:txBody>
      </p:sp>
      <p:sp>
        <p:nvSpPr>
          <p:cNvPr id="17" name="TextBox 16"/>
          <p:cNvSpPr txBox="1"/>
          <p:nvPr/>
        </p:nvSpPr>
        <p:spPr>
          <a:xfrm>
            <a:off x="6547104" y="265176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Does it alone</a:t>
            </a:r>
          </a:p>
        </p:txBody>
      </p:sp>
      <p:sp>
        <p:nvSpPr>
          <p:cNvPr id="18" name="TextBox 17"/>
          <p:cNvSpPr txBox="1"/>
          <p:nvPr/>
        </p:nvSpPr>
        <p:spPr>
          <a:xfrm>
            <a:off x="6547104" y="3401568"/>
            <a:ext cx="2148840"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Programming the robot (SKS), creating programs and setting them up.</a:t>
            </a:r>
          </a:p>
        </p:txBody>
      </p:sp>
      <p:pic>
        <p:nvPicPr>
          <p:cNvPr id="19" name="!! Card 4" descr="Decorative glass panel"/>
          <p:cNvPicPr>
            <a:picLocks noChangeAspect="1"/>
          </p:cNvPicPr>
          <p:nvPr/>
        </p:nvPicPr>
        <p:blipFill>
          <a:blip r:embed="rId5">
            <a:alphaModFix amt="50000"/>
          </a:blip>
          <a:stretch>
            <a:fillRect/>
          </a:stretch>
        </p:blipFill>
        <p:spPr>
          <a:xfrm>
            <a:off x="9226296" y="1691640"/>
            <a:ext cx="2715768" cy="3063240"/>
          </a:xfrm>
          <a:prstGeom prst="rect">
            <a:avLst/>
          </a:prstGeom>
        </p:spPr>
      </p:pic>
      <p:sp>
        <p:nvSpPr>
          <p:cNvPr id="20" name="!! Card 4 rim"/>
          <p:cNvSpPr/>
          <p:nvPr/>
        </p:nvSpPr>
        <p:spPr>
          <a:xfrm>
            <a:off x="9226296" y="1691640"/>
            <a:ext cx="2715768" cy="3063240"/>
          </a:xfrm>
          <a:prstGeom prst="rect">
            <a:avLst/>
          </a:prstGeom>
          <a:noFill/>
          <a:ln w="9525">
            <a:solidFill>
              <a:srgbClr val="FFFFFF">
                <a:alpha val="16000"/>
              </a:srgbClr>
            </a:solidFill>
          </a:ln>
        </p:spPr>
        <p:txBody>
          <a:bodyPr rtlCol="0" anchor="ctr" wrap="square" lIns="0" rIns="0" tIns="0" bIns="0"/>
          <a:lstStyle/>
          <a:p>
            <a:pPr algn="ctr"/>
          </a:p>
        </p:txBody>
      </p:sp>
      <p:sp>
        <p:nvSpPr>
          <p:cNvPr id="21" name="TextBox 20"/>
          <p:cNvSpPr txBox="1"/>
          <p:nvPr/>
        </p:nvSpPr>
        <p:spPr>
          <a:xfrm>
            <a:off x="9537192" y="1965960"/>
            <a:ext cx="2167128" cy="54864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O</a:t>
            </a:r>
          </a:p>
        </p:txBody>
      </p:sp>
      <p:sp>
        <p:nvSpPr>
          <p:cNvPr id="22" name="TextBox 21"/>
          <p:cNvSpPr txBox="1"/>
          <p:nvPr/>
        </p:nvSpPr>
        <p:spPr>
          <a:xfrm>
            <a:off x="9537192" y="265176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Improves and teaches</a:t>
            </a:r>
          </a:p>
        </p:txBody>
      </p:sp>
      <p:sp>
        <p:nvSpPr>
          <p:cNvPr id="23" name="TextBox 22"/>
          <p:cNvSpPr txBox="1"/>
          <p:nvPr/>
        </p:nvSpPr>
        <p:spPr>
          <a:xfrm>
            <a:off x="9537192" y="3401568"/>
            <a:ext cx="2148840"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Troubleshooting, training others, Lean and continuous improvement.</a:t>
            </a:r>
          </a:p>
        </p:txBody>
      </p:sp>
      <p:pic>
        <p:nvPicPr>
          <p:cNvPr id="24" name="!! Strip" descr="Decorative glass panel"/>
          <p:cNvPicPr>
            <a:picLocks noChangeAspect="1"/>
          </p:cNvPicPr>
          <p:nvPr/>
        </p:nvPicPr>
        <p:blipFill>
          <a:blip r:embed="rId6">
            <a:alphaModFix amt="50000"/>
          </a:blip>
          <a:stretch>
            <a:fillRect/>
          </a:stretch>
        </p:blipFill>
        <p:spPr>
          <a:xfrm>
            <a:off x="256032" y="4956048"/>
            <a:ext cx="11676888" cy="566928"/>
          </a:xfrm>
          <a:prstGeom prst="rect">
            <a:avLst/>
          </a:prstGeom>
        </p:spPr>
      </p:pic>
      <p:sp>
        <p:nvSpPr>
          <p:cNvPr id="25" name="!! Strip rim"/>
          <p:cNvSpPr/>
          <p:nvPr/>
        </p:nvSpPr>
        <p:spPr>
          <a:xfrm>
            <a:off x="256032" y="4956048"/>
            <a:ext cx="11676888" cy="566928"/>
          </a:xfrm>
          <a:prstGeom prst="rect">
            <a:avLst/>
          </a:prstGeom>
          <a:noFill/>
          <a:ln w="9525">
            <a:solidFill>
              <a:srgbClr val="FFFFFF">
                <a:alpha val="16000"/>
              </a:srgbClr>
            </a:solidFill>
          </a:ln>
        </p:spPr>
        <p:txBody>
          <a:bodyPr rtlCol="0" anchor="ctr" wrap="square" lIns="0" rIns="0" tIns="0" bIns="0"/>
          <a:lstStyle/>
          <a:p>
            <a:pPr algn="ctr"/>
          </a:p>
        </p:txBody>
      </p:sp>
      <p:sp>
        <p:nvSpPr>
          <p:cNvPr id="26" name="TextBox 25"/>
          <p:cNvSpPr txBox="1"/>
          <p:nvPr/>
        </p:nvSpPr>
        <p:spPr>
          <a:xfrm>
            <a:off x="566928" y="5138928"/>
            <a:ext cx="2011680" cy="228600"/>
          </a:xfrm>
          <a:prstGeom prst="rect">
            <a:avLst/>
          </a:prstGeom>
          <a:noFill/>
        </p:spPr>
        <p:txBody>
          <a:bodyPr wrap="square" lIns="0" rIns="0" tIns="0" bIns="0" anchor="t">
            <a:spAutoFit/>
          </a:bodyPr>
          <a:lstStyle/>
          <a:p>
            <a:pPr algn="l">
              <a:spcBef>
                <a:spcPts val="0"/>
              </a:spcBef>
              <a:spcAft>
                <a:spcPts val="0"/>
              </a:spcAft>
            </a:pPr>
            <a:r>
              <a:rPr sz="1100" b="1" i="0">
                <a:solidFill>
                  <a:srgbClr val="D5FB00"/>
                </a:solidFill>
                <a:latin typeface="Segoe UI"/>
              </a:rPr>
              <a:t>HOW IT WORKS</a:t>
            </a:r>
          </a:p>
        </p:txBody>
      </p:sp>
      <p:sp>
        <p:nvSpPr>
          <p:cNvPr id="27" name="TextBox 26"/>
          <p:cNvSpPr txBox="1"/>
          <p:nvPr/>
        </p:nvSpPr>
        <p:spPr>
          <a:xfrm>
            <a:off x="2514600" y="5120640"/>
            <a:ext cx="9144000" cy="274320"/>
          </a:xfrm>
          <a:prstGeom prst="rect">
            <a:avLst/>
          </a:prstGeom>
          <a:noFill/>
        </p:spPr>
        <p:txBody>
          <a:bodyPr wrap="square" lIns="0" rIns="0" tIns="0" bIns="0" anchor="t">
            <a:spAutoFit/>
          </a:bodyPr>
          <a:lstStyle/>
          <a:p>
            <a:pPr algn="l">
              <a:spcBef>
                <a:spcPts val="0"/>
              </a:spcBef>
              <a:spcAft>
                <a:spcPts val="0"/>
              </a:spcAft>
            </a:pPr>
            <a:r>
              <a:rPr sz="1200" b="0" i="0">
                <a:solidFill>
                  <a:srgbClr val="FFFFFF"/>
                </a:solidFill>
                <a:latin typeface="Segoe UI"/>
              </a:rPr>
              <a:t>Each level builds on the one before: first understand, then do, then own it, then improve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Eight weeks in, fourteen to go</a:t>
            </a:r>
          </a:p>
        </p:txBody>
      </p:sp>
      <p:sp>
        <p:nvSpPr>
          <p:cNvPr id="3" name="!! Subtitle 1"/>
          <p:cNvSpPr>
            <a:spLocks noGrp="1"/>
          </p:cNvSpPr>
          <p:nvPr>
            <p:ph type="body" idx="21" sz="quarter"/>
          </p:nvPr>
        </p:nvSpPr>
        <p:spPr/>
        <p:txBody>
          <a:bodyPr/>
          <a:lstStyle/>
          <a:p>
            <a:r>
              <a:rPr sz="1300" b="0">
                <a:solidFill>
                  <a:srgbClr val="D5FB00"/>
                </a:solidFill>
                <a:latin typeface="Segoe UI"/>
              </a:rPr>
              <a:t>Program timeline</a:t>
            </a:r>
          </a:p>
        </p:txBody>
      </p:sp>
      <p:pic>
        <p:nvPicPr>
          <p:cNvPr id="4" name="!! Glass A" descr="Decorative glass panel"/>
          <p:cNvPicPr>
            <a:picLocks noChangeAspect="1"/>
          </p:cNvPicPr>
          <p:nvPr/>
        </p:nvPicPr>
        <p:blipFill>
          <a:blip r:embed="rId2">
            <a:alphaModFix amt="50000"/>
          </a:blip>
          <a:stretch>
            <a:fillRect/>
          </a:stretch>
        </p:blipFill>
        <p:spPr>
          <a:xfrm>
            <a:off x="603504" y="2157984"/>
            <a:ext cx="11210544" cy="2542032"/>
          </a:xfrm>
          <a:prstGeom prst="rect">
            <a:avLst/>
          </a:prstGeom>
        </p:spPr>
      </p:pic>
      <p:sp>
        <p:nvSpPr>
          <p:cNvPr id="5" name="!! Glass A rim"/>
          <p:cNvSpPr/>
          <p:nvPr/>
        </p:nvSpPr>
        <p:spPr>
          <a:xfrm>
            <a:off x="603504" y="2157984"/>
            <a:ext cx="11210544" cy="2542032"/>
          </a:xfrm>
          <a:prstGeom prst="rect">
            <a:avLst/>
          </a:prstGeom>
          <a:noFill/>
          <a:ln w="9525">
            <a:solidFill>
              <a:srgbClr val="FFFFFF">
                <a:alpha val="16000"/>
              </a:srgbClr>
            </a:solidFill>
          </a:ln>
        </p:spPr>
        <p:txBody>
          <a:bodyPr rtlCol="0" anchor="ctr" wrap="square" lIns="0" rIns="0" tIns="0" bIns="0"/>
          <a:lstStyle/>
          <a:p>
            <a:pPr algn="ctr"/>
          </a:p>
        </p:txBody>
      </p:sp>
      <p:sp>
        <p:nvSpPr>
          <p:cNvPr id="6" name="Rectangle 5"/>
          <p:cNvSpPr/>
          <p:nvPr/>
        </p:nvSpPr>
        <p:spPr>
          <a:xfrm>
            <a:off x="768096" y="3557016"/>
            <a:ext cx="10881360" cy="18288"/>
          </a:xfrm>
          <a:prstGeom prst="rect">
            <a:avLst/>
          </a:prstGeom>
          <a:solidFill>
            <a:srgbClr val="C6CDD1">
              <a:alpha val="45000"/>
            </a:srgbClr>
          </a:solidFill>
          <a:ln>
            <a:noFill/>
          </a:ln>
        </p:spPr>
        <p:txBody>
          <a:bodyPr rtlCol="0" anchor="ctr" wrap="square" lIns="0" rIns="0" tIns="0" bIns="0"/>
          <a:lstStyle/>
          <a:p>
            <a:pPr algn="ctr"/>
          </a:p>
        </p:txBody>
      </p:sp>
      <p:sp>
        <p:nvSpPr>
          <p:cNvPr id="7" name="Rectangle 6"/>
          <p:cNvSpPr/>
          <p:nvPr/>
        </p:nvSpPr>
        <p:spPr>
          <a:xfrm>
            <a:off x="1783080" y="3552444"/>
            <a:ext cx="2194559" cy="27432"/>
          </a:xfrm>
          <a:prstGeom prst="rect">
            <a:avLst/>
          </a:prstGeom>
          <a:solidFill>
            <a:srgbClr val="D5FB00"/>
          </a:solidFill>
          <a:ln>
            <a:noFill/>
          </a:ln>
        </p:spPr>
        <p:txBody>
          <a:bodyPr rtlCol="0" anchor="ctr" wrap="square" lIns="0" rIns="0" tIns="0" bIns="0"/>
          <a:lstStyle/>
          <a:p>
            <a:pPr algn="ctr"/>
          </a:p>
        </p:txBody>
      </p:sp>
      <p:sp>
        <p:nvSpPr>
          <p:cNvPr id="8" name="Oval 7"/>
          <p:cNvSpPr/>
          <p:nvPr/>
        </p:nvSpPr>
        <p:spPr>
          <a:xfrm>
            <a:off x="1687068" y="3470148"/>
            <a:ext cx="192024" cy="192024"/>
          </a:xfrm>
          <a:prstGeom prst="ellipse">
            <a:avLst/>
          </a:prstGeom>
          <a:solidFill>
            <a:srgbClr val="D5FB00"/>
          </a:solidFill>
          <a:ln>
            <a:noFill/>
          </a:ln>
        </p:spPr>
        <p:txBody>
          <a:bodyPr rtlCol="0" anchor="ctr" wrap="square" lIns="0" rIns="0" tIns="0" bIns="0"/>
          <a:lstStyle/>
          <a:p>
            <a:pPr algn="ctr"/>
          </a:p>
        </p:txBody>
      </p:sp>
      <p:sp>
        <p:nvSpPr>
          <p:cNvPr id="9" name="TextBox 8"/>
          <p:cNvSpPr txBox="1"/>
          <p:nvPr/>
        </p:nvSpPr>
        <p:spPr>
          <a:xfrm>
            <a:off x="731520" y="2596896"/>
            <a:ext cx="2103120" cy="411480"/>
          </a:xfrm>
          <a:prstGeom prst="rect">
            <a:avLst/>
          </a:prstGeom>
          <a:noFill/>
        </p:spPr>
        <p:txBody>
          <a:bodyPr wrap="square" lIns="0" rIns="0" tIns="0" bIns="0" anchor="t">
            <a:spAutoFit/>
          </a:bodyPr>
          <a:lstStyle/>
          <a:p>
            <a:pPr algn="ctr">
              <a:spcBef>
                <a:spcPts val="0"/>
              </a:spcBef>
              <a:spcAft>
                <a:spcPts val="0"/>
              </a:spcAft>
            </a:pPr>
            <a:r>
              <a:rPr sz="1900" b="1" i="0">
                <a:solidFill>
                  <a:srgbClr val="FFFFFF"/>
                </a:solidFill>
                <a:latin typeface="Segoe UI"/>
              </a:rPr>
              <a:t>Program start</a:t>
            </a:r>
          </a:p>
        </p:txBody>
      </p:sp>
      <p:sp>
        <p:nvSpPr>
          <p:cNvPr id="10" name="TextBox 9"/>
          <p:cNvSpPr txBox="1"/>
          <p:nvPr/>
        </p:nvSpPr>
        <p:spPr>
          <a:xfrm>
            <a:off x="731520" y="4087368"/>
            <a:ext cx="2103120" cy="274320"/>
          </a:xfrm>
          <a:prstGeom prst="rect">
            <a:avLst/>
          </a:prstGeom>
          <a:noFill/>
        </p:spPr>
        <p:txBody>
          <a:bodyPr wrap="square" lIns="0" rIns="0" tIns="0" bIns="0" anchor="t">
            <a:spAutoFit/>
          </a:bodyPr>
          <a:lstStyle/>
          <a:p>
            <a:pPr algn="ctr">
              <a:spcBef>
                <a:spcPts val="0"/>
              </a:spcBef>
              <a:spcAft>
                <a:spcPts val="0"/>
              </a:spcAft>
            </a:pPr>
            <a:r>
              <a:rPr sz="1400" b="0" i="0">
                <a:solidFill>
                  <a:srgbClr val="C6CDD1"/>
                </a:solidFill>
                <a:latin typeface="Segoe UI"/>
              </a:rPr>
              <a:t>August 1, 2026</a:t>
            </a:r>
          </a:p>
        </p:txBody>
      </p:sp>
      <p:sp>
        <p:nvSpPr>
          <p:cNvPr id="11" name="Oval 10"/>
          <p:cNvSpPr/>
          <p:nvPr/>
        </p:nvSpPr>
        <p:spPr>
          <a:xfrm>
            <a:off x="3840479" y="3429000"/>
            <a:ext cx="274320" cy="274320"/>
          </a:xfrm>
          <a:prstGeom prst="ellipse">
            <a:avLst/>
          </a:prstGeom>
          <a:solidFill>
            <a:srgbClr val="D5FB00"/>
          </a:solidFill>
          <a:ln>
            <a:noFill/>
          </a:ln>
        </p:spPr>
        <p:txBody>
          <a:bodyPr rtlCol="0" anchor="ctr" wrap="square" lIns="0" rIns="0" tIns="0" bIns="0"/>
          <a:lstStyle/>
          <a:p>
            <a:pPr algn="ctr"/>
          </a:p>
        </p:txBody>
      </p:sp>
      <p:sp>
        <p:nvSpPr>
          <p:cNvPr id="12" name="TextBox 11"/>
          <p:cNvSpPr txBox="1"/>
          <p:nvPr/>
        </p:nvSpPr>
        <p:spPr>
          <a:xfrm>
            <a:off x="2926079" y="2596896"/>
            <a:ext cx="2103120" cy="411480"/>
          </a:xfrm>
          <a:prstGeom prst="rect">
            <a:avLst/>
          </a:prstGeom>
          <a:noFill/>
        </p:spPr>
        <p:txBody>
          <a:bodyPr wrap="square" lIns="0" rIns="0" tIns="0" bIns="0" anchor="t">
            <a:spAutoFit/>
          </a:bodyPr>
          <a:lstStyle/>
          <a:p>
            <a:pPr algn="ctr">
              <a:spcBef>
                <a:spcPts val="0"/>
              </a:spcBef>
              <a:spcAft>
                <a:spcPts val="0"/>
              </a:spcAft>
            </a:pPr>
            <a:r>
              <a:rPr sz="2400" b="1" i="0">
                <a:solidFill>
                  <a:srgbClr val="D5FB00"/>
                </a:solidFill>
                <a:latin typeface="Segoe UI"/>
              </a:rPr>
              <a:t>Today</a:t>
            </a:r>
          </a:p>
        </p:txBody>
      </p:sp>
      <p:sp>
        <p:nvSpPr>
          <p:cNvPr id="13" name="TextBox 12"/>
          <p:cNvSpPr txBox="1"/>
          <p:nvPr/>
        </p:nvSpPr>
        <p:spPr>
          <a:xfrm>
            <a:off x="2926079" y="4087368"/>
            <a:ext cx="2103120" cy="274320"/>
          </a:xfrm>
          <a:prstGeom prst="rect">
            <a:avLst/>
          </a:prstGeom>
          <a:noFill/>
        </p:spPr>
        <p:txBody>
          <a:bodyPr wrap="square" lIns="0" rIns="0" tIns="0" bIns="0" anchor="t">
            <a:spAutoFit/>
          </a:bodyPr>
          <a:lstStyle/>
          <a:p>
            <a:pPr algn="ctr">
              <a:spcBef>
                <a:spcPts val="0"/>
              </a:spcBef>
              <a:spcAft>
                <a:spcPts val="0"/>
              </a:spcAft>
            </a:pPr>
            <a:r>
              <a:rPr sz="1400" b="1" i="0">
                <a:solidFill>
                  <a:srgbClr val="D5FB00"/>
                </a:solidFill>
                <a:latin typeface="Segoe UI"/>
              </a:rPr>
              <a:t>September 25</a:t>
            </a:r>
          </a:p>
        </p:txBody>
      </p:sp>
      <p:sp>
        <p:nvSpPr>
          <p:cNvPr id="14" name="Oval 13"/>
          <p:cNvSpPr/>
          <p:nvPr/>
        </p:nvSpPr>
        <p:spPr>
          <a:xfrm>
            <a:off x="6076188" y="3470148"/>
            <a:ext cx="192024" cy="192024"/>
          </a:xfrm>
          <a:prstGeom prst="ellipse">
            <a:avLst/>
          </a:prstGeom>
          <a:solidFill>
            <a:srgbClr val="FFFFFF"/>
          </a:solidFill>
          <a:ln>
            <a:noFill/>
          </a:ln>
        </p:spPr>
        <p:txBody>
          <a:bodyPr rtlCol="0" anchor="ctr" wrap="square" lIns="0" rIns="0" tIns="0" bIns="0"/>
          <a:lstStyle/>
          <a:p>
            <a:pPr algn="ctr"/>
          </a:p>
        </p:txBody>
      </p:sp>
      <p:sp>
        <p:nvSpPr>
          <p:cNvPr id="15" name="TextBox 14"/>
          <p:cNvSpPr txBox="1"/>
          <p:nvPr/>
        </p:nvSpPr>
        <p:spPr>
          <a:xfrm>
            <a:off x="5120640" y="2596896"/>
            <a:ext cx="2103120" cy="411480"/>
          </a:xfrm>
          <a:prstGeom prst="rect">
            <a:avLst/>
          </a:prstGeom>
          <a:noFill/>
        </p:spPr>
        <p:txBody>
          <a:bodyPr wrap="square" lIns="0" rIns="0" tIns="0" bIns="0" anchor="t">
            <a:spAutoFit/>
          </a:bodyPr>
          <a:lstStyle/>
          <a:p>
            <a:pPr algn="ctr">
              <a:spcBef>
                <a:spcPts val="0"/>
              </a:spcBef>
              <a:spcAft>
                <a:spcPts val="0"/>
              </a:spcAft>
            </a:pPr>
            <a:r>
              <a:rPr sz="1900" b="1" i="0">
                <a:solidFill>
                  <a:srgbClr val="FFFFFF"/>
                </a:solidFill>
                <a:latin typeface="Segoe UI"/>
              </a:rPr>
              <a:t>Level I exam</a:t>
            </a:r>
          </a:p>
        </p:txBody>
      </p:sp>
      <p:sp>
        <p:nvSpPr>
          <p:cNvPr id="16" name="TextBox 15"/>
          <p:cNvSpPr txBox="1"/>
          <p:nvPr/>
        </p:nvSpPr>
        <p:spPr>
          <a:xfrm>
            <a:off x="5120640" y="4087368"/>
            <a:ext cx="2103120" cy="274320"/>
          </a:xfrm>
          <a:prstGeom prst="rect">
            <a:avLst/>
          </a:prstGeom>
          <a:noFill/>
        </p:spPr>
        <p:txBody>
          <a:bodyPr wrap="square" lIns="0" rIns="0" tIns="0" bIns="0" anchor="t">
            <a:spAutoFit/>
          </a:bodyPr>
          <a:lstStyle/>
          <a:p>
            <a:pPr algn="ctr">
              <a:spcBef>
                <a:spcPts val="0"/>
              </a:spcBef>
              <a:spcAft>
                <a:spcPts val="0"/>
              </a:spcAft>
            </a:pPr>
            <a:r>
              <a:rPr sz="1400" b="0" i="0">
                <a:solidFill>
                  <a:srgbClr val="C6CDD1"/>
                </a:solidFill>
                <a:latin typeface="Segoe UI"/>
              </a:rPr>
              <a:t>October</a:t>
            </a:r>
          </a:p>
        </p:txBody>
      </p:sp>
      <p:sp>
        <p:nvSpPr>
          <p:cNvPr id="17" name="Oval 16"/>
          <p:cNvSpPr/>
          <p:nvPr/>
        </p:nvSpPr>
        <p:spPr>
          <a:xfrm>
            <a:off x="8270747" y="3470148"/>
            <a:ext cx="192024" cy="192024"/>
          </a:xfrm>
          <a:prstGeom prst="ellipse">
            <a:avLst/>
          </a:prstGeom>
          <a:solidFill>
            <a:srgbClr val="FFFFFF"/>
          </a:solidFill>
          <a:ln>
            <a:noFill/>
          </a:ln>
        </p:spPr>
        <p:txBody>
          <a:bodyPr rtlCol="0" anchor="ctr" wrap="square" lIns="0" rIns="0" tIns="0" bIns="0"/>
          <a:lstStyle/>
          <a:p>
            <a:pPr algn="ctr"/>
          </a:p>
        </p:txBody>
      </p:sp>
      <p:sp>
        <p:nvSpPr>
          <p:cNvPr id="18" name="TextBox 17"/>
          <p:cNvSpPr txBox="1"/>
          <p:nvPr/>
        </p:nvSpPr>
        <p:spPr>
          <a:xfrm>
            <a:off x="7315199" y="2596896"/>
            <a:ext cx="2103120" cy="411480"/>
          </a:xfrm>
          <a:prstGeom prst="rect">
            <a:avLst/>
          </a:prstGeom>
          <a:noFill/>
        </p:spPr>
        <p:txBody>
          <a:bodyPr wrap="square" lIns="0" rIns="0" tIns="0" bIns="0" anchor="t">
            <a:spAutoFit/>
          </a:bodyPr>
          <a:lstStyle/>
          <a:p>
            <a:pPr algn="ctr">
              <a:spcBef>
                <a:spcPts val="0"/>
              </a:spcBef>
              <a:spcAft>
                <a:spcPts val="0"/>
              </a:spcAft>
            </a:pPr>
            <a:r>
              <a:rPr sz="1900" b="1" i="0">
                <a:solidFill>
                  <a:srgbClr val="FFFFFF"/>
                </a:solidFill>
                <a:latin typeface="Segoe UI"/>
              </a:rPr>
              <a:t>Levels L and U</a:t>
            </a:r>
          </a:p>
        </p:txBody>
      </p:sp>
      <p:sp>
        <p:nvSpPr>
          <p:cNvPr id="19" name="TextBox 18"/>
          <p:cNvSpPr txBox="1"/>
          <p:nvPr/>
        </p:nvSpPr>
        <p:spPr>
          <a:xfrm>
            <a:off x="7315199" y="4087368"/>
            <a:ext cx="2103120" cy="274320"/>
          </a:xfrm>
          <a:prstGeom prst="rect">
            <a:avLst/>
          </a:prstGeom>
          <a:noFill/>
        </p:spPr>
        <p:txBody>
          <a:bodyPr wrap="square" lIns="0" rIns="0" tIns="0" bIns="0" anchor="t">
            <a:spAutoFit/>
          </a:bodyPr>
          <a:lstStyle/>
          <a:p>
            <a:pPr algn="ctr">
              <a:spcBef>
                <a:spcPts val="0"/>
              </a:spcBef>
              <a:spcAft>
                <a:spcPts val="0"/>
              </a:spcAft>
            </a:pPr>
            <a:r>
              <a:rPr sz="1400" b="0" i="0">
                <a:solidFill>
                  <a:srgbClr val="C6CDD1"/>
                </a:solidFill>
                <a:latin typeface="Segoe UI"/>
              </a:rPr>
              <a:t>November to December</a:t>
            </a:r>
          </a:p>
        </p:txBody>
      </p:sp>
      <p:sp>
        <p:nvSpPr>
          <p:cNvPr id="20" name="Oval 19"/>
          <p:cNvSpPr/>
          <p:nvPr/>
        </p:nvSpPr>
        <p:spPr>
          <a:xfrm>
            <a:off x="10465307" y="3470148"/>
            <a:ext cx="192024" cy="192024"/>
          </a:xfrm>
          <a:prstGeom prst="ellipse">
            <a:avLst/>
          </a:prstGeom>
          <a:solidFill>
            <a:srgbClr val="FFFFFF"/>
          </a:solidFill>
          <a:ln>
            <a:noFill/>
          </a:ln>
        </p:spPr>
        <p:txBody>
          <a:bodyPr rtlCol="0" anchor="ctr" wrap="square" lIns="0" rIns="0" tIns="0" bIns="0"/>
          <a:lstStyle/>
          <a:p>
            <a:pPr algn="ctr"/>
          </a:p>
        </p:txBody>
      </p:sp>
      <p:sp>
        <p:nvSpPr>
          <p:cNvPr id="21" name="TextBox 20"/>
          <p:cNvSpPr txBox="1"/>
          <p:nvPr/>
        </p:nvSpPr>
        <p:spPr>
          <a:xfrm>
            <a:off x="9509759" y="2596896"/>
            <a:ext cx="2103120" cy="411480"/>
          </a:xfrm>
          <a:prstGeom prst="rect">
            <a:avLst/>
          </a:prstGeom>
          <a:noFill/>
        </p:spPr>
        <p:txBody>
          <a:bodyPr wrap="square" lIns="0" rIns="0" tIns="0" bIns="0" anchor="t">
            <a:spAutoFit/>
          </a:bodyPr>
          <a:lstStyle/>
          <a:p>
            <a:pPr algn="ctr">
              <a:spcBef>
                <a:spcPts val="0"/>
              </a:spcBef>
              <a:spcAft>
                <a:spcPts val="0"/>
              </a:spcAft>
            </a:pPr>
            <a:r>
              <a:rPr sz="1900" b="1" i="0">
                <a:solidFill>
                  <a:srgbClr val="FFFFFF"/>
                </a:solidFill>
                <a:latin typeface="Segoe UI"/>
              </a:rPr>
              <a:t>Program close</a:t>
            </a:r>
          </a:p>
        </p:txBody>
      </p:sp>
      <p:sp>
        <p:nvSpPr>
          <p:cNvPr id="22" name="TextBox 21"/>
          <p:cNvSpPr txBox="1"/>
          <p:nvPr/>
        </p:nvSpPr>
        <p:spPr>
          <a:xfrm>
            <a:off x="9509759" y="4087368"/>
            <a:ext cx="2103120" cy="274320"/>
          </a:xfrm>
          <a:prstGeom prst="rect">
            <a:avLst/>
          </a:prstGeom>
          <a:noFill/>
        </p:spPr>
        <p:txBody>
          <a:bodyPr wrap="square" lIns="0" rIns="0" tIns="0" bIns="0" anchor="t">
            <a:spAutoFit/>
          </a:bodyPr>
          <a:lstStyle/>
          <a:p>
            <a:pPr algn="ctr">
              <a:spcBef>
                <a:spcPts val="0"/>
              </a:spcBef>
              <a:spcAft>
                <a:spcPts val="0"/>
              </a:spcAft>
            </a:pPr>
            <a:r>
              <a:rPr sz="1400" b="0" i="0">
                <a:solidFill>
                  <a:srgbClr val="C6CDD1"/>
                </a:solidFill>
                <a:latin typeface="Segoe UI"/>
              </a:rPr>
              <a:t>January 1, 2027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Level I: understand it before you touch the robot</a:t>
            </a:r>
          </a:p>
        </p:txBody>
      </p:sp>
      <p:sp>
        <p:nvSpPr>
          <p:cNvPr id="3" name="!! Subtitle 1"/>
          <p:cNvSpPr>
            <a:spLocks noGrp="1"/>
          </p:cNvSpPr>
          <p:nvPr>
            <p:ph type="body" idx="21" sz="quarter"/>
          </p:nvPr>
        </p:nvSpPr>
        <p:spPr/>
        <p:txBody>
          <a:bodyPr/>
          <a:lstStyle/>
          <a:p>
            <a:r>
              <a:rPr sz="1300" b="0">
                <a:solidFill>
                  <a:srgbClr val="D5FB00"/>
                </a:solidFill>
                <a:latin typeface="Segoe UI"/>
              </a:rPr>
              <a:t>What I learned</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7223760" cy="3886200"/>
          </a:xfrm>
          <a:prstGeom prst="rect">
            <a:avLst/>
          </a:prstGeom>
        </p:spPr>
      </p:pic>
      <p:sp>
        <p:nvSpPr>
          <p:cNvPr id="5" name="!! Glass A rim"/>
          <p:cNvSpPr/>
          <p:nvPr/>
        </p:nvSpPr>
        <p:spPr>
          <a:xfrm>
            <a:off x="256032" y="1600200"/>
            <a:ext cx="722376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FIVE TOPICS</a:t>
            </a:r>
          </a:p>
        </p:txBody>
      </p:sp>
      <p:sp>
        <p:nvSpPr>
          <p:cNvPr id="7" name="TextBox 6"/>
          <p:cNvSpPr txBox="1"/>
          <p:nvPr/>
        </p:nvSpPr>
        <p:spPr>
          <a:xfrm>
            <a:off x="621792" y="2359152"/>
            <a:ext cx="2011680" cy="3200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Safety</a:t>
            </a:r>
          </a:p>
        </p:txBody>
      </p:sp>
      <p:sp>
        <p:nvSpPr>
          <p:cNvPr id="8" name="TextBox 7"/>
          <p:cNvSpPr txBox="1"/>
          <p:nvPr/>
        </p:nvSpPr>
        <p:spPr>
          <a:xfrm>
            <a:off x="2697480" y="2368296"/>
            <a:ext cx="4526280" cy="32004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Working at the cell without putting anyone at risk.</a:t>
            </a:r>
          </a:p>
        </p:txBody>
      </p:sp>
      <p:sp>
        <p:nvSpPr>
          <p:cNvPr id="9" name="Rectangle 8"/>
          <p:cNvSpPr/>
          <p:nvPr/>
        </p:nvSpPr>
        <p:spPr>
          <a:xfrm>
            <a:off x="621792" y="2834640"/>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0" name="TextBox 9"/>
          <p:cNvSpPr txBox="1"/>
          <p:nvPr/>
        </p:nvSpPr>
        <p:spPr>
          <a:xfrm>
            <a:off x="621792" y="2962656"/>
            <a:ext cx="2011680" cy="3200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GMAW welding</a:t>
            </a:r>
          </a:p>
        </p:txBody>
      </p:sp>
      <p:sp>
        <p:nvSpPr>
          <p:cNvPr id="11" name="TextBox 10"/>
          <p:cNvSpPr txBox="1"/>
          <p:nvPr/>
        </p:nvSpPr>
        <p:spPr>
          <a:xfrm>
            <a:off x="2697480" y="2971800"/>
            <a:ext cx="4526280" cy="32004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How wire, gas and an electric arc join the steel.</a:t>
            </a:r>
          </a:p>
        </p:txBody>
      </p:sp>
      <p:sp>
        <p:nvSpPr>
          <p:cNvPr id="12" name="Rectangle 11"/>
          <p:cNvSpPr/>
          <p:nvPr/>
        </p:nvSpPr>
        <p:spPr>
          <a:xfrm>
            <a:off x="621792" y="3438144"/>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3" name="TextBox 12"/>
          <p:cNvSpPr txBox="1"/>
          <p:nvPr/>
        </p:nvSpPr>
        <p:spPr>
          <a:xfrm>
            <a:off x="621792" y="3566160"/>
            <a:ext cx="2011680" cy="3200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The WPS</a:t>
            </a:r>
          </a:p>
        </p:txBody>
      </p:sp>
      <p:sp>
        <p:nvSpPr>
          <p:cNvPr id="14" name="TextBox 13"/>
          <p:cNvSpPr txBox="1"/>
          <p:nvPr/>
        </p:nvSpPr>
        <p:spPr>
          <a:xfrm>
            <a:off x="2697480" y="3575304"/>
            <a:ext cx="4526280" cy="32004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The approved recipe that every weld has to follow.</a:t>
            </a:r>
          </a:p>
        </p:txBody>
      </p:sp>
      <p:sp>
        <p:nvSpPr>
          <p:cNvPr id="15" name="Rectangle 14"/>
          <p:cNvSpPr/>
          <p:nvPr/>
        </p:nvSpPr>
        <p:spPr>
          <a:xfrm>
            <a:off x="621792" y="4041648"/>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6" name="TextBox 15"/>
          <p:cNvSpPr txBox="1"/>
          <p:nvPr/>
        </p:nvSpPr>
        <p:spPr>
          <a:xfrm>
            <a:off x="621792" y="4169664"/>
            <a:ext cx="2011680" cy="3200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Defects</a:t>
            </a:r>
          </a:p>
        </p:txBody>
      </p:sp>
      <p:sp>
        <p:nvSpPr>
          <p:cNvPr id="17" name="TextBox 16"/>
          <p:cNvSpPr txBox="1"/>
          <p:nvPr/>
        </p:nvSpPr>
        <p:spPr>
          <a:xfrm>
            <a:off x="2697480" y="4178808"/>
            <a:ext cx="4526280" cy="32004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Recognizing a bad weld and understanding its cause.</a:t>
            </a:r>
          </a:p>
        </p:txBody>
      </p:sp>
      <p:sp>
        <p:nvSpPr>
          <p:cNvPr id="18" name="Rectangle 17"/>
          <p:cNvSpPr/>
          <p:nvPr/>
        </p:nvSpPr>
        <p:spPr>
          <a:xfrm>
            <a:off x="621792" y="4645152"/>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9" name="TextBox 18"/>
          <p:cNvSpPr txBox="1"/>
          <p:nvPr/>
        </p:nvSpPr>
        <p:spPr>
          <a:xfrm>
            <a:off x="621792" y="4773168"/>
            <a:ext cx="2011680" cy="3200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Parameters</a:t>
            </a:r>
          </a:p>
        </p:txBody>
      </p:sp>
      <p:sp>
        <p:nvSpPr>
          <p:cNvPr id="20" name="TextBox 19"/>
          <p:cNvSpPr txBox="1"/>
          <p:nvPr/>
        </p:nvSpPr>
        <p:spPr>
          <a:xfrm>
            <a:off x="2697480" y="4782312"/>
            <a:ext cx="4526280" cy="32004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The settings that shape the weld, and their limits.</a:t>
            </a:r>
          </a:p>
        </p:txBody>
      </p:sp>
      <p:pic>
        <p:nvPicPr>
          <p:cNvPr id="21" name="!! Glass B" descr="Decorative glass panel"/>
          <p:cNvPicPr>
            <a:picLocks noChangeAspect="1"/>
          </p:cNvPicPr>
          <p:nvPr/>
        </p:nvPicPr>
        <p:blipFill>
          <a:blip r:embed="rId3">
            <a:alphaModFix amt="50000"/>
          </a:blip>
          <a:stretch>
            <a:fillRect/>
          </a:stretch>
        </p:blipFill>
        <p:spPr>
          <a:xfrm>
            <a:off x="7818120" y="1600200"/>
            <a:ext cx="4114800" cy="3886200"/>
          </a:xfrm>
          <a:prstGeom prst="rect">
            <a:avLst/>
          </a:prstGeom>
        </p:spPr>
      </p:pic>
      <p:sp>
        <p:nvSpPr>
          <p:cNvPr id="22" name="!! Glass B rim"/>
          <p:cNvSpPr/>
          <p:nvPr/>
        </p:nvSpPr>
        <p:spPr>
          <a:xfrm>
            <a:off x="7818120" y="1600200"/>
            <a:ext cx="4114800" cy="3886200"/>
          </a:xfrm>
          <a:prstGeom prst="rect">
            <a:avLst/>
          </a:prstGeom>
          <a:noFill/>
          <a:ln w="9525">
            <a:solidFill>
              <a:srgbClr val="FFFFFF">
                <a:alpha val="16000"/>
              </a:srgbClr>
            </a:solidFill>
          </a:ln>
        </p:spPr>
        <p:txBody>
          <a:bodyPr rtlCol="0" anchor="ctr" wrap="square" lIns="0" rIns="0" tIns="0" bIns="0"/>
          <a:lstStyle/>
          <a:p>
            <a:pPr algn="ctr"/>
          </a:p>
        </p:txBody>
      </p:sp>
      <p:sp>
        <p:nvSpPr>
          <p:cNvPr id="23" name="TextBox 22"/>
          <p:cNvSpPr txBox="1"/>
          <p:nvPr/>
        </p:nvSpPr>
        <p:spPr>
          <a:xfrm>
            <a:off x="8183879"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HOW I LEARNED IT</a:t>
            </a:r>
          </a:p>
        </p:txBody>
      </p:sp>
      <p:sp>
        <p:nvSpPr>
          <p:cNvPr id="24" name="TextBox 23"/>
          <p:cNvSpPr txBox="1"/>
          <p:nvPr/>
        </p:nvSpPr>
        <p:spPr>
          <a:xfrm>
            <a:off x="8183879" y="2331720"/>
            <a:ext cx="34747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616</a:t>
            </a:r>
          </a:p>
        </p:txBody>
      </p:sp>
      <p:sp>
        <p:nvSpPr>
          <p:cNvPr id="25" name="TextBox 24"/>
          <p:cNvSpPr txBox="1"/>
          <p:nvPr/>
        </p:nvSpPr>
        <p:spPr>
          <a:xfrm>
            <a:off x="8183879" y="2788920"/>
            <a:ext cx="3429000" cy="45720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pages of training manual and customer standard, read page by page.</a:t>
            </a:r>
          </a:p>
        </p:txBody>
      </p:sp>
      <p:sp>
        <p:nvSpPr>
          <p:cNvPr id="26" name="TextBox 25"/>
          <p:cNvSpPr txBox="1"/>
          <p:nvPr/>
        </p:nvSpPr>
        <p:spPr>
          <a:xfrm>
            <a:off x="8183879" y="3337560"/>
            <a:ext cx="34747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Daily</a:t>
            </a:r>
          </a:p>
        </p:txBody>
      </p:sp>
      <p:sp>
        <p:nvSpPr>
          <p:cNvPr id="27" name="TextBox 26"/>
          <p:cNvSpPr txBox="1"/>
          <p:nvPr/>
        </p:nvSpPr>
        <p:spPr>
          <a:xfrm>
            <a:off x="8183879" y="3794760"/>
            <a:ext cx="3429000" cy="45720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at the cells, attending robot stops with the technicians.</a:t>
            </a:r>
          </a:p>
        </p:txBody>
      </p:sp>
      <p:sp>
        <p:nvSpPr>
          <p:cNvPr id="28" name="TextBox 27"/>
          <p:cNvSpPr txBox="1"/>
          <p:nvPr/>
        </p:nvSpPr>
        <p:spPr>
          <a:xfrm>
            <a:off x="8183879" y="4343400"/>
            <a:ext cx="347472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25</a:t>
            </a:r>
          </a:p>
        </p:txBody>
      </p:sp>
      <p:sp>
        <p:nvSpPr>
          <p:cNvPr id="29" name="TextBox 28"/>
          <p:cNvSpPr txBox="1"/>
          <p:nvPr/>
        </p:nvSpPr>
        <p:spPr>
          <a:xfrm>
            <a:off x="8183879" y="4800600"/>
            <a:ext cx="3429000" cy="45720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questions of a practice exam from previous years, solved.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Four skills on my own, thirteen in progress</a:t>
            </a:r>
          </a:p>
        </p:txBody>
      </p:sp>
      <p:sp>
        <p:nvSpPr>
          <p:cNvPr id="3" name="!! Subtitle 1"/>
          <p:cNvSpPr>
            <a:spLocks noGrp="1"/>
          </p:cNvSpPr>
          <p:nvPr>
            <p:ph type="body" idx="21" sz="quarter"/>
          </p:nvPr>
        </p:nvSpPr>
        <p:spPr/>
        <p:txBody>
          <a:bodyPr/>
          <a:lstStyle/>
          <a:p>
            <a:r>
              <a:rPr sz="1300" b="0">
                <a:solidFill>
                  <a:srgbClr val="D5FB00"/>
                </a:solidFill>
                <a:latin typeface="Segoe UI"/>
              </a:rPr>
              <a:t>Progress on the 23 skills of the program</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7543800" cy="3886200"/>
          </a:xfrm>
          <a:prstGeom prst="rect">
            <a:avLst/>
          </a:prstGeom>
        </p:spPr>
      </p:pic>
      <p:sp>
        <p:nvSpPr>
          <p:cNvPr id="5" name="!! Glass A rim"/>
          <p:cNvSpPr/>
          <p:nvPr/>
        </p:nvSpPr>
        <p:spPr>
          <a:xfrm>
            <a:off x="256032" y="1600200"/>
            <a:ext cx="754380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883664"/>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I</a:t>
            </a:r>
          </a:p>
        </p:txBody>
      </p:sp>
      <p:sp>
        <p:nvSpPr>
          <p:cNvPr id="7" name="TextBox 6"/>
          <p:cNvSpPr txBox="1"/>
          <p:nvPr/>
        </p:nvSpPr>
        <p:spPr>
          <a:xfrm>
            <a:off x="1115568" y="1929384"/>
            <a:ext cx="20116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Understands</a:t>
            </a:r>
          </a:p>
        </p:txBody>
      </p:sp>
      <p:sp>
        <p:nvSpPr>
          <p:cNvPr id="8" name="TextBox 7"/>
          <p:cNvSpPr txBox="1"/>
          <p:nvPr/>
        </p:nvSpPr>
        <p:spPr>
          <a:xfrm>
            <a:off x="1115568" y="2176272"/>
            <a:ext cx="2011680" cy="274320"/>
          </a:xfrm>
          <a:prstGeom prst="rect">
            <a:avLst/>
          </a:prstGeom>
          <a:noFill/>
        </p:spPr>
        <p:txBody>
          <a:bodyPr wrap="square" lIns="0" rIns="0" tIns="0" bIns="0" anchor="t">
            <a:spAutoFit/>
          </a:bodyPr>
          <a:lstStyle/>
          <a:p>
            <a:pPr algn="l">
              <a:spcBef>
                <a:spcPts val="0"/>
              </a:spcBef>
              <a:spcAft>
                <a:spcPts val="0"/>
              </a:spcAft>
            </a:pPr>
            <a:r>
              <a:rPr sz="1100" b="0" i="0">
                <a:solidFill>
                  <a:srgbClr val="8A9BA8"/>
                </a:solidFill>
                <a:latin typeface="Segoe UI"/>
              </a:rPr>
              <a:t>9 skills</a:t>
            </a:r>
          </a:p>
        </p:txBody>
      </p:sp>
      <p:sp>
        <p:nvSpPr>
          <p:cNvPr id="9" name="Oval 8"/>
          <p:cNvSpPr/>
          <p:nvPr/>
        </p:nvSpPr>
        <p:spPr>
          <a:xfrm>
            <a:off x="315468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0" name="Oval 9"/>
          <p:cNvSpPr/>
          <p:nvPr/>
        </p:nvSpPr>
        <p:spPr>
          <a:xfrm>
            <a:off x="352044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1" name="Oval 10"/>
          <p:cNvSpPr/>
          <p:nvPr/>
        </p:nvSpPr>
        <p:spPr>
          <a:xfrm>
            <a:off x="388620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2" name="Oval 11"/>
          <p:cNvSpPr/>
          <p:nvPr/>
        </p:nvSpPr>
        <p:spPr>
          <a:xfrm>
            <a:off x="425196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3" name="Oval 12"/>
          <p:cNvSpPr/>
          <p:nvPr/>
        </p:nvSpPr>
        <p:spPr>
          <a:xfrm>
            <a:off x="461772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4" name="Oval 13"/>
          <p:cNvSpPr/>
          <p:nvPr/>
        </p:nvSpPr>
        <p:spPr>
          <a:xfrm>
            <a:off x="498348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5" name="Oval 14"/>
          <p:cNvSpPr/>
          <p:nvPr/>
        </p:nvSpPr>
        <p:spPr>
          <a:xfrm>
            <a:off x="534924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6" name="Oval 15"/>
          <p:cNvSpPr/>
          <p:nvPr/>
        </p:nvSpPr>
        <p:spPr>
          <a:xfrm>
            <a:off x="571500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7" name="Oval 16"/>
          <p:cNvSpPr/>
          <p:nvPr/>
        </p:nvSpPr>
        <p:spPr>
          <a:xfrm>
            <a:off x="6080760" y="1993392"/>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18" name="TextBox 17"/>
          <p:cNvSpPr txBox="1"/>
          <p:nvPr/>
        </p:nvSpPr>
        <p:spPr>
          <a:xfrm>
            <a:off x="621792" y="2651760"/>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L</a:t>
            </a:r>
          </a:p>
        </p:txBody>
      </p:sp>
      <p:sp>
        <p:nvSpPr>
          <p:cNvPr id="19" name="TextBox 18"/>
          <p:cNvSpPr txBox="1"/>
          <p:nvPr/>
        </p:nvSpPr>
        <p:spPr>
          <a:xfrm>
            <a:off x="1115568" y="2697480"/>
            <a:ext cx="20116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With support</a:t>
            </a:r>
          </a:p>
        </p:txBody>
      </p:sp>
      <p:sp>
        <p:nvSpPr>
          <p:cNvPr id="20" name="TextBox 19"/>
          <p:cNvSpPr txBox="1"/>
          <p:nvPr/>
        </p:nvSpPr>
        <p:spPr>
          <a:xfrm>
            <a:off x="1115568" y="2944368"/>
            <a:ext cx="2011680" cy="274320"/>
          </a:xfrm>
          <a:prstGeom prst="rect">
            <a:avLst/>
          </a:prstGeom>
          <a:noFill/>
        </p:spPr>
        <p:txBody>
          <a:bodyPr wrap="square" lIns="0" rIns="0" tIns="0" bIns="0" anchor="t">
            <a:spAutoFit/>
          </a:bodyPr>
          <a:lstStyle/>
          <a:p>
            <a:pPr algn="l">
              <a:spcBef>
                <a:spcPts val="0"/>
              </a:spcBef>
              <a:spcAft>
                <a:spcPts val="0"/>
              </a:spcAft>
            </a:pPr>
            <a:r>
              <a:rPr sz="1100" b="0" i="0">
                <a:solidFill>
                  <a:srgbClr val="8A9BA8"/>
                </a:solidFill>
                <a:latin typeface="Segoe UI"/>
              </a:rPr>
              <a:t>5 skills</a:t>
            </a:r>
          </a:p>
        </p:txBody>
      </p:sp>
      <p:sp>
        <p:nvSpPr>
          <p:cNvPr id="21" name="Oval 20"/>
          <p:cNvSpPr/>
          <p:nvPr/>
        </p:nvSpPr>
        <p:spPr>
          <a:xfrm>
            <a:off x="3154680" y="2761488"/>
            <a:ext cx="237744" cy="237744"/>
          </a:xfrm>
          <a:prstGeom prst="ellipse">
            <a:avLst/>
          </a:prstGeom>
          <a:solidFill>
            <a:srgbClr val="D5FB00"/>
          </a:solidFill>
          <a:ln>
            <a:noFill/>
          </a:ln>
        </p:spPr>
        <p:txBody>
          <a:bodyPr rtlCol="0" anchor="ctr" wrap="square" lIns="0" rIns="0" tIns="0" bIns="0"/>
          <a:lstStyle/>
          <a:p>
            <a:pPr algn="ctr"/>
          </a:p>
        </p:txBody>
      </p:sp>
      <p:sp>
        <p:nvSpPr>
          <p:cNvPr id="22" name="Oval 21"/>
          <p:cNvSpPr/>
          <p:nvPr/>
        </p:nvSpPr>
        <p:spPr>
          <a:xfrm>
            <a:off x="3520440" y="2761488"/>
            <a:ext cx="237744" cy="237744"/>
          </a:xfrm>
          <a:prstGeom prst="ellipse">
            <a:avLst/>
          </a:prstGeom>
          <a:solidFill>
            <a:srgbClr val="D5FB00"/>
          </a:solidFill>
          <a:ln>
            <a:noFill/>
          </a:ln>
        </p:spPr>
        <p:txBody>
          <a:bodyPr rtlCol="0" anchor="ctr" wrap="square" lIns="0" rIns="0" tIns="0" bIns="0"/>
          <a:lstStyle/>
          <a:p>
            <a:pPr algn="ctr"/>
          </a:p>
        </p:txBody>
      </p:sp>
      <p:sp>
        <p:nvSpPr>
          <p:cNvPr id="23" name="Oval 22"/>
          <p:cNvSpPr/>
          <p:nvPr/>
        </p:nvSpPr>
        <p:spPr>
          <a:xfrm>
            <a:off x="3886200" y="2761488"/>
            <a:ext cx="237744" cy="237744"/>
          </a:xfrm>
          <a:prstGeom prst="ellipse">
            <a:avLst/>
          </a:prstGeom>
          <a:solidFill>
            <a:srgbClr val="D5FB00"/>
          </a:solidFill>
          <a:ln>
            <a:noFill/>
          </a:ln>
        </p:spPr>
        <p:txBody>
          <a:bodyPr rtlCol="0" anchor="ctr" wrap="square" lIns="0" rIns="0" tIns="0" bIns="0"/>
          <a:lstStyle/>
          <a:p>
            <a:pPr algn="ctr"/>
          </a:p>
        </p:txBody>
      </p:sp>
      <p:sp>
        <p:nvSpPr>
          <p:cNvPr id="24" name="Oval 23"/>
          <p:cNvSpPr/>
          <p:nvPr/>
        </p:nvSpPr>
        <p:spPr>
          <a:xfrm>
            <a:off x="4251960" y="2761488"/>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25" name="Oval 24"/>
          <p:cNvSpPr/>
          <p:nvPr/>
        </p:nvSpPr>
        <p:spPr>
          <a:xfrm>
            <a:off x="4617720" y="2761488"/>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26" name="TextBox 25"/>
          <p:cNvSpPr txBox="1"/>
          <p:nvPr/>
        </p:nvSpPr>
        <p:spPr>
          <a:xfrm>
            <a:off x="621792" y="3419856"/>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U</a:t>
            </a:r>
          </a:p>
        </p:txBody>
      </p:sp>
      <p:sp>
        <p:nvSpPr>
          <p:cNvPr id="27" name="TextBox 26"/>
          <p:cNvSpPr txBox="1"/>
          <p:nvPr/>
        </p:nvSpPr>
        <p:spPr>
          <a:xfrm>
            <a:off x="1115568" y="3465576"/>
            <a:ext cx="20116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Alone</a:t>
            </a:r>
          </a:p>
        </p:txBody>
      </p:sp>
      <p:sp>
        <p:nvSpPr>
          <p:cNvPr id="28" name="TextBox 27"/>
          <p:cNvSpPr txBox="1"/>
          <p:nvPr/>
        </p:nvSpPr>
        <p:spPr>
          <a:xfrm>
            <a:off x="1115568" y="3712463"/>
            <a:ext cx="2011680" cy="274320"/>
          </a:xfrm>
          <a:prstGeom prst="rect">
            <a:avLst/>
          </a:prstGeom>
          <a:noFill/>
        </p:spPr>
        <p:txBody>
          <a:bodyPr wrap="square" lIns="0" rIns="0" tIns="0" bIns="0" anchor="t">
            <a:spAutoFit/>
          </a:bodyPr>
          <a:lstStyle/>
          <a:p>
            <a:pPr algn="l">
              <a:spcBef>
                <a:spcPts val="0"/>
              </a:spcBef>
              <a:spcAft>
                <a:spcPts val="0"/>
              </a:spcAft>
            </a:pPr>
            <a:r>
              <a:rPr sz="1100" b="0" i="0">
                <a:solidFill>
                  <a:srgbClr val="8A9BA8"/>
                </a:solidFill>
                <a:latin typeface="Segoe UI"/>
              </a:rPr>
              <a:t>3 skills</a:t>
            </a:r>
          </a:p>
        </p:txBody>
      </p:sp>
      <p:sp>
        <p:nvSpPr>
          <p:cNvPr id="29" name="Oval 28"/>
          <p:cNvSpPr/>
          <p:nvPr/>
        </p:nvSpPr>
        <p:spPr>
          <a:xfrm>
            <a:off x="3154680" y="3529584"/>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30" name="Oval 29"/>
          <p:cNvSpPr/>
          <p:nvPr/>
        </p:nvSpPr>
        <p:spPr>
          <a:xfrm>
            <a:off x="3520440" y="3529584"/>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31" name="Oval 30"/>
          <p:cNvSpPr/>
          <p:nvPr/>
        </p:nvSpPr>
        <p:spPr>
          <a:xfrm>
            <a:off x="3886200" y="3529584"/>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32" name="TextBox 31"/>
          <p:cNvSpPr txBox="1"/>
          <p:nvPr/>
        </p:nvSpPr>
        <p:spPr>
          <a:xfrm>
            <a:off x="621792" y="4187952"/>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O</a:t>
            </a:r>
          </a:p>
        </p:txBody>
      </p:sp>
      <p:sp>
        <p:nvSpPr>
          <p:cNvPr id="33" name="TextBox 32"/>
          <p:cNvSpPr txBox="1"/>
          <p:nvPr/>
        </p:nvSpPr>
        <p:spPr>
          <a:xfrm>
            <a:off x="1115568" y="4233672"/>
            <a:ext cx="2011680" cy="274320"/>
          </a:xfrm>
          <a:prstGeom prst="rect">
            <a:avLst/>
          </a:prstGeom>
          <a:noFill/>
        </p:spPr>
        <p:txBody>
          <a:bodyPr wrap="square" lIns="0" rIns="0" tIns="0" bIns="0" anchor="t">
            <a:spAutoFit/>
          </a:bodyPr>
          <a:lstStyle/>
          <a:p>
            <a:pPr algn="l">
              <a:spcBef>
                <a:spcPts val="0"/>
              </a:spcBef>
              <a:spcAft>
                <a:spcPts val="0"/>
              </a:spcAft>
            </a:pPr>
            <a:r>
              <a:rPr sz="1300" b="1" i="0">
                <a:solidFill>
                  <a:srgbClr val="FFFFFF"/>
                </a:solidFill>
                <a:latin typeface="Segoe UI"/>
              </a:rPr>
              <a:t>Improves</a:t>
            </a:r>
          </a:p>
        </p:txBody>
      </p:sp>
      <p:sp>
        <p:nvSpPr>
          <p:cNvPr id="34" name="TextBox 33"/>
          <p:cNvSpPr txBox="1"/>
          <p:nvPr/>
        </p:nvSpPr>
        <p:spPr>
          <a:xfrm>
            <a:off x="1115568" y="4480560"/>
            <a:ext cx="2011680" cy="274320"/>
          </a:xfrm>
          <a:prstGeom prst="rect">
            <a:avLst/>
          </a:prstGeom>
          <a:noFill/>
        </p:spPr>
        <p:txBody>
          <a:bodyPr wrap="square" lIns="0" rIns="0" tIns="0" bIns="0" anchor="t">
            <a:spAutoFit/>
          </a:bodyPr>
          <a:lstStyle/>
          <a:p>
            <a:pPr algn="l">
              <a:spcBef>
                <a:spcPts val="0"/>
              </a:spcBef>
              <a:spcAft>
                <a:spcPts val="0"/>
              </a:spcAft>
            </a:pPr>
            <a:r>
              <a:rPr sz="1100" b="0" i="0">
                <a:solidFill>
                  <a:srgbClr val="8A9BA8"/>
                </a:solidFill>
                <a:latin typeface="Segoe UI"/>
              </a:rPr>
              <a:t>6 skills</a:t>
            </a:r>
          </a:p>
        </p:txBody>
      </p:sp>
      <p:sp>
        <p:nvSpPr>
          <p:cNvPr id="35" name="Oval 34"/>
          <p:cNvSpPr/>
          <p:nvPr/>
        </p:nvSpPr>
        <p:spPr>
          <a:xfrm>
            <a:off x="3154680" y="4297680"/>
            <a:ext cx="237744" cy="237744"/>
          </a:xfrm>
          <a:prstGeom prst="ellipse">
            <a:avLst/>
          </a:prstGeom>
          <a:solidFill>
            <a:srgbClr val="D5FB00"/>
          </a:solidFill>
          <a:ln>
            <a:noFill/>
          </a:ln>
        </p:spPr>
        <p:txBody>
          <a:bodyPr rtlCol="0" anchor="ctr" wrap="square" lIns="0" rIns="0" tIns="0" bIns="0"/>
          <a:lstStyle/>
          <a:p>
            <a:pPr algn="ctr"/>
          </a:p>
        </p:txBody>
      </p:sp>
      <p:sp>
        <p:nvSpPr>
          <p:cNvPr id="36" name="Oval 35"/>
          <p:cNvSpPr/>
          <p:nvPr/>
        </p:nvSpPr>
        <p:spPr>
          <a:xfrm>
            <a:off x="3520440" y="4297680"/>
            <a:ext cx="237744" cy="237744"/>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37" name="Oval 36"/>
          <p:cNvSpPr/>
          <p:nvPr/>
        </p:nvSpPr>
        <p:spPr>
          <a:xfrm>
            <a:off x="3886200" y="4297680"/>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38" name="Oval 37"/>
          <p:cNvSpPr/>
          <p:nvPr/>
        </p:nvSpPr>
        <p:spPr>
          <a:xfrm>
            <a:off x="4251960" y="4297680"/>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39" name="Oval 38"/>
          <p:cNvSpPr/>
          <p:nvPr/>
        </p:nvSpPr>
        <p:spPr>
          <a:xfrm>
            <a:off x="4617720" y="4297680"/>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40" name="Oval 39"/>
          <p:cNvSpPr/>
          <p:nvPr/>
        </p:nvSpPr>
        <p:spPr>
          <a:xfrm>
            <a:off x="4983480" y="4297680"/>
            <a:ext cx="237744" cy="237744"/>
          </a:xfrm>
          <a:prstGeom prst="ellipse">
            <a:avLst/>
          </a:prstGeom>
          <a:noFill/>
          <a:ln w="12700">
            <a:solidFill>
              <a:srgbClr val="C6CDD1">
                <a:alpha val="60000"/>
              </a:srgbClr>
            </a:solidFill>
          </a:ln>
        </p:spPr>
        <p:txBody>
          <a:bodyPr rtlCol="0" anchor="ctr" wrap="square" lIns="0" rIns="0" tIns="0" bIns="0"/>
          <a:lstStyle/>
          <a:p>
            <a:pPr algn="ctr"/>
          </a:p>
        </p:txBody>
      </p:sp>
      <p:sp>
        <p:nvSpPr>
          <p:cNvPr id="41" name="Oval 40"/>
          <p:cNvSpPr/>
          <p:nvPr/>
        </p:nvSpPr>
        <p:spPr>
          <a:xfrm>
            <a:off x="3154680" y="5047488"/>
            <a:ext cx="164592" cy="164592"/>
          </a:xfrm>
          <a:prstGeom prst="ellipse">
            <a:avLst/>
          </a:prstGeom>
          <a:solidFill>
            <a:srgbClr val="D5FB00"/>
          </a:solidFill>
          <a:ln>
            <a:noFill/>
          </a:ln>
        </p:spPr>
        <p:txBody>
          <a:bodyPr rtlCol="0" anchor="ctr" wrap="square" lIns="0" rIns="0" tIns="0" bIns="0"/>
          <a:lstStyle/>
          <a:p>
            <a:pPr algn="ctr"/>
          </a:p>
        </p:txBody>
      </p:sp>
      <p:sp>
        <p:nvSpPr>
          <p:cNvPr id="42" name="TextBox 41"/>
          <p:cNvSpPr txBox="1"/>
          <p:nvPr/>
        </p:nvSpPr>
        <p:spPr>
          <a:xfrm>
            <a:off x="3410712" y="5020056"/>
            <a:ext cx="1280160" cy="228600"/>
          </a:xfrm>
          <a:prstGeom prst="rect">
            <a:avLst/>
          </a:prstGeom>
          <a:noFill/>
        </p:spPr>
        <p:txBody>
          <a:bodyPr wrap="square" lIns="0" rIns="0" tIns="0" bIns="0" anchor="t">
            <a:spAutoFit/>
          </a:bodyPr>
          <a:lstStyle/>
          <a:p>
            <a:pPr algn="l">
              <a:spcBef>
                <a:spcPts val="0"/>
              </a:spcBef>
              <a:spcAft>
                <a:spcPts val="0"/>
              </a:spcAft>
            </a:pPr>
            <a:r>
              <a:rPr sz="1100" b="0" i="0">
                <a:solidFill>
                  <a:srgbClr val="C6CDD1"/>
                </a:solidFill>
                <a:latin typeface="Segoe UI"/>
              </a:rPr>
              <a:t>On my own</a:t>
            </a:r>
          </a:p>
        </p:txBody>
      </p:sp>
      <p:sp>
        <p:nvSpPr>
          <p:cNvPr id="43" name="Oval 42"/>
          <p:cNvSpPr/>
          <p:nvPr/>
        </p:nvSpPr>
        <p:spPr>
          <a:xfrm>
            <a:off x="4636008" y="5047488"/>
            <a:ext cx="164592" cy="164592"/>
          </a:xfrm>
          <a:prstGeom prst="ellipse">
            <a:avLst/>
          </a:prstGeom>
          <a:solidFill>
            <a:srgbClr val="D5FB00">
              <a:alpha val="35000"/>
            </a:srgbClr>
          </a:solidFill>
          <a:ln w="15875">
            <a:solidFill>
              <a:srgbClr val="D5FB00"/>
            </a:solidFill>
          </a:ln>
        </p:spPr>
        <p:txBody>
          <a:bodyPr rtlCol="0" anchor="ctr" wrap="square" lIns="0" rIns="0" tIns="0" bIns="0"/>
          <a:lstStyle/>
          <a:p>
            <a:pPr algn="ctr"/>
          </a:p>
        </p:txBody>
      </p:sp>
      <p:sp>
        <p:nvSpPr>
          <p:cNvPr id="44" name="TextBox 43"/>
          <p:cNvSpPr txBox="1"/>
          <p:nvPr/>
        </p:nvSpPr>
        <p:spPr>
          <a:xfrm>
            <a:off x="4892040" y="5020056"/>
            <a:ext cx="1280160" cy="228600"/>
          </a:xfrm>
          <a:prstGeom prst="rect">
            <a:avLst/>
          </a:prstGeom>
          <a:noFill/>
        </p:spPr>
        <p:txBody>
          <a:bodyPr wrap="square" lIns="0" rIns="0" tIns="0" bIns="0" anchor="t">
            <a:spAutoFit/>
          </a:bodyPr>
          <a:lstStyle/>
          <a:p>
            <a:pPr algn="l">
              <a:spcBef>
                <a:spcPts val="0"/>
              </a:spcBef>
              <a:spcAft>
                <a:spcPts val="0"/>
              </a:spcAft>
            </a:pPr>
            <a:r>
              <a:rPr sz="1100" b="0" i="0">
                <a:solidFill>
                  <a:srgbClr val="C6CDD1"/>
                </a:solidFill>
                <a:latin typeface="Segoe UI"/>
              </a:rPr>
              <a:t>In progress</a:t>
            </a:r>
          </a:p>
        </p:txBody>
      </p:sp>
      <p:sp>
        <p:nvSpPr>
          <p:cNvPr id="45" name="Oval 44"/>
          <p:cNvSpPr/>
          <p:nvPr/>
        </p:nvSpPr>
        <p:spPr>
          <a:xfrm>
            <a:off x="6117336" y="5047488"/>
            <a:ext cx="164592" cy="164592"/>
          </a:xfrm>
          <a:prstGeom prst="ellipse">
            <a:avLst/>
          </a:prstGeom>
          <a:noFill/>
          <a:ln w="12700">
            <a:solidFill>
              <a:srgbClr val="C6CDD1">
                <a:alpha val="60000"/>
              </a:srgbClr>
            </a:solidFill>
          </a:ln>
        </p:spPr>
        <p:txBody>
          <a:bodyPr rtlCol="0" anchor="ctr" wrap="square" lIns="0" rIns="0" tIns="0" bIns="0"/>
          <a:lstStyle/>
          <a:p>
            <a:pPr algn="ctr"/>
          </a:p>
        </p:txBody>
      </p:sp>
      <p:sp>
        <p:nvSpPr>
          <p:cNvPr id="46" name="TextBox 45"/>
          <p:cNvSpPr txBox="1"/>
          <p:nvPr/>
        </p:nvSpPr>
        <p:spPr>
          <a:xfrm>
            <a:off x="6373368" y="5020056"/>
            <a:ext cx="1280160" cy="228600"/>
          </a:xfrm>
          <a:prstGeom prst="rect">
            <a:avLst/>
          </a:prstGeom>
          <a:noFill/>
        </p:spPr>
        <p:txBody>
          <a:bodyPr wrap="square" lIns="0" rIns="0" tIns="0" bIns="0" anchor="t">
            <a:spAutoFit/>
          </a:bodyPr>
          <a:lstStyle/>
          <a:p>
            <a:pPr algn="l">
              <a:spcBef>
                <a:spcPts val="0"/>
              </a:spcBef>
              <a:spcAft>
                <a:spcPts val="0"/>
              </a:spcAft>
            </a:pPr>
            <a:r>
              <a:rPr sz="1100" b="0" i="0">
                <a:solidFill>
                  <a:srgbClr val="C6CDD1"/>
                </a:solidFill>
                <a:latin typeface="Segoe UI"/>
              </a:rPr>
              <a:t>Not started</a:t>
            </a:r>
          </a:p>
        </p:txBody>
      </p:sp>
      <p:pic>
        <p:nvPicPr>
          <p:cNvPr id="47" name="!! Glass B" descr="Decorative glass panel"/>
          <p:cNvPicPr>
            <a:picLocks noChangeAspect="1"/>
          </p:cNvPicPr>
          <p:nvPr/>
        </p:nvPicPr>
        <p:blipFill>
          <a:blip r:embed="rId3">
            <a:alphaModFix amt="50000"/>
          </a:blip>
          <a:stretch>
            <a:fillRect/>
          </a:stretch>
        </p:blipFill>
        <p:spPr>
          <a:xfrm>
            <a:off x="8092440" y="1600200"/>
            <a:ext cx="3840480" cy="3886200"/>
          </a:xfrm>
          <a:prstGeom prst="rect">
            <a:avLst/>
          </a:prstGeom>
        </p:spPr>
      </p:pic>
      <p:sp>
        <p:nvSpPr>
          <p:cNvPr id="48" name="!! Glass B rim"/>
          <p:cNvSpPr/>
          <p:nvPr/>
        </p:nvSpPr>
        <p:spPr>
          <a:xfrm>
            <a:off x="8092440" y="1600200"/>
            <a:ext cx="3840480" cy="3886200"/>
          </a:xfrm>
          <a:prstGeom prst="rect">
            <a:avLst/>
          </a:prstGeom>
          <a:noFill/>
          <a:ln w="9525">
            <a:solidFill>
              <a:srgbClr val="FFFFFF">
                <a:alpha val="16000"/>
              </a:srgbClr>
            </a:solidFill>
          </a:ln>
        </p:spPr>
        <p:txBody>
          <a:bodyPr rtlCol="0" anchor="ctr" wrap="square" lIns="0" rIns="0" tIns="0" bIns="0"/>
          <a:lstStyle/>
          <a:p>
            <a:pPr algn="ctr"/>
          </a:p>
        </p:txBody>
      </p:sp>
      <p:sp>
        <p:nvSpPr>
          <p:cNvPr id="49" name="TextBox 48"/>
          <p:cNvSpPr txBox="1"/>
          <p:nvPr/>
        </p:nvSpPr>
        <p:spPr>
          <a:xfrm>
            <a:off x="8458200"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ON MY OWN TODAY</a:t>
            </a:r>
          </a:p>
        </p:txBody>
      </p:sp>
      <p:sp>
        <p:nvSpPr>
          <p:cNvPr id="50" name="Chevron 49"/>
          <p:cNvSpPr/>
          <p:nvPr/>
        </p:nvSpPr>
        <p:spPr>
          <a:xfrm>
            <a:off x="8458200" y="2478024"/>
            <a:ext cx="128016" cy="128016"/>
          </a:xfrm>
          <a:prstGeom prst="chevron">
            <a:avLst/>
          </a:prstGeom>
          <a:solidFill>
            <a:srgbClr val="D5FB00"/>
          </a:solidFill>
          <a:ln>
            <a:noFill/>
          </a:ln>
        </p:spPr>
        <p:txBody>
          <a:bodyPr rtlCol="0" anchor="ctr" wrap="square" lIns="0" rIns="0" tIns="0" bIns="0"/>
          <a:lstStyle/>
          <a:p>
            <a:pPr algn="ctr"/>
          </a:p>
        </p:txBody>
      </p:sp>
      <p:sp>
        <p:nvSpPr>
          <p:cNvPr id="51" name="TextBox 50"/>
          <p:cNvSpPr txBox="1"/>
          <p:nvPr/>
        </p:nvSpPr>
        <p:spPr>
          <a:xfrm>
            <a:off x="8732520" y="2395728"/>
            <a:ext cx="3017520" cy="5486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Changing consumables</a:t>
            </a:r>
          </a:p>
        </p:txBody>
      </p:sp>
      <p:sp>
        <p:nvSpPr>
          <p:cNvPr id="52" name="Chevron 51"/>
          <p:cNvSpPr/>
          <p:nvPr/>
        </p:nvSpPr>
        <p:spPr>
          <a:xfrm>
            <a:off x="8458200" y="3136391"/>
            <a:ext cx="128016" cy="128016"/>
          </a:xfrm>
          <a:prstGeom prst="chevron">
            <a:avLst/>
          </a:prstGeom>
          <a:solidFill>
            <a:srgbClr val="D5FB00"/>
          </a:solidFill>
          <a:ln>
            <a:noFill/>
          </a:ln>
        </p:spPr>
        <p:txBody>
          <a:bodyPr rtlCol="0" anchor="ctr" wrap="square" lIns="0" rIns="0" tIns="0" bIns="0"/>
          <a:lstStyle/>
          <a:p>
            <a:pPr algn="ctr"/>
          </a:p>
        </p:txBody>
      </p:sp>
      <p:sp>
        <p:nvSpPr>
          <p:cNvPr id="53" name="TextBox 52"/>
          <p:cNvSpPr txBox="1"/>
          <p:nvPr/>
        </p:nvSpPr>
        <p:spPr>
          <a:xfrm>
            <a:off x="8732520" y="3054096"/>
            <a:ext cx="3017520" cy="5486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Adjusting the key welding settings</a:t>
            </a:r>
          </a:p>
        </p:txBody>
      </p:sp>
      <p:sp>
        <p:nvSpPr>
          <p:cNvPr id="54" name="Chevron 53"/>
          <p:cNvSpPr/>
          <p:nvPr/>
        </p:nvSpPr>
        <p:spPr>
          <a:xfrm>
            <a:off x="8458200" y="3794760"/>
            <a:ext cx="128016" cy="128016"/>
          </a:xfrm>
          <a:prstGeom prst="chevron">
            <a:avLst/>
          </a:prstGeom>
          <a:solidFill>
            <a:srgbClr val="D5FB00"/>
          </a:solidFill>
          <a:ln>
            <a:noFill/>
          </a:ln>
        </p:spPr>
        <p:txBody>
          <a:bodyPr rtlCol="0" anchor="ctr" wrap="square" lIns="0" rIns="0" tIns="0" bIns="0"/>
          <a:lstStyle/>
          <a:p>
            <a:pPr algn="ctr"/>
          </a:p>
        </p:txBody>
      </p:sp>
      <p:sp>
        <p:nvSpPr>
          <p:cNvPr id="55" name="TextBox 54"/>
          <p:cNvSpPr txBox="1"/>
          <p:nvPr/>
        </p:nvSpPr>
        <p:spPr>
          <a:xfrm>
            <a:off x="8732520" y="3712464"/>
            <a:ext cx="3017520" cy="5486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Reading weld symbols on drawings</a:t>
            </a:r>
          </a:p>
        </p:txBody>
      </p:sp>
      <p:sp>
        <p:nvSpPr>
          <p:cNvPr id="56" name="Chevron 55"/>
          <p:cNvSpPr/>
          <p:nvPr/>
        </p:nvSpPr>
        <p:spPr>
          <a:xfrm>
            <a:off x="8458200" y="4453128"/>
            <a:ext cx="128016" cy="128016"/>
          </a:xfrm>
          <a:prstGeom prst="chevron">
            <a:avLst/>
          </a:prstGeom>
          <a:solidFill>
            <a:srgbClr val="D5FB00"/>
          </a:solidFill>
          <a:ln>
            <a:noFill/>
          </a:ln>
        </p:spPr>
        <p:txBody>
          <a:bodyPr rtlCol="0" anchor="ctr" wrap="square" lIns="0" rIns="0" tIns="0" bIns="0"/>
          <a:lstStyle/>
          <a:p>
            <a:pPr algn="ctr"/>
          </a:p>
        </p:txBody>
      </p:sp>
      <p:sp>
        <p:nvSpPr>
          <p:cNvPr id="57" name="TextBox 56"/>
          <p:cNvSpPr txBox="1"/>
          <p:nvPr/>
        </p:nvSpPr>
        <p:spPr>
          <a:xfrm>
            <a:off x="8732520" y="4370832"/>
            <a:ext cx="3017520" cy="5486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Closing ANDON calls</a:t>
            </a:r>
          </a:p>
        </p:txBody>
      </p:sp>
      <p:sp>
        <p:nvSpPr>
          <p:cNvPr id="58" name="TextBox 57"/>
          <p:cNvSpPr txBox="1"/>
          <p:nvPr/>
        </p:nvSpPr>
        <p:spPr>
          <a:xfrm>
            <a:off x="8458200" y="4983480"/>
            <a:ext cx="3291840" cy="274320"/>
          </a:xfrm>
          <a:prstGeom prst="rect">
            <a:avLst/>
          </a:prstGeom>
          <a:noFill/>
        </p:spPr>
        <p:txBody>
          <a:bodyPr wrap="square" lIns="0" rIns="0" tIns="0" bIns="0" anchor="t">
            <a:spAutoFit/>
          </a:bodyPr>
          <a:lstStyle/>
          <a:p>
            <a:pPr algn="l">
              <a:spcBef>
                <a:spcPts val="0"/>
              </a:spcBef>
              <a:spcAft>
                <a:spcPts val="0"/>
              </a:spcAft>
            </a:pPr>
            <a:r>
              <a:rPr sz="1200" b="1" i="0">
                <a:solidFill>
                  <a:srgbClr val="D5FB00"/>
                </a:solidFill>
                <a:latin typeface="Segoe UI"/>
              </a:rPr>
              <a:t>Level I: exam still pending.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Most of my time goes to industrialization</a:t>
            </a:r>
          </a:p>
        </p:txBody>
      </p:sp>
      <p:sp>
        <p:nvSpPr>
          <p:cNvPr id="3" name="!! Subtitle 1"/>
          <p:cNvSpPr>
            <a:spLocks noGrp="1"/>
          </p:cNvSpPr>
          <p:nvPr>
            <p:ph type="body" idx="21" sz="quarter"/>
          </p:nvPr>
        </p:nvSpPr>
        <p:spPr/>
        <p:txBody>
          <a:bodyPr/>
          <a:lstStyle/>
          <a:p>
            <a:r>
              <a:rPr sz="1300" b="0">
                <a:solidFill>
                  <a:srgbClr val="D5FB00"/>
                </a:solidFill>
                <a:latin typeface="Segoe UI"/>
              </a:rPr>
              <a:t>How my time is split</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4754880" cy="3886200"/>
          </a:xfrm>
          <a:prstGeom prst="rect">
            <a:avLst/>
          </a:prstGeom>
        </p:spPr>
      </p:pic>
      <p:sp>
        <p:nvSpPr>
          <p:cNvPr id="5" name="!! Glass A rim"/>
          <p:cNvSpPr/>
          <p:nvPr/>
        </p:nvSpPr>
        <p:spPr>
          <a:xfrm>
            <a:off x="256032" y="1600200"/>
            <a:ext cx="475488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828800"/>
            <a:ext cx="4023360" cy="822960"/>
          </a:xfrm>
          <a:prstGeom prst="rect">
            <a:avLst/>
          </a:prstGeom>
          <a:noFill/>
        </p:spPr>
        <p:txBody>
          <a:bodyPr wrap="square" lIns="0" rIns="0" tIns="0" bIns="0" anchor="t">
            <a:spAutoFit/>
          </a:bodyPr>
          <a:lstStyle/>
          <a:p>
            <a:pPr algn="l">
              <a:spcBef>
                <a:spcPts val="0"/>
              </a:spcBef>
              <a:spcAft>
                <a:spcPts val="0"/>
              </a:spcAft>
            </a:pPr>
            <a:r>
              <a:rPr sz="5400" b="1" i="0">
                <a:solidFill>
                  <a:srgbClr val="D5FB00"/>
                </a:solidFill>
                <a:latin typeface="Segoe UI"/>
              </a:rPr>
              <a:t>60%</a:t>
            </a:r>
          </a:p>
        </p:txBody>
      </p:sp>
      <p:sp>
        <p:nvSpPr>
          <p:cNvPr id="7" name="TextBox 6"/>
          <p:cNvSpPr txBox="1"/>
          <p:nvPr/>
        </p:nvSpPr>
        <p:spPr>
          <a:xfrm>
            <a:off x="621792" y="2697480"/>
            <a:ext cx="4023360" cy="54864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Industrialization project, with Engineering</a:t>
            </a:r>
          </a:p>
        </p:txBody>
      </p:sp>
      <p:sp>
        <p:nvSpPr>
          <p:cNvPr id="8" name="Rectangle 7"/>
          <p:cNvSpPr/>
          <p:nvPr/>
        </p:nvSpPr>
        <p:spPr>
          <a:xfrm>
            <a:off x="621792" y="3429000"/>
            <a:ext cx="4023360" cy="146304"/>
          </a:xfrm>
          <a:prstGeom prst="rect">
            <a:avLst/>
          </a:prstGeom>
          <a:solidFill>
            <a:srgbClr val="C6CDD1">
              <a:alpha val="30000"/>
            </a:srgbClr>
          </a:solidFill>
          <a:ln>
            <a:noFill/>
          </a:ln>
        </p:spPr>
        <p:txBody>
          <a:bodyPr rtlCol="0" anchor="ctr" wrap="square" lIns="0" rIns="0" tIns="0" bIns="0"/>
          <a:lstStyle/>
          <a:p>
            <a:pPr algn="ctr"/>
          </a:p>
        </p:txBody>
      </p:sp>
      <p:sp>
        <p:nvSpPr>
          <p:cNvPr id="9" name="Rectangle 8"/>
          <p:cNvSpPr/>
          <p:nvPr/>
        </p:nvSpPr>
        <p:spPr>
          <a:xfrm>
            <a:off x="621792" y="3429000"/>
            <a:ext cx="2414016" cy="146304"/>
          </a:xfrm>
          <a:prstGeom prst="rect">
            <a:avLst/>
          </a:prstGeom>
          <a:solidFill>
            <a:srgbClr val="D5FB00"/>
          </a:solidFill>
          <a:ln>
            <a:noFill/>
          </a:ln>
        </p:spPr>
        <p:txBody>
          <a:bodyPr rtlCol="0" anchor="ctr" wrap="square" lIns="0" rIns="0" tIns="0" bIns="0"/>
          <a:lstStyle/>
          <a:p>
            <a:pPr algn="ctr"/>
          </a:p>
        </p:txBody>
      </p:sp>
      <p:sp>
        <p:nvSpPr>
          <p:cNvPr id="10" name="TextBox 9"/>
          <p:cNvSpPr txBox="1"/>
          <p:nvPr/>
        </p:nvSpPr>
        <p:spPr>
          <a:xfrm>
            <a:off x="621792" y="3886200"/>
            <a:ext cx="4023360" cy="548640"/>
          </a:xfrm>
          <a:prstGeom prst="rect">
            <a:avLst/>
          </a:prstGeom>
          <a:noFill/>
        </p:spPr>
        <p:txBody>
          <a:bodyPr wrap="square" lIns="0" rIns="0" tIns="0" bIns="0" anchor="t">
            <a:spAutoFit/>
          </a:bodyPr>
          <a:lstStyle/>
          <a:p>
            <a:pPr algn="l">
              <a:spcBef>
                <a:spcPts val="0"/>
              </a:spcBef>
              <a:spcAft>
                <a:spcPts val="0"/>
              </a:spcAft>
            </a:pPr>
            <a:r>
              <a:rPr sz="3000" b="1" i="0">
                <a:solidFill>
                  <a:srgbClr val="FFFFFF"/>
                </a:solidFill>
                <a:latin typeface="Segoe UI"/>
              </a:rPr>
              <a:t>40%</a:t>
            </a:r>
          </a:p>
        </p:txBody>
      </p:sp>
      <p:sp>
        <p:nvSpPr>
          <p:cNvPr id="11" name="TextBox 10"/>
          <p:cNvSpPr txBox="1"/>
          <p:nvPr/>
        </p:nvSpPr>
        <p:spPr>
          <a:xfrm>
            <a:off x="621792" y="4434840"/>
            <a:ext cx="4023360" cy="82296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Support at the robotic cells: stops, adjustments and ANDON calls.</a:t>
            </a:r>
          </a:p>
        </p:txBody>
      </p:sp>
      <p:pic>
        <p:nvPicPr>
          <p:cNvPr id="12" name="!! Glass B" descr="Decorative glass panel"/>
          <p:cNvPicPr>
            <a:picLocks noChangeAspect="1"/>
          </p:cNvPicPr>
          <p:nvPr/>
        </p:nvPicPr>
        <p:blipFill>
          <a:blip r:embed="rId3">
            <a:alphaModFix amt="50000"/>
          </a:blip>
          <a:stretch>
            <a:fillRect/>
          </a:stretch>
        </p:blipFill>
        <p:spPr>
          <a:xfrm>
            <a:off x="5303520" y="1600200"/>
            <a:ext cx="6629400" cy="3886200"/>
          </a:xfrm>
          <a:prstGeom prst="rect">
            <a:avLst/>
          </a:prstGeom>
        </p:spPr>
      </p:pic>
      <p:sp>
        <p:nvSpPr>
          <p:cNvPr id="13" name="!! Glass B rim"/>
          <p:cNvSpPr/>
          <p:nvPr/>
        </p:nvSpPr>
        <p:spPr>
          <a:xfrm>
            <a:off x="5303520" y="1600200"/>
            <a:ext cx="6629400" cy="3886200"/>
          </a:xfrm>
          <a:prstGeom prst="rect">
            <a:avLst/>
          </a:prstGeom>
          <a:noFill/>
          <a:ln w="9525">
            <a:solidFill>
              <a:srgbClr val="FFFFFF">
                <a:alpha val="16000"/>
              </a:srgbClr>
            </a:solidFill>
          </a:ln>
        </p:spPr>
        <p:txBody>
          <a:bodyPr rtlCol="0" anchor="ctr" wrap="square" lIns="0" rIns="0" tIns="0" bIns="0"/>
          <a:lstStyle/>
          <a:p>
            <a:pPr algn="ctr"/>
          </a:p>
        </p:txBody>
      </p:sp>
      <p:sp>
        <p:nvSpPr>
          <p:cNvPr id="14" name="TextBox 13"/>
          <p:cNvSpPr txBox="1"/>
          <p:nvPr/>
        </p:nvSpPr>
        <p:spPr>
          <a:xfrm>
            <a:off x="5669280"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WHAT INDUSTRIALIZATION MEANS</a:t>
            </a:r>
          </a:p>
        </p:txBody>
      </p:sp>
      <p:sp>
        <p:nvSpPr>
          <p:cNvPr id="15" name="TextBox 14"/>
          <p:cNvSpPr txBox="1"/>
          <p:nvPr/>
        </p:nvSpPr>
        <p:spPr>
          <a:xfrm>
            <a:off x="5669280" y="2304288"/>
            <a:ext cx="5897880" cy="1097280"/>
          </a:xfrm>
          <a:prstGeom prst="rect">
            <a:avLst/>
          </a:prstGeom>
          <a:noFill/>
        </p:spPr>
        <p:txBody>
          <a:bodyPr wrap="square" lIns="0" rIns="0" tIns="0" bIns="0" anchor="t">
            <a:spAutoFit/>
          </a:bodyPr>
          <a:lstStyle/>
          <a:p>
            <a:pPr algn="l">
              <a:lnSpc>
                <a:spcPct val="110000"/>
              </a:lnSpc>
              <a:spcBef>
                <a:spcPts val="0"/>
              </a:spcBef>
              <a:spcAft>
                <a:spcPts val="0"/>
              </a:spcAft>
            </a:pPr>
            <a:r>
              <a:rPr sz="1500" b="0" i="0">
                <a:solidFill>
                  <a:srgbClr val="FFFFFF"/>
                </a:solidFill>
                <a:latin typeface="Segoe UI"/>
              </a:rPr>
              <a:t>Getting a new process ready to run on the floor: equipment, programs, trials and the release to production.</a:t>
            </a:r>
          </a:p>
        </p:txBody>
      </p:sp>
      <p:sp>
        <p:nvSpPr>
          <p:cNvPr id="16" name="Rectangle 15"/>
          <p:cNvSpPr/>
          <p:nvPr/>
        </p:nvSpPr>
        <p:spPr>
          <a:xfrm>
            <a:off x="5669280" y="3520440"/>
            <a:ext cx="1097280" cy="27432"/>
          </a:xfrm>
          <a:prstGeom prst="rect">
            <a:avLst/>
          </a:prstGeom>
          <a:solidFill>
            <a:srgbClr val="D5FB00"/>
          </a:solidFill>
          <a:ln>
            <a:noFill/>
          </a:ln>
        </p:spPr>
        <p:txBody>
          <a:bodyPr rtlCol="0" anchor="ctr" wrap="square" lIns="0" rIns="0" tIns="0" bIns="0"/>
          <a:lstStyle/>
          <a:p>
            <a:pPr algn="ctr"/>
          </a:p>
        </p:txBody>
      </p:sp>
      <p:sp>
        <p:nvSpPr>
          <p:cNvPr id="17" name="TextBox 16"/>
          <p:cNvSpPr txBox="1"/>
          <p:nvPr/>
        </p:nvSpPr>
        <p:spPr>
          <a:xfrm>
            <a:off x="5669280" y="37307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MY PART</a:t>
            </a:r>
          </a:p>
        </p:txBody>
      </p:sp>
      <p:sp>
        <p:nvSpPr>
          <p:cNvPr id="18" name="TextBox 17"/>
          <p:cNvSpPr txBox="1"/>
          <p:nvPr/>
        </p:nvSpPr>
        <p:spPr>
          <a:xfrm>
            <a:off x="5669280" y="4114800"/>
            <a:ext cx="5897880" cy="1188720"/>
          </a:xfrm>
          <a:prstGeom prst="rect">
            <a:avLst/>
          </a:prstGeom>
          <a:noFill/>
        </p:spPr>
        <p:txBody>
          <a:bodyPr wrap="square" lIns="0" rIns="0" tIns="0" bIns="0" anchor="t">
            <a:spAutoFit/>
          </a:bodyPr>
          <a:lstStyle/>
          <a:p>
            <a:pPr algn="l">
              <a:spcBef>
                <a:spcPts val="0"/>
              </a:spcBef>
              <a:spcAft>
                <a:spcPts val="0"/>
              </a:spcAft>
            </a:pPr>
            <a:r>
              <a:rPr sz="1300" b="0" i="1">
                <a:solidFill>
                  <a:srgbClr val="C6CDD1"/>
                </a:solidFill>
                <a:latin typeface="Segoe UI"/>
              </a:rPr>
              <a:t>[Project in one line: the product or line being industrialized.]</a:t>
            </a:r>
          </a:p>
          <a:p>
            <a:pPr>
              <a:spcBef>
                <a:spcPts val="600"/>
              </a:spcBef>
              <a:spcAft>
                <a:spcPts val="0"/>
              </a:spcAft>
            </a:pPr>
            <a:r>
              <a:rPr sz="1300" b="0" i="1">
                <a:solidFill>
                  <a:srgbClr val="C6CDD1"/>
                </a:solidFill>
                <a:latin typeface="Segoe UI"/>
              </a:rPr>
              <a:t>[What I do in it, in one or two short phrases.]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A long, uncomfortable weld, done by hand</a:t>
            </a:r>
          </a:p>
        </p:txBody>
      </p:sp>
      <p:sp>
        <p:nvSpPr>
          <p:cNvPr id="3" name="!! Subtitle 1"/>
          <p:cNvSpPr>
            <a:spLocks noGrp="1"/>
          </p:cNvSpPr>
          <p:nvPr>
            <p:ph type="body" idx="21" sz="quarter"/>
          </p:nvPr>
        </p:nvSpPr>
        <p:spPr/>
        <p:txBody>
          <a:bodyPr/>
          <a:lstStyle/>
          <a:p>
            <a:r>
              <a:rPr sz="1300" b="0">
                <a:solidFill>
                  <a:srgbClr val="D5FB00"/>
                </a:solidFill>
                <a:latin typeface="Segoe UI"/>
              </a:rPr>
              <a:t>Improvement  |  The starting point</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5806440" cy="3886200"/>
          </a:xfrm>
          <a:prstGeom prst="rect">
            <a:avLst/>
          </a:prstGeom>
        </p:spPr>
      </p:pic>
      <p:sp>
        <p:nvSpPr>
          <p:cNvPr id="5" name="!! Glass A rim"/>
          <p:cNvSpPr/>
          <p:nvPr/>
        </p:nvSpPr>
        <p:spPr>
          <a:xfrm>
            <a:off x="256032" y="1600200"/>
            <a:ext cx="580644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THE STARTING POINT</a:t>
            </a:r>
          </a:p>
        </p:txBody>
      </p:sp>
      <p:sp>
        <p:nvSpPr>
          <p:cNvPr id="7" name="TextBox 6"/>
          <p:cNvSpPr txBox="1"/>
          <p:nvPr/>
        </p:nvSpPr>
        <p:spPr>
          <a:xfrm>
            <a:off x="621792" y="2304288"/>
            <a:ext cx="5120640" cy="640080"/>
          </a:xfrm>
          <a:prstGeom prst="rect">
            <a:avLst/>
          </a:prstGeom>
          <a:noFill/>
        </p:spPr>
        <p:txBody>
          <a:bodyPr wrap="square" lIns="0" rIns="0" tIns="0" bIns="0" anchor="t">
            <a:spAutoFit/>
          </a:bodyPr>
          <a:lstStyle/>
          <a:p>
            <a:pPr algn="l">
              <a:spcBef>
                <a:spcPts val="0"/>
              </a:spcBef>
              <a:spcAft>
                <a:spcPts val="0"/>
              </a:spcAft>
            </a:pPr>
            <a:r>
              <a:rPr sz="1700" b="0" i="0">
                <a:solidFill>
                  <a:srgbClr val="FFFFFF"/>
                </a:solidFill>
                <a:latin typeface="Segoe UI"/>
              </a:rPr>
              <a:t>One process ran in a manual welding booth.</a:t>
            </a:r>
          </a:p>
        </p:txBody>
      </p:sp>
      <p:sp>
        <p:nvSpPr>
          <p:cNvPr id="8" name="Chevron 7"/>
          <p:cNvSpPr/>
          <p:nvPr/>
        </p:nvSpPr>
        <p:spPr>
          <a:xfrm>
            <a:off x="621792" y="3127248"/>
            <a:ext cx="146304" cy="146304"/>
          </a:xfrm>
          <a:prstGeom prst="chevron">
            <a:avLst/>
          </a:prstGeom>
          <a:solidFill>
            <a:srgbClr val="D5FB00"/>
          </a:solidFill>
          <a:ln>
            <a:noFill/>
          </a:ln>
        </p:spPr>
        <p:txBody>
          <a:bodyPr rtlCol="0" anchor="ctr" wrap="square" lIns="0" rIns="0" tIns="0" bIns="0"/>
          <a:lstStyle/>
          <a:p>
            <a:pPr algn="ctr"/>
          </a:p>
        </p:txBody>
      </p:sp>
      <p:sp>
        <p:nvSpPr>
          <p:cNvPr id="9" name="TextBox 8"/>
          <p:cNvSpPr txBox="1"/>
          <p:nvPr/>
        </p:nvSpPr>
        <p:spPr>
          <a:xfrm>
            <a:off x="914400" y="3063240"/>
            <a:ext cx="4846320" cy="27432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Time</a:t>
            </a:r>
          </a:p>
        </p:txBody>
      </p:sp>
      <p:sp>
        <p:nvSpPr>
          <p:cNvPr id="10" name="TextBox 9"/>
          <p:cNvSpPr txBox="1"/>
          <p:nvPr/>
        </p:nvSpPr>
        <p:spPr>
          <a:xfrm>
            <a:off x="914400" y="3355848"/>
            <a:ext cx="4846320" cy="45720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Long welds made every part slow to finish.</a:t>
            </a:r>
          </a:p>
        </p:txBody>
      </p:sp>
      <p:sp>
        <p:nvSpPr>
          <p:cNvPr id="11" name="Chevron 10"/>
          <p:cNvSpPr/>
          <p:nvPr/>
        </p:nvSpPr>
        <p:spPr>
          <a:xfrm>
            <a:off x="621792" y="3968496"/>
            <a:ext cx="146304" cy="146304"/>
          </a:xfrm>
          <a:prstGeom prst="chevron">
            <a:avLst/>
          </a:prstGeom>
          <a:solidFill>
            <a:srgbClr val="D5FB00"/>
          </a:solidFill>
          <a:ln>
            <a:noFill/>
          </a:ln>
        </p:spPr>
        <p:txBody>
          <a:bodyPr rtlCol="0" anchor="ctr" wrap="square" lIns="0" rIns="0" tIns="0" bIns="0"/>
          <a:lstStyle/>
          <a:p>
            <a:pPr algn="ctr"/>
          </a:p>
        </p:txBody>
      </p:sp>
      <p:sp>
        <p:nvSpPr>
          <p:cNvPr id="12" name="TextBox 11"/>
          <p:cNvSpPr txBox="1"/>
          <p:nvPr/>
        </p:nvSpPr>
        <p:spPr>
          <a:xfrm>
            <a:off x="914400" y="3904488"/>
            <a:ext cx="4846320" cy="274320"/>
          </a:xfrm>
          <a:prstGeom prst="rect">
            <a:avLst/>
          </a:prstGeom>
          <a:noFill/>
        </p:spPr>
        <p:txBody>
          <a:bodyPr wrap="square" lIns="0" rIns="0" tIns="0" bIns="0" anchor="t">
            <a:spAutoFit/>
          </a:bodyPr>
          <a:lstStyle/>
          <a:p>
            <a:pPr algn="l">
              <a:spcBef>
                <a:spcPts val="0"/>
              </a:spcBef>
              <a:spcAft>
                <a:spcPts val="0"/>
              </a:spcAft>
            </a:pPr>
            <a:r>
              <a:rPr sz="1400" b="1" i="0">
                <a:solidFill>
                  <a:srgbClr val="FFFFFF"/>
                </a:solidFill>
                <a:latin typeface="Segoe UI"/>
              </a:rPr>
              <a:t>The team member</a:t>
            </a:r>
          </a:p>
        </p:txBody>
      </p:sp>
      <p:sp>
        <p:nvSpPr>
          <p:cNvPr id="13" name="TextBox 12"/>
          <p:cNvSpPr txBox="1"/>
          <p:nvPr/>
        </p:nvSpPr>
        <p:spPr>
          <a:xfrm>
            <a:off x="914400" y="4197096"/>
            <a:ext cx="4846320" cy="457200"/>
          </a:xfrm>
          <a:prstGeom prst="rect">
            <a:avLst/>
          </a:prstGeom>
          <a:noFill/>
        </p:spPr>
        <p:txBody>
          <a:bodyPr wrap="square" lIns="0" rIns="0" tIns="0" bIns="0" anchor="t">
            <a:spAutoFit/>
          </a:bodyPr>
          <a:lstStyle/>
          <a:p>
            <a:pPr algn="l">
              <a:spcBef>
                <a:spcPts val="0"/>
              </a:spcBef>
              <a:spcAft>
                <a:spcPts val="0"/>
              </a:spcAft>
            </a:pPr>
            <a:r>
              <a:rPr sz="1300" b="0" i="0">
                <a:solidFill>
                  <a:srgbClr val="C6CDD1"/>
                </a:solidFill>
                <a:latin typeface="Segoe UI"/>
              </a:rPr>
              <a:t>Uncomfortable positions, held for a long time, part after part.</a:t>
            </a:r>
          </a:p>
        </p:txBody>
      </p:sp>
      <p:sp>
        <p:nvSpPr>
          <p:cNvPr id="14" name="TextBox 13"/>
          <p:cNvSpPr txBox="1"/>
          <p:nvPr/>
        </p:nvSpPr>
        <p:spPr>
          <a:xfrm>
            <a:off x="621792" y="4937760"/>
            <a:ext cx="5120640" cy="320040"/>
          </a:xfrm>
          <a:prstGeom prst="rect">
            <a:avLst/>
          </a:prstGeom>
          <a:noFill/>
        </p:spPr>
        <p:txBody>
          <a:bodyPr wrap="square" lIns="0" rIns="0" tIns="0" bIns="0" anchor="t">
            <a:spAutoFit/>
          </a:bodyPr>
          <a:lstStyle/>
          <a:p>
            <a:pPr algn="l">
              <a:spcBef>
                <a:spcPts val="0"/>
              </a:spcBef>
              <a:spcAft>
                <a:spcPts val="0"/>
              </a:spcAft>
            </a:pPr>
            <a:r>
              <a:rPr sz="1500" b="1" i="0">
                <a:solidFill>
                  <a:srgbClr val="D5FB00"/>
                </a:solidFill>
                <a:latin typeface="Segoe UI"/>
              </a:rPr>
              <a:t>The idea: let a robot do it.</a:t>
            </a:r>
          </a:p>
        </p:txBody>
      </p:sp>
      <p:pic>
        <p:nvPicPr>
          <p:cNvPr id="15" name="!! Glass B" descr="Decorative glass panel"/>
          <p:cNvPicPr>
            <a:picLocks noChangeAspect="1"/>
          </p:cNvPicPr>
          <p:nvPr/>
        </p:nvPicPr>
        <p:blipFill>
          <a:blip r:embed="rId3">
            <a:alphaModFix amt="50000"/>
          </a:blip>
          <a:stretch>
            <a:fillRect/>
          </a:stretch>
        </p:blipFill>
        <p:spPr>
          <a:xfrm>
            <a:off x="6382512" y="1600200"/>
            <a:ext cx="5550408" cy="3886200"/>
          </a:xfrm>
          <a:prstGeom prst="rect">
            <a:avLst/>
          </a:prstGeom>
        </p:spPr>
      </p:pic>
      <p:sp>
        <p:nvSpPr>
          <p:cNvPr id="16" name="!! Glass B rim"/>
          <p:cNvSpPr/>
          <p:nvPr/>
        </p:nvSpPr>
        <p:spPr>
          <a:xfrm>
            <a:off x="6382512" y="1600200"/>
            <a:ext cx="5550408" cy="3886200"/>
          </a:xfrm>
          <a:prstGeom prst="rect">
            <a:avLst/>
          </a:prstGeom>
          <a:noFill/>
          <a:ln w="9525">
            <a:solidFill>
              <a:srgbClr val="FFFFFF">
                <a:alpha val="16000"/>
              </a:srgbClr>
            </a:solidFill>
          </a:ln>
        </p:spPr>
        <p:txBody>
          <a:bodyPr rtlCol="0" anchor="ctr" wrap="square" lIns="0" rIns="0" tIns="0" bIns="0"/>
          <a:lstStyle/>
          <a:p>
            <a:pPr algn="ctr"/>
          </a:p>
        </p:txBody>
      </p:sp>
      <p:sp>
        <p:nvSpPr>
          <p:cNvPr id="17" name="Rectangle 16"/>
          <p:cNvSpPr/>
          <p:nvPr/>
        </p:nvSpPr>
        <p:spPr>
          <a:xfrm>
            <a:off x="6547104" y="1764792"/>
            <a:ext cx="5221224" cy="3557016"/>
          </a:xfrm>
          <a:prstGeom prst="rect">
            <a:avLst/>
          </a:prstGeom>
          <a:noFill/>
          <a:ln w="9525">
            <a:solidFill>
              <a:srgbClr val="C6CDD1">
                <a:alpha val="35000"/>
              </a:srgbClr>
            </a:solidFill>
          </a:ln>
        </p:spPr>
        <p:txBody>
          <a:bodyPr rtlCol="0" anchor="ctr" wrap="square" lIns="0" rIns="0" tIns="0" bIns="0"/>
          <a:lstStyle/>
          <a:p>
            <a:pPr algn="ctr"/>
          </a:p>
        </p:txBody>
      </p:sp>
      <p:sp>
        <p:nvSpPr>
          <p:cNvPr id="18" name="TextBox 17"/>
          <p:cNvSpPr txBox="1"/>
          <p:nvPr/>
        </p:nvSpPr>
        <p:spPr>
          <a:xfrm>
            <a:off x="6382512" y="3268980"/>
            <a:ext cx="5550408" cy="548640"/>
          </a:xfrm>
          <a:prstGeom prst="rect">
            <a:avLst/>
          </a:prstGeom>
          <a:noFill/>
        </p:spPr>
        <p:txBody>
          <a:bodyPr wrap="square" lIns="0" rIns="0" tIns="0" bIns="0" anchor="t">
            <a:spAutoFit/>
          </a:bodyPr>
          <a:lstStyle/>
          <a:p>
            <a:pPr algn="ctr">
              <a:spcBef>
                <a:spcPts val="0"/>
              </a:spcBef>
              <a:spcAft>
                <a:spcPts val="0"/>
              </a:spcAft>
            </a:pPr>
            <a:r>
              <a:rPr sz="1100" b="1" i="0">
                <a:solidFill>
                  <a:srgbClr val="D5FB00"/>
                </a:solidFill>
                <a:latin typeface="Segoe UI"/>
              </a:rPr>
              <a:t>PHOTO</a:t>
            </a:r>
          </a:p>
          <a:p>
            <a:pPr algn="ctr">
              <a:spcBef>
                <a:spcPts val="200"/>
              </a:spcBef>
              <a:spcAft>
                <a:spcPts val="0"/>
              </a:spcAft>
            </a:pPr>
            <a:r>
              <a:rPr sz="1200" b="0" i="0">
                <a:solidFill>
                  <a:srgbClr val="C6CDD1"/>
                </a:solidFill>
                <a:latin typeface="Segoe UI"/>
              </a:rPr>
              <a:t>Manual welding booth</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From the manual booth to the 4M robotic cell</a:t>
            </a:r>
          </a:p>
        </p:txBody>
      </p:sp>
      <p:sp>
        <p:nvSpPr>
          <p:cNvPr id="3" name="!! Subtitle 1"/>
          <p:cNvSpPr>
            <a:spLocks noGrp="1"/>
          </p:cNvSpPr>
          <p:nvPr>
            <p:ph type="body" idx="21" sz="quarter"/>
          </p:nvPr>
        </p:nvSpPr>
        <p:spPr/>
        <p:txBody>
          <a:bodyPr/>
          <a:lstStyle/>
          <a:p>
            <a:r>
              <a:rPr sz="1300" b="0">
                <a:solidFill>
                  <a:srgbClr val="D5FB00"/>
                </a:solidFill>
                <a:latin typeface="Segoe UI"/>
              </a:rPr>
              <a:t>Improvement  |  What we did</a:t>
            </a:r>
          </a:p>
        </p:txBody>
      </p:sp>
      <p:pic>
        <p:nvPicPr>
          <p:cNvPr id="4" name="!! Card 1" descr="Decorative glass panel"/>
          <p:cNvPicPr>
            <a:picLocks noChangeAspect="1"/>
          </p:cNvPicPr>
          <p:nvPr/>
        </p:nvPicPr>
        <p:blipFill>
          <a:blip r:embed="rId2">
            <a:alphaModFix amt="50000"/>
          </a:blip>
          <a:stretch>
            <a:fillRect/>
          </a:stretch>
        </p:blipFill>
        <p:spPr>
          <a:xfrm>
            <a:off x="256032" y="1691640"/>
            <a:ext cx="2715768" cy="2834640"/>
          </a:xfrm>
          <a:prstGeom prst="rect">
            <a:avLst/>
          </a:prstGeom>
        </p:spPr>
      </p:pic>
      <p:sp>
        <p:nvSpPr>
          <p:cNvPr id="5" name="!! Card 1 rim"/>
          <p:cNvSpPr/>
          <p:nvPr/>
        </p:nvSpPr>
        <p:spPr>
          <a:xfrm>
            <a:off x="256032" y="1691640"/>
            <a:ext cx="2715768" cy="283464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566928" y="1965960"/>
            <a:ext cx="2167128"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01</a:t>
            </a:r>
          </a:p>
        </p:txBody>
      </p:sp>
      <p:sp>
        <p:nvSpPr>
          <p:cNvPr id="7" name="TextBox 6"/>
          <p:cNvSpPr txBox="1"/>
          <p:nvPr/>
        </p:nvSpPr>
        <p:spPr>
          <a:xfrm>
            <a:off x="566928" y="260604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Study the part</a:t>
            </a:r>
          </a:p>
        </p:txBody>
      </p:sp>
      <p:sp>
        <p:nvSpPr>
          <p:cNvPr id="8" name="TextBox 7"/>
          <p:cNvSpPr txBox="1"/>
          <p:nvPr/>
        </p:nvSpPr>
        <p:spPr>
          <a:xfrm>
            <a:off x="566928" y="3355848"/>
            <a:ext cx="2148840" cy="109728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Which welds, how long they take, and what made them hard.</a:t>
            </a:r>
          </a:p>
        </p:txBody>
      </p:sp>
      <p:sp>
        <p:nvSpPr>
          <p:cNvPr id="9" name="Chevron 8"/>
          <p:cNvSpPr/>
          <p:nvPr/>
        </p:nvSpPr>
        <p:spPr>
          <a:xfrm>
            <a:off x="3035808" y="3017520"/>
            <a:ext cx="146304" cy="146304"/>
          </a:xfrm>
          <a:prstGeom prst="chevron">
            <a:avLst/>
          </a:prstGeom>
          <a:solidFill>
            <a:srgbClr val="D5FB00"/>
          </a:solidFill>
          <a:ln>
            <a:noFill/>
          </a:ln>
        </p:spPr>
        <p:txBody>
          <a:bodyPr rtlCol="0" anchor="ctr" wrap="square" lIns="0" rIns="0" tIns="0" bIns="0"/>
          <a:lstStyle/>
          <a:p>
            <a:pPr algn="ctr"/>
          </a:p>
        </p:txBody>
      </p:sp>
      <p:pic>
        <p:nvPicPr>
          <p:cNvPr id="10" name="!! Card 2" descr="Decorative glass panel"/>
          <p:cNvPicPr>
            <a:picLocks noChangeAspect="1"/>
          </p:cNvPicPr>
          <p:nvPr/>
        </p:nvPicPr>
        <p:blipFill>
          <a:blip r:embed="rId3">
            <a:alphaModFix amt="50000"/>
          </a:blip>
          <a:stretch>
            <a:fillRect/>
          </a:stretch>
        </p:blipFill>
        <p:spPr>
          <a:xfrm>
            <a:off x="3246120" y="1691640"/>
            <a:ext cx="2715768" cy="2834640"/>
          </a:xfrm>
          <a:prstGeom prst="rect">
            <a:avLst/>
          </a:prstGeom>
        </p:spPr>
      </p:pic>
      <p:sp>
        <p:nvSpPr>
          <p:cNvPr id="11" name="!! Card 2 rim"/>
          <p:cNvSpPr/>
          <p:nvPr/>
        </p:nvSpPr>
        <p:spPr>
          <a:xfrm>
            <a:off x="3246120" y="1691640"/>
            <a:ext cx="2715768" cy="2834640"/>
          </a:xfrm>
          <a:prstGeom prst="rect">
            <a:avLst/>
          </a:prstGeom>
          <a:noFill/>
          <a:ln w="9525">
            <a:solidFill>
              <a:srgbClr val="FFFFFF">
                <a:alpha val="16000"/>
              </a:srgbClr>
            </a:solidFill>
          </a:ln>
        </p:spPr>
        <p:txBody>
          <a:bodyPr rtlCol="0" anchor="ctr" wrap="square" lIns="0" rIns="0" tIns="0" bIns="0"/>
          <a:lstStyle/>
          <a:p>
            <a:pPr algn="ctr"/>
          </a:p>
        </p:txBody>
      </p:sp>
      <p:sp>
        <p:nvSpPr>
          <p:cNvPr id="12" name="TextBox 11"/>
          <p:cNvSpPr txBox="1"/>
          <p:nvPr/>
        </p:nvSpPr>
        <p:spPr>
          <a:xfrm>
            <a:off x="3557015" y="1965960"/>
            <a:ext cx="2167128"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02</a:t>
            </a:r>
          </a:p>
        </p:txBody>
      </p:sp>
      <p:sp>
        <p:nvSpPr>
          <p:cNvPr id="13" name="TextBox 12"/>
          <p:cNvSpPr txBox="1"/>
          <p:nvPr/>
        </p:nvSpPr>
        <p:spPr>
          <a:xfrm>
            <a:off x="3557015" y="260604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Move it to 4M</a:t>
            </a:r>
          </a:p>
        </p:txBody>
      </p:sp>
      <p:sp>
        <p:nvSpPr>
          <p:cNvPr id="14" name="TextBox 13"/>
          <p:cNvSpPr txBox="1"/>
          <p:nvPr/>
        </p:nvSpPr>
        <p:spPr>
          <a:xfrm>
            <a:off x="3557015" y="3355848"/>
            <a:ext cx="2148840" cy="109728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Bring the part into the automatic cell.</a:t>
            </a:r>
          </a:p>
        </p:txBody>
      </p:sp>
      <p:sp>
        <p:nvSpPr>
          <p:cNvPr id="15" name="Chevron 14"/>
          <p:cNvSpPr/>
          <p:nvPr/>
        </p:nvSpPr>
        <p:spPr>
          <a:xfrm>
            <a:off x="6025896" y="3017520"/>
            <a:ext cx="146304" cy="146304"/>
          </a:xfrm>
          <a:prstGeom prst="chevron">
            <a:avLst/>
          </a:prstGeom>
          <a:solidFill>
            <a:srgbClr val="D5FB00"/>
          </a:solidFill>
          <a:ln>
            <a:noFill/>
          </a:ln>
        </p:spPr>
        <p:txBody>
          <a:bodyPr rtlCol="0" anchor="ctr" wrap="square" lIns="0" rIns="0" tIns="0" bIns="0"/>
          <a:lstStyle/>
          <a:p>
            <a:pPr algn="ctr"/>
          </a:p>
        </p:txBody>
      </p:sp>
      <p:pic>
        <p:nvPicPr>
          <p:cNvPr id="16" name="!! Card 3" descr="Decorative glass panel"/>
          <p:cNvPicPr>
            <a:picLocks noChangeAspect="1"/>
          </p:cNvPicPr>
          <p:nvPr/>
        </p:nvPicPr>
        <p:blipFill>
          <a:blip r:embed="rId4">
            <a:alphaModFix amt="50000"/>
          </a:blip>
          <a:stretch>
            <a:fillRect/>
          </a:stretch>
        </p:blipFill>
        <p:spPr>
          <a:xfrm>
            <a:off x="6236208" y="1691640"/>
            <a:ext cx="2715768" cy="2834640"/>
          </a:xfrm>
          <a:prstGeom prst="rect">
            <a:avLst/>
          </a:prstGeom>
        </p:spPr>
      </p:pic>
      <p:sp>
        <p:nvSpPr>
          <p:cNvPr id="17" name="!! Card 3 rim"/>
          <p:cNvSpPr/>
          <p:nvPr/>
        </p:nvSpPr>
        <p:spPr>
          <a:xfrm>
            <a:off x="6236208" y="1691640"/>
            <a:ext cx="2715768" cy="2834640"/>
          </a:xfrm>
          <a:prstGeom prst="rect">
            <a:avLst/>
          </a:prstGeom>
          <a:noFill/>
          <a:ln w="9525">
            <a:solidFill>
              <a:srgbClr val="FFFFFF">
                <a:alpha val="16000"/>
              </a:srgbClr>
            </a:solidFill>
          </a:ln>
        </p:spPr>
        <p:txBody>
          <a:bodyPr rtlCol="0" anchor="ctr" wrap="square" lIns="0" rIns="0" tIns="0" bIns="0"/>
          <a:lstStyle/>
          <a:p>
            <a:pPr algn="ctr"/>
          </a:p>
        </p:txBody>
      </p:sp>
      <p:sp>
        <p:nvSpPr>
          <p:cNvPr id="18" name="TextBox 17"/>
          <p:cNvSpPr txBox="1"/>
          <p:nvPr/>
        </p:nvSpPr>
        <p:spPr>
          <a:xfrm>
            <a:off x="6547104" y="1965960"/>
            <a:ext cx="2167128"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03</a:t>
            </a:r>
          </a:p>
        </p:txBody>
      </p:sp>
      <p:sp>
        <p:nvSpPr>
          <p:cNvPr id="19" name="TextBox 18"/>
          <p:cNvSpPr txBox="1"/>
          <p:nvPr/>
        </p:nvSpPr>
        <p:spPr>
          <a:xfrm>
            <a:off x="6547104" y="260604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Program and adjust</a:t>
            </a:r>
          </a:p>
        </p:txBody>
      </p:sp>
      <p:sp>
        <p:nvSpPr>
          <p:cNvPr id="20" name="TextBox 19"/>
          <p:cNvSpPr txBox="1"/>
          <p:nvPr/>
        </p:nvSpPr>
        <p:spPr>
          <a:xfrm>
            <a:off x="6547104" y="3355848"/>
            <a:ext cx="2148840" cy="109728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Robot path and welding settings, until the weld is right.</a:t>
            </a:r>
          </a:p>
        </p:txBody>
      </p:sp>
      <p:sp>
        <p:nvSpPr>
          <p:cNvPr id="21" name="Chevron 20"/>
          <p:cNvSpPr/>
          <p:nvPr/>
        </p:nvSpPr>
        <p:spPr>
          <a:xfrm>
            <a:off x="9015984" y="3017520"/>
            <a:ext cx="146304" cy="146304"/>
          </a:xfrm>
          <a:prstGeom prst="chevron">
            <a:avLst/>
          </a:prstGeom>
          <a:solidFill>
            <a:srgbClr val="D5FB00"/>
          </a:solidFill>
          <a:ln>
            <a:noFill/>
          </a:ln>
        </p:spPr>
        <p:txBody>
          <a:bodyPr rtlCol="0" anchor="ctr" wrap="square" lIns="0" rIns="0" tIns="0" bIns="0"/>
          <a:lstStyle/>
          <a:p>
            <a:pPr algn="ctr"/>
          </a:p>
        </p:txBody>
      </p:sp>
      <p:pic>
        <p:nvPicPr>
          <p:cNvPr id="22" name="!! Card 4" descr="Decorative glass panel"/>
          <p:cNvPicPr>
            <a:picLocks noChangeAspect="1"/>
          </p:cNvPicPr>
          <p:nvPr/>
        </p:nvPicPr>
        <p:blipFill>
          <a:blip r:embed="rId5">
            <a:alphaModFix amt="50000"/>
          </a:blip>
          <a:stretch>
            <a:fillRect/>
          </a:stretch>
        </p:blipFill>
        <p:spPr>
          <a:xfrm>
            <a:off x="9226296" y="1691640"/>
            <a:ext cx="2715768" cy="2834640"/>
          </a:xfrm>
          <a:prstGeom prst="rect">
            <a:avLst/>
          </a:prstGeom>
        </p:spPr>
      </p:pic>
      <p:sp>
        <p:nvSpPr>
          <p:cNvPr id="23" name="!! Card 4 rim"/>
          <p:cNvSpPr/>
          <p:nvPr/>
        </p:nvSpPr>
        <p:spPr>
          <a:xfrm>
            <a:off x="9226296" y="1691640"/>
            <a:ext cx="2715768" cy="2834640"/>
          </a:xfrm>
          <a:prstGeom prst="rect">
            <a:avLst/>
          </a:prstGeom>
          <a:noFill/>
          <a:ln w="9525">
            <a:solidFill>
              <a:srgbClr val="FFFFFF">
                <a:alpha val="16000"/>
              </a:srgbClr>
            </a:solidFill>
          </a:ln>
        </p:spPr>
        <p:txBody>
          <a:bodyPr rtlCol="0" anchor="ctr" wrap="square" lIns="0" rIns="0" tIns="0" bIns="0"/>
          <a:lstStyle/>
          <a:p>
            <a:pPr algn="ctr"/>
          </a:p>
        </p:txBody>
      </p:sp>
      <p:sp>
        <p:nvSpPr>
          <p:cNvPr id="24" name="TextBox 23"/>
          <p:cNvSpPr txBox="1"/>
          <p:nvPr/>
        </p:nvSpPr>
        <p:spPr>
          <a:xfrm>
            <a:off x="9537192" y="1965960"/>
            <a:ext cx="2167128"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04</a:t>
            </a:r>
          </a:p>
        </p:txBody>
      </p:sp>
      <p:sp>
        <p:nvSpPr>
          <p:cNvPr id="25" name="TextBox 24"/>
          <p:cNvSpPr txBox="1"/>
          <p:nvPr/>
        </p:nvSpPr>
        <p:spPr>
          <a:xfrm>
            <a:off x="9537192" y="2606040"/>
            <a:ext cx="2167128" cy="64008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Validate and release</a:t>
            </a:r>
          </a:p>
        </p:txBody>
      </p:sp>
      <p:sp>
        <p:nvSpPr>
          <p:cNvPr id="26" name="TextBox 25"/>
          <p:cNvSpPr txBox="1"/>
          <p:nvPr/>
        </p:nvSpPr>
        <p:spPr>
          <a:xfrm>
            <a:off x="9537192" y="3355848"/>
            <a:ext cx="2148840" cy="109728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Check weld quality, then hand it over to production.</a:t>
            </a:r>
          </a:p>
        </p:txBody>
      </p:sp>
      <p:pic>
        <p:nvPicPr>
          <p:cNvPr id="27" name="!! Strip" descr="Decorative glass panel"/>
          <p:cNvPicPr>
            <a:picLocks noChangeAspect="1"/>
          </p:cNvPicPr>
          <p:nvPr/>
        </p:nvPicPr>
        <p:blipFill>
          <a:blip r:embed="rId6">
            <a:alphaModFix amt="50000"/>
          </a:blip>
          <a:stretch>
            <a:fillRect/>
          </a:stretch>
        </p:blipFill>
        <p:spPr>
          <a:xfrm>
            <a:off x="256032" y="4846320"/>
            <a:ext cx="11676888" cy="603504"/>
          </a:xfrm>
          <a:prstGeom prst="rect">
            <a:avLst/>
          </a:prstGeom>
        </p:spPr>
      </p:pic>
      <p:sp>
        <p:nvSpPr>
          <p:cNvPr id="28" name="!! Strip rim"/>
          <p:cNvSpPr/>
          <p:nvPr/>
        </p:nvSpPr>
        <p:spPr>
          <a:xfrm>
            <a:off x="256032" y="4846320"/>
            <a:ext cx="11676888" cy="603504"/>
          </a:xfrm>
          <a:prstGeom prst="rect">
            <a:avLst/>
          </a:prstGeom>
          <a:noFill/>
          <a:ln w="9525">
            <a:solidFill>
              <a:srgbClr val="FFFFFF">
                <a:alpha val="16000"/>
              </a:srgbClr>
            </a:solidFill>
          </a:ln>
        </p:spPr>
        <p:txBody>
          <a:bodyPr rtlCol="0" anchor="ctr" wrap="square" lIns="0" rIns="0" tIns="0" bIns="0"/>
          <a:lstStyle/>
          <a:p>
            <a:pPr algn="ctr"/>
          </a:p>
        </p:txBody>
      </p:sp>
      <p:sp>
        <p:nvSpPr>
          <p:cNvPr id="29" name="TextBox 28"/>
          <p:cNvSpPr txBox="1"/>
          <p:nvPr/>
        </p:nvSpPr>
        <p:spPr>
          <a:xfrm>
            <a:off x="566928" y="5047488"/>
            <a:ext cx="2011680" cy="228600"/>
          </a:xfrm>
          <a:prstGeom prst="rect">
            <a:avLst/>
          </a:prstGeom>
          <a:noFill/>
        </p:spPr>
        <p:txBody>
          <a:bodyPr wrap="square" lIns="0" rIns="0" tIns="0" bIns="0" anchor="t">
            <a:spAutoFit/>
          </a:bodyPr>
          <a:lstStyle/>
          <a:p>
            <a:pPr algn="l">
              <a:spcBef>
                <a:spcPts val="0"/>
              </a:spcBef>
              <a:spcAft>
                <a:spcPts val="0"/>
              </a:spcAft>
            </a:pPr>
            <a:r>
              <a:rPr sz="1100" b="1" i="0">
                <a:solidFill>
                  <a:srgbClr val="D5FB00"/>
                </a:solidFill>
                <a:latin typeface="Segoe UI"/>
              </a:rPr>
              <a:t>TEAMWORK</a:t>
            </a:r>
          </a:p>
        </p:txBody>
      </p:sp>
      <p:sp>
        <p:nvSpPr>
          <p:cNvPr id="30" name="TextBox 29"/>
          <p:cNvSpPr txBox="1"/>
          <p:nvPr/>
        </p:nvSpPr>
        <p:spPr>
          <a:xfrm>
            <a:off x="2514600" y="5029200"/>
            <a:ext cx="9144000" cy="274320"/>
          </a:xfrm>
          <a:prstGeom prst="rect">
            <a:avLst/>
          </a:prstGeom>
          <a:noFill/>
        </p:spPr>
        <p:txBody>
          <a:bodyPr wrap="square" lIns="0" rIns="0" tIns="0" bIns="0" anchor="t">
            <a:spAutoFit/>
          </a:bodyPr>
          <a:lstStyle/>
          <a:p>
            <a:pPr algn="l">
              <a:spcBef>
                <a:spcPts val="0"/>
              </a:spcBef>
              <a:spcAft>
                <a:spcPts val="0"/>
              </a:spcAft>
            </a:pPr>
            <a:r>
              <a:rPr sz="1200" b="0" i="0">
                <a:solidFill>
                  <a:srgbClr val="FFFFFF"/>
                </a:solidFill>
                <a:latin typeface="Segoe UI"/>
              </a:rPr>
              <a:t>Designed and implemented together with my supervisor, from the idea to the release.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Same part, less time, less strain</a:t>
            </a:r>
          </a:p>
        </p:txBody>
      </p:sp>
      <p:sp>
        <p:nvSpPr>
          <p:cNvPr id="3" name="!! Subtitle 1"/>
          <p:cNvSpPr>
            <a:spLocks noGrp="1"/>
          </p:cNvSpPr>
          <p:nvPr>
            <p:ph type="body" idx="21" sz="quarter"/>
          </p:nvPr>
        </p:nvSpPr>
        <p:spPr/>
        <p:txBody>
          <a:bodyPr/>
          <a:lstStyle/>
          <a:p>
            <a:r>
              <a:rPr sz="1300" b="0">
                <a:solidFill>
                  <a:srgbClr val="D5FB00"/>
                </a:solidFill>
                <a:latin typeface="Segoe UI"/>
              </a:rPr>
              <a:t>Improvement  |  Results</a:t>
            </a:r>
          </a:p>
        </p:txBody>
      </p:sp>
      <p:pic>
        <p:nvPicPr>
          <p:cNvPr id="4" name="!! Glass A" descr="Decorative glass panel"/>
          <p:cNvPicPr>
            <a:picLocks noChangeAspect="1"/>
          </p:cNvPicPr>
          <p:nvPr/>
        </p:nvPicPr>
        <p:blipFill>
          <a:blip r:embed="rId2">
            <a:alphaModFix amt="50000"/>
          </a:blip>
          <a:stretch>
            <a:fillRect/>
          </a:stretch>
        </p:blipFill>
        <p:spPr>
          <a:xfrm>
            <a:off x="256032" y="1645920"/>
            <a:ext cx="5623560" cy="2514600"/>
          </a:xfrm>
          <a:prstGeom prst="rect">
            <a:avLst/>
          </a:prstGeom>
        </p:spPr>
      </p:pic>
      <p:sp>
        <p:nvSpPr>
          <p:cNvPr id="5" name="!! Glass A rim"/>
          <p:cNvSpPr/>
          <p:nvPr/>
        </p:nvSpPr>
        <p:spPr>
          <a:xfrm>
            <a:off x="256032" y="1645920"/>
            <a:ext cx="5623560" cy="25146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40080" y="2011680"/>
            <a:ext cx="4846320" cy="274320"/>
          </a:xfrm>
          <a:prstGeom prst="rect">
            <a:avLst/>
          </a:prstGeom>
          <a:noFill/>
        </p:spPr>
        <p:txBody>
          <a:bodyPr wrap="square" lIns="0" rIns="0" tIns="0" bIns="0" anchor="t">
            <a:spAutoFit/>
          </a:bodyPr>
          <a:lstStyle/>
          <a:p>
            <a:pPr algn="l">
              <a:spcBef>
                <a:spcPts val="0"/>
              </a:spcBef>
              <a:spcAft>
                <a:spcPts val="0"/>
              </a:spcAft>
            </a:pPr>
            <a:r>
              <a:rPr sz="1100" b="1" i="0">
                <a:solidFill>
                  <a:srgbClr val="C6CDD1"/>
                </a:solidFill>
                <a:latin typeface="Segoe UI"/>
              </a:rPr>
              <a:t>BEFORE  |  MANUAL BOOTH</a:t>
            </a:r>
          </a:p>
        </p:txBody>
      </p:sp>
      <p:sp>
        <p:nvSpPr>
          <p:cNvPr id="7" name="TextBox 6"/>
          <p:cNvSpPr txBox="1"/>
          <p:nvPr/>
        </p:nvSpPr>
        <p:spPr>
          <a:xfrm>
            <a:off x="640080" y="2487168"/>
            <a:ext cx="4846320" cy="731520"/>
          </a:xfrm>
          <a:prstGeom prst="rect">
            <a:avLst/>
          </a:prstGeom>
          <a:noFill/>
        </p:spPr>
        <p:txBody>
          <a:bodyPr wrap="square" lIns="0" rIns="0" tIns="0" bIns="0" anchor="t">
            <a:spAutoFit/>
          </a:bodyPr>
          <a:lstStyle/>
          <a:p>
            <a:pPr algn="l">
              <a:spcBef>
                <a:spcPts val="0"/>
              </a:spcBef>
              <a:spcAft>
                <a:spcPts val="0"/>
              </a:spcAft>
            </a:pPr>
            <a:r>
              <a:rPr sz="3600" b="1" i="0">
                <a:solidFill>
                  <a:srgbClr val="FFFFFF"/>
                </a:solidFill>
                <a:latin typeface="Segoe UI"/>
              </a:rPr>
              <a:t>XX min</a:t>
            </a:r>
          </a:p>
        </p:txBody>
      </p:sp>
      <p:sp>
        <p:nvSpPr>
          <p:cNvPr id="8" name="TextBox 7"/>
          <p:cNvSpPr txBox="1"/>
          <p:nvPr/>
        </p:nvSpPr>
        <p:spPr>
          <a:xfrm>
            <a:off x="640080" y="3310128"/>
            <a:ext cx="4846320" cy="27432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per part, welded by hand</a:t>
            </a:r>
          </a:p>
        </p:txBody>
      </p:sp>
      <p:sp>
        <p:nvSpPr>
          <p:cNvPr id="9" name="!! Glass B"/>
          <p:cNvSpPr/>
          <p:nvPr/>
        </p:nvSpPr>
        <p:spPr>
          <a:xfrm>
            <a:off x="6309360" y="1645920"/>
            <a:ext cx="5623560" cy="2514600"/>
          </a:xfrm>
          <a:prstGeom prst="roundRect">
            <a:avLst>
              <a:gd name="adj" fmla="val 6000"/>
            </a:avLst>
          </a:prstGeom>
          <a:solidFill>
            <a:srgbClr val="D5FB00">
              <a:alpha val="66000"/>
            </a:srgbClr>
          </a:solidFill>
          <a:ln>
            <a:noFill/>
          </a:ln>
        </p:spPr>
        <p:txBody>
          <a:bodyPr rtlCol="0" anchor="ctr" wrap="square" lIns="0" rIns="0" tIns="0" bIns="0"/>
          <a:lstStyle/>
          <a:p>
            <a:pPr algn="ctr"/>
          </a:p>
        </p:txBody>
      </p:sp>
      <p:sp>
        <p:nvSpPr>
          <p:cNvPr id="10" name="TextBox 9"/>
          <p:cNvSpPr txBox="1"/>
          <p:nvPr/>
        </p:nvSpPr>
        <p:spPr>
          <a:xfrm>
            <a:off x="6693408" y="2011680"/>
            <a:ext cx="4846320" cy="274320"/>
          </a:xfrm>
          <a:prstGeom prst="rect">
            <a:avLst/>
          </a:prstGeom>
          <a:noFill/>
        </p:spPr>
        <p:txBody>
          <a:bodyPr wrap="square" lIns="0" rIns="0" tIns="0" bIns="0" anchor="t">
            <a:spAutoFit/>
          </a:bodyPr>
          <a:lstStyle/>
          <a:p>
            <a:pPr algn="l">
              <a:spcBef>
                <a:spcPts val="0"/>
              </a:spcBef>
              <a:spcAft>
                <a:spcPts val="0"/>
              </a:spcAft>
            </a:pPr>
            <a:r>
              <a:rPr sz="1100" b="1" i="0">
                <a:solidFill>
                  <a:srgbClr val="051C2C"/>
                </a:solidFill>
                <a:latin typeface="Segoe UI"/>
              </a:rPr>
              <a:t>AFTER  |  4M ROBOTIC CELL</a:t>
            </a:r>
          </a:p>
        </p:txBody>
      </p:sp>
      <p:sp>
        <p:nvSpPr>
          <p:cNvPr id="11" name="TextBox 10"/>
          <p:cNvSpPr txBox="1"/>
          <p:nvPr/>
        </p:nvSpPr>
        <p:spPr>
          <a:xfrm>
            <a:off x="6693408" y="2487168"/>
            <a:ext cx="4846320" cy="731520"/>
          </a:xfrm>
          <a:prstGeom prst="rect">
            <a:avLst/>
          </a:prstGeom>
          <a:noFill/>
        </p:spPr>
        <p:txBody>
          <a:bodyPr wrap="square" lIns="0" rIns="0" tIns="0" bIns="0" anchor="t">
            <a:spAutoFit/>
          </a:bodyPr>
          <a:lstStyle/>
          <a:p>
            <a:pPr algn="l">
              <a:spcBef>
                <a:spcPts val="0"/>
              </a:spcBef>
              <a:spcAft>
                <a:spcPts val="0"/>
              </a:spcAft>
            </a:pPr>
            <a:r>
              <a:rPr sz="3600" b="1" i="0">
                <a:solidFill>
                  <a:srgbClr val="051C2C"/>
                </a:solidFill>
                <a:latin typeface="Segoe UI"/>
              </a:rPr>
              <a:t>XX min</a:t>
            </a:r>
          </a:p>
        </p:txBody>
      </p:sp>
      <p:sp>
        <p:nvSpPr>
          <p:cNvPr id="12" name="TextBox 11"/>
          <p:cNvSpPr txBox="1"/>
          <p:nvPr/>
        </p:nvSpPr>
        <p:spPr>
          <a:xfrm>
            <a:off x="6693408" y="3310128"/>
            <a:ext cx="4846320" cy="274320"/>
          </a:xfrm>
          <a:prstGeom prst="rect">
            <a:avLst/>
          </a:prstGeom>
          <a:noFill/>
        </p:spPr>
        <p:txBody>
          <a:bodyPr wrap="square" lIns="0" rIns="0" tIns="0" bIns="0" anchor="t">
            <a:spAutoFit/>
          </a:bodyPr>
          <a:lstStyle/>
          <a:p>
            <a:pPr algn="l">
              <a:spcBef>
                <a:spcPts val="0"/>
              </a:spcBef>
              <a:spcAft>
                <a:spcPts val="0"/>
              </a:spcAft>
            </a:pPr>
            <a:r>
              <a:rPr sz="1200" b="0" i="0">
                <a:solidFill>
                  <a:srgbClr val="051C2C"/>
                </a:solidFill>
                <a:latin typeface="Segoe UI"/>
              </a:rPr>
              <a:t>per part, welded by the robot</a:t>
            </a:r>
          </a:p>
        </p:txBody>
      </p:sp>
      <p:sp>
        <p:nvSpPr>
          <p:cNvPr id="13" name="TextBox 12"/>
          <p:cNvSpPr txBox="1"/>
          <p:nvPr/>
        </p:nvSpPr>
        <p:spPr>
          <a:xfrm>
            <a:off x="256032" y="4526280"/>
            <a:ext cx="3657600" cy="548640"/>
          </a:xfrm>
          <a:prstGeom prst="rect">
            <a:avLst/>
          </a:prstGeom>
          <a:noFill/>
        </p:spPr>
        <p:txBody>
          <a:bodyPr wrap="square" lIns="0" rIns="0" tIns="0" bIns="0" anchor="t">
            <a:spAutoFit/>
          </a:bodyPr>
          <a:lstStyle/>
          <a:p>
            <a:pPr algn="l">
              <a:spcBef>
                <a:spcPts val="0"/>
              </a:spcBef>
              <a:spcAft>
                <a:spcPts val="0"/>
              </a:spcAft>
            </a:pPr>
            <a:r>
              <a:rPr sz="3200" b="1" i="0">
                <a:solidFill>
                  <a:srgbClr val="D5FB00"/>
                </a:solidFill>
                <a:latin typeface="Segoe UI"/>
              </a:rPr>
              <a:t>XX%</a:t>
            </a:r>
          </a:p>
        </p:txBody>
      </p:sp>
      <p:sp>
        <p:nvSpPr>
          <p:cNvPr id="14" name="TextBox 13"/>
          <p:cNvSpPr txBox="1"/>
          <p:nvPr/>
        </p:nvSpPr>
        <p:spPr>
          <a:xfrm>
            <a:off x="256032" y="5138928"/>
            <a:ext cx="3566160" cy="36576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less process time per part</a:t>
            </a:r>
          </a:p>
        </p:txBody>
      </p:sp>
      <p:sp>
        <p:nvSpPr>
          <p:cNvPr id="15" name="TextBox 14"/>
          <p:cNvSpPr txBox="1"/>
          <p:nvPr/>
        </p:nvSpPr>
        <p:spPr>
          <a:xfrm>
            <a:off x="4251960" y="4526280"/>
            <a:ext cx="3657600" cy="548640"/>
          </a:xfrm>
          <a:prstGeom prst="rect">
            <a:avLst/>
          </a:prstGeom>
          <a:noFill/>
        </p:spPr>
        <p:txBody>
          <a:bodyPr wrap="square" lIns="0" rIns="0" tIns="0" bIns="0" anchor="t">
            <a:spAutoFit/>
          </a:bodyPr>
          <a:lstStyle/>
          <a:p>
            <a:pPr algn="l">
              <a:spcBef>
                <a:spcPts val="0"/>
              </a:spcBef>
              <a:spcAft>
                <a:spcPts val="0"/>
              </a:spcAft>
            </a:pPr>
            <a:r>
              <a:rPr sz="3200" b="1" i="0">
                <a:solidFill>
                  <a:srgbClr val="D5FB00"/>
                </a:solidFill>
                <a:latin typeface="Segoe UI"/>
              </a:rPr>
              <a:t>XX</a:t>
            </a:r>
          </a:p>
        </p:txBody>
      </p:sp>
      <p:sp>
        <p:nvSpPr>
          <p:cNvPr id="16" name="TextBox 15"/>
          <p:cNvSpPr txBox="1"/>
          <p:nvPr/>
        </p:nvSpPr>
        <p:spPr>
          <a:xfrm>
            <a:off x="4251960" y="5138928"/>
            <a:ext cx="3566160" cy="36576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welds moved from the booth to the robot</a:t>
            </a:r>
          </a:p>
        </p:txBody>
      </p:sp>
      <p:sp>
        <p:nvSpPr>
          <p:cNvPr id="17" name="TextBox 16"/>
          <p:cNvSpPr txBox="1"/>
          <p:nvPr/>
        </p:nvSpPr>
        <p:spPr>
          <a:xfrm>
            <a:off x="8247888" y="4526280"/>
            <a:ext cx="3657600" cy="548640"/>
          </a:xfrm>
          <a:prstGeom prst="rect">
            <a:avLst/>
          </a:prstGeom>
          <a:noFill/>
        </p:spPr>
        <p:txBody>
          <a:bodyPr wrap="square" lIns="0" rIns="0" tIns="0" bIns="0" anchor="t">
            <a:spAutoFit/>
          </a:bodyPr>
          <a:lstStyle/>
          <a:p>
            <a:pPr algn="l">
              <a:spcBef>
                <a:spcPts val="0"/>
              </a:spcBef>
              <a:spcAft>
                <a:spcPts val="0"/>
              </a:spcAft>
            </a:pPr>
            <a:r>
              <a:rPr sz="3200" b="1" i="0">
                <a:solidFill>
                  <a:srgbClr val="D5FB00"/>
                </a:solidFill>
                <a:latin typeface="Segoe UI"/>
              </a:rPr>
              <a:t>XX min</a:t>
            </a:r>
          </a:p>
        </p:txBody>
      </p:sp>
      <p:sp>
        <p:nvSpPr>
          <p:cNvPr id="18" name="TextBox 17"/>
          <p:cNvSpPr txBox="1"/>
          <p:nvPr/>
        </p:nvSpPr>
        <p:spPr>
          <a:xfrm>
            <a:off x="8247888" y="5138928"/>
            <a:ext cx="3566160" cy="36576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of uncomfortable welding removed per shift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What I would change in how setters learn</a:t>
            </a:r>
          </a:p>
        </p:txBody>
      </p:sp>
      <p:sp>
        <p:nvSpPr>
          <p:cNvPr id="3" name="!! Subtitle 1"/>
          <p:cNvSpPr>
            <a:spLocks noGrp="1"/>
          </p:cNvSpPr>
          <p:nvPr>
            <p:ph type="body" idx="21" sz="quarter"/>
          </p:nvPr>
        </p:nvSpPr>
        <p:spPr/>
        <p:txBody>
          <a:bodyPr/>
          <a:lstStyle/>
          <a:p>
            <a:r>
              <a:rPr sz="1300" b="0">
                <a:solidFill>
                  <a:srgbClr val="D5FB00"/>
                </a:solidFill>
                <a:latin typeface="Segoe UI"/>
              </a:rPr>
              <a:t>Final project  |  Training process update, a proposal</a:t>
            </a:r>
          </a:p>
        </p:txBody>
      </p:sp>
      <p:pic>
        <p:nvPicPr>
          <p:cNvPr id="4" name="!! Card 1" descr="Decorative glass panel"/>
          <p:cNvPicPr>
            <a:picLocks noChangeAspect="1"/>
          </p:cNvPicPr>
          <p:nvPr/>
        </p:nvPicPr>
        <p:blipFill>
          <a:blip r:embed="rId2">
            <a:alphaModFix amt="50000"/>
          </a:blip>
          <a:stretch>
            <a:fillRect/>
          </a:stretch>
        </p:blipFill>
        <p:spPr>
          <a:xfrm>
            <a:off x="256032" y="1691640"/>
            <a:ext cx="3703320" cy="3063240"/>
          </a:xfrm>
          <a:prstGeom prst="rect">
            <a:avLst/>
          </a:prstGeom>
        </p:spPr>
      </p:pic>
      <p:sp>
        <p:nvSpPr>
          <p:cNvPr id="5" name="!! Card 1 rim"/>
          <p:cNvSpPr/>
          <p:nvPr/>
        </p:nvSpPr>
        <p:spPr>
          <a:xfrm>
            <a:off x="256032" y="1691640"/>
            <a:ext cx="3703320" cy="306324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585216" y="1965960"/>
            <a:ext cx="3017520"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01</a:t>
            </a:r>
          </a:p>
        </p:txBody>
      </p:sp>
      <p:sp>
        <p:nvSpPr>
          <p:cNvPr id="7" name="TextBox 6"/>
          <p:cNvSpPr txBox="1"/>
          <p:nvPr/>
        </p:nvSpPr>
        <p:spPr>
          <a:xfrm>
            <a:off x="585216" y="2651760"/>
            <a:ext cx="3017520" cy="32004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Reviewed</a:t>
            </a:r>
          </a:p>
        </p:txBody>
      </p:sp>
      <p:sp>
        <p:nvSpPr>
          <p:cNvPr id="8" name="TextBox 7"/>
          <p:cNvSpPr txBox="1"/>
          <p:nvPr/>
        </p:nvSpPr>
        <p:spPr>
          <a:xfrm>
            <a:off x="585216" y="3108960"/>
            <a:ext cx="3044952" cy="146304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616 pages of training manual and customer standard, page by page, against what Level I asks.</a:t>
            </a:r>
          </a:p>
        </p:txBody>
      </p:sp>
      <p:pic>
        <p:nvPicPr>
          <p:cNvPr id="9" name="!! Card 2" descr="Decorative glass panel"/>
          <p:cNvPicPr>
            <a:picLocks noChangeAspect="1"/>
          </p:cNvPicPr>
          <p:nvPr/>
        </p:nvPicPr>
        <p:blipFill>
          <a:blip r:embed="rId3">
            <a:alphaModFix amt="50000"/>
          </a:blip>
          <a:stretch>
            <a:fillRect/>
          </a:stretch>
        </p:blipFill>
        <p:spPr>
          <a:xfrm>
            <a:off x="4251960" y="1691640"/>
            <a:ext cx="3703320" cy="3063240"/>
          </a:xfrm>
          <a:prstGeom prst="rect">
            <a:avLst/>
          </a:prstGeom>
        </p:spPr>
      </p:pic>
      <p:sp>
        <p:nvSpPr>
          <p:cNvPr id="10" name="!! Card 2 rim"/>
          <p:cNvSpPr/>
          <p:nvPr/>
        </p:nvSpPr>
        <p:spPr>
          <a:xfrm>
            <a:off x="4251960" y="1691640"/>
            <a:ext cx="3703320" cy="3063240"/>
          </a:xfrm>
          <a:prstGeom prst="rect">
            <a:avLst/>
          </a:prstGeom>
          <a:noFill/>
          <a:ln w="9525">
            <a:solidFill>
              <a:srgbClr val="FFFFFF">
                <a:alpha val="16000"/>
              </a:srgbClr>
            </a:solidFill>
          </a:ln>
        </p:spPr>
        <p:txBody>
          <a:bodyPr rtlCol="0" anchor="ctr" wrap="square" lIns="0" rIns="0" tIns="0" bIns="0"/>
          <a:lstStyle/>
          <a:p>
            <a:pPr algn="ctr"/>
          </a:p>
        </p:txBody>
      </p:sp>
      <p:sp>
        <p:nvSpPr>
          <p:cNvPr id="11" name="TextBox 10"/>
          <p:cNvSpPr txBox="1"/>
          <p:nvPr/>
        </p:nvSpPr>
        <p:spPr>
          <a:xfrm>
            <a:off x="4581144" y="1965960"/>
            <a:ext cx="3017520"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02</a:t>
            </a:r>
          </a:p>
        </p:txBody>
      </p:sp>
      <p:sp>
        <p:nvSpPr>
          <p:cNvPr id="12" name="TextBox 11"/>
          <p:cNvSpPr txBox="1"/>
          <p:nvPr/>
        </p:nvSpPr>
        <p:spPr>
          <a:xfrm>
            <a:off x="4581144" y="2651760"/>
            <a:ext cx="3017520" cy="32004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Found</a:t>
            </a:r>
          </a:p>
        </p:txBody>
      </p:sp>
      <p:sp>
        <p:nvSpPr>
          <p:cNvPr id="13" name="TextBox 12"/>
          <p:cNvSpPr txBox="1"/>
          <p:nvPr/>
        </p:nvSpPr>
        <p:spPr>
          <a:xfrm>
            <a:off x="4581144" y="3108960"/>
            <a:ext cx="3044952" cy="146304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Gaps: topics the exam asks about that the material barely covers, and an error in one key table.</a:t>
            </a:r>
          </a:p>
        </p:txBody>
      </p:sp>
      <p:pic>
        <p:nvPicPr>
          <p:cNvPr id="14" name="!! Card 3" descr="Decorative glass panel"/>
          <p:cNvPicPr>
            <a:picLocks noChangeAspect="1"/>
          </p:cNvPicPr>
          <p:nvPr/>
        </p:nvPicPr>
        <p:blipFill>
          <a:blip r:embed="rId4">
            <a:alphaModFix amt="50000"/>
          </a:blip>
          <a:stretch>
            <a:fillRect/>
          </a:stretch>
        </p:blipFill>
        <p:spPr>
          <a:xfrm>
            <a:off x="8247888" y="1691640"/>
            <a:ext cx="3703320" cy="3063240"/>
          </a:xfrm>
          <a:prstGeom prst="rect">
            <a:avLst/>
          </a:prstGeom>
        </p:spPr>
      </p:pic>
      <p:sp>
        <p:nvSpPr>
          <p:cNvPr id="15" name="!! Card 3 rim"/>
          <p:cNvSpPr/>
          <p:nvPr/>
        </p:nvSpPr>
        <p:spPr>
          <a:xfrm>
            <a:off x="8247888" y="1691640"/>
            <a:ext cx="3703320" cy="3063240"/>
          </a:xfrm>
          <a:prstGeom prst="rect">
            <a:avLst/>
          </a:prstGeom>
          <a:noFill/>
          <a:ln w="9525">
            <a:solidFill>
              <a:srgbClr val="FFFFFF">
                <a:alpha val="16000"/>
              </a:srgbClr>
            </a:solidFill>
          </a:ln>
        </p:spPr>
        <p:txBody>
          <a:bodyPr rtlCol="0" anchor="ctr" wrap="square" lIns="0" rIns="0" tIns="0" bIns="0"/>
          <a:lstStyle/>
          <a:p>
            <a:pPr algn="ctr"/>
          </a:p>
        </p:txBody>
      </p:sp>
      <p:sp>
        <p:nvSpPr>
          <p:cNvPr id="16" name="TextBox 15"/>
          <p:cNvSpPr txBox="1"/>
          <p:nvPr/>
        </p:nvSpPr>
        <p:spPr>
          <a:xfrm>
            <a:off x="8577072" y="1965960"/>
            <a:ext cx="3017520" cy="50292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03</a:t>
            </a:r>
          </a:p>
        </p:txBody>
      </p:sp>
      <p:sp>
        <p:nvSpPr>
          <p:cNvPr id="17" name="TextBox 16"/>
          <p:cNvSpPr txBox="1"/>
          <p:nvPr/>
        </p:nvSpPr>
        <p:spPr>
          <a:xfrm>
            <a:off x="8577072" y="2651760"/>
            <a:ext cx="3017520" cy="32004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Segoe UI"/>
              </a:rPr>
              <a:t>Rebuilt</a:t>
            </a:r>
          </a:p>
        </p:txBody>
      </p:sp>
      <p:sp>
        <p:nvSpPr>
          <p:cNvPr id="18" name="TextBox 17"/>
          <p:cNvSpPr txBox="1"/>
          <p:nvPr/>
        </p:nvSpPr>
        <p:spPr>
          <a:xfrm>
            <a:off x="8577072" y="3108960"/>
            <a:ext cx="3044952" cy="1463040"/>
          </a:xfrm>
          <a:prstGeom prst="rect">
            <a:avLst/>
          </a:prstGeom>
          <a:noFill/>
        </p:spPr>
        <p:txBody>
          <a:bodyPr wrap="square" lIns="0" rIns="0" tIns="0" bIns="0" anchor="t">
            <a:spAutoFit/>
          </a:bodyPr>
          <a:lstStyle/>
          <a:p>
            <a:pPr algn="l">
              <a:lnSpc>
                <a:spcPct val="110000"/>
              </a:lnSpc>
              <a:spcBef>
                <a:spcPts val="0"/>
              </a:spcBef>
              <a:spcAft>
                <a:spcPts val="0"/>
              </a:spcAft>
            </a:pPr>
            <a:r>
              <a:rPr sz="1200" b="0" i="0">
                <a:solidFill>
                  <a:srgbClr val="C6CDD1"/>
                </a:solidFill>
                <a:latin typeface="Segoe UI"/>
              </a:rPr>
              <a:t>The schedule, in the plant’s own format, so plan and reality can be compared week by week.</a:t>
            </a:r>
          </a:p>
        </p:txBody>
      </p:sp>
      <p:pic>
        <p:nvPicPr>
          <p:cNvPr id="19" name="!! Strip" descr="Decorative glass panel"/>
          <p:cNvPicPr>
            <a:picLocks noChangeAspect="1"/>
          </p:cNvPicPr>
          <p:nvPr/>
        </p:nvPicPr>
        <p:blipFill>
          <a:blip r:embed="rId5">
            <a:alphaModFix amt="50000"/>
          </a:blip>
          <a:stretch>
            <a:fillRect/>
          </a:stretch>
        </p:blipFill>
        <p:spPr>
          <a:xfrm>
            <a:off x="256032" y="4956048"/>
            <a:ext cx="11676888" cy="566928"/>
          </a:xfrm>
          <a:prstGeom prst="rect">
            <a:avLst/>
          </a:prstGeom>
        </p:spPr>
      </p:pic>
      <p:sp>
        <p:nvSpPr>
          <p:cNvPr id="20" name="!! Strip rim"/>
          <p:cNvSpPr/>
          <p:nvPr/>
        </p:nvSpPr>
        <p:spPr>
          <a:xfrm>
            <a:off x="256032" y="4956048"/>
            <a:ext cx="11676888" cy="566928"/>
          </a:xfrm>
          <a:prstGeom prst="rect">
            <a:avLst/>
          </a:prstGeom>
          <a:noFill/>
          <a:ln w="9525">
            <a:solidFill>
              <a:srgbClr val="FFFFFF">
                <a:alpha val="16000"/>
              </a:srgbClr>
            </a:solidFill>
          </a:ln>
        </p:spPr>
        <p:txBody>
          <a:bodyPr rtlCol="0" anchor="ctr" wrap="square" lIns="0" rIns="0" tIns="0" bIns="0"/>
          <a:lstStyle/>
          <a:p>
            <a:pPr algn="ctr"/>
          </a:p>
        </p:txBody>
      </p:sp>
      <p:sp>
        <p:nvSpPr>
          <p:cNvPr id="21" name="TextBox 20"/>
          <p:cNvSpPr txBox="1"/>
          <p:nvPr/>
        </p:nvSpPr>
        <p:spPr>
          <a:xfrm>
            <a:off x="566928" y="5138928"/>
            <a:ext cx="2011680" cy="228600"/>
          </a:xfrm>
          <a:prstGeom prst="rect">
            <a:avLst/>
          </a:prstGeom>
          <a:noFill/>
        </p:spPr>
        <p:txBody>
          <a:bodyPr wrap="square" lIns="0" rIns="0" tIns="0" bIns="0" anchor="t">
            <a:spAutoFit/>
          </a:bodyPr>
          <a:lstStyle/>
          <a:p>
            <a:pPr algn="l">
              <a:spcBef>
                <a:spcPts val="0"/>
              </a:spcBef>
              <a:spcAft>
                <a:spcPts val="0"/>
              </a:spcAft>
            </a:pPr>
            <a:r>
              <a:rPr sz="1100" b="1" i="0">
                <a:solidFill>
                  <a:srgbClr val="D5FB00"/>
                </a:solidFill>
                <a:latin typeface="Segoe UI"/>
              </a:rPr>
              <a:t>PROPOSAL</a:t>
            </a:r>
          </a:p>
        </p:txBody>
      </p:sp>
      <p:sp>
        <p:nvSpPr>
          <p:cNvPr id="22" name="TextBox 21"/>
          <p:cNvSpPr txBox="1"/>
          <p:nvPr/>
        </p:nvSpPr>
        <p:spPr>
          <a:xfrm>
            <a:off x="2514600" y="5120640"/>
            <a:ext cx="9144000" cy="274320"/>
          </a:xfrm>
          <a:prstGeom prst="rect">
            <a:avLst/>
          </a:prstGeom>
          <a:noFill/>
        </p:spPr>
        <p:txBody>
          <a:bodyPr wrap="square" lIns="0" rIns="0" tIns="0" bIns="0" anchor="t">
            <a:spAutoFit/>
          </a:bodyPr>
          <a:lstStyle/>
          <a:p>
            <a:pPr algn="l">
              <a:spcBef>
                <a:spcPts val="0"/>
              </a:spcBef>
              <a:spcAft>
                <a:spcPts val="0"/>
              </a:spcAft>
            </a:pPr>
            <a:r>
              <a:rPr sz="1200" b="0" i="0">
                <a:solidFill>
                  <a:srgbClr val="FFFFFF"/>
                </a:solidFill>
                <a:latin typeface="Segoe UI"/>
              </a:rPr>
              <a:t>Use the corrected material and the new schedule with the next group of setters.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Next: from knowing it to doing it alone</a:t>
            </a:r>
          </a:p>
        </p:txBody>
      </p:sp>
      <p:sp>
        <p:nvSpPr>
          <p:cNvPr id="3" name="!! Subtitle 1"/>
          <p:cNvSpPr>
            <a:spLocks noGrp="1"/>
          </p:cNvSpPr>
          <p:nvPr>
            <p:ph type="body" idx="21" sz="quarter"/>
          </p:nvPr>
        </p:nvSpPr>
        <p:spPr/>
        <p:txBody>
          <a:bodyPr/>
          <a:lstStyle/>
          <a:p>
            <a:r>
              <a:rPr sz="1300" b="0">
                <a:solidFill>
                  <a:srgbClr val="D5FB00"/>
                </a:solidFill>
                <a:latin typeface="Segoe UI"/>
              </a:rPr>
              <a:t>What comes next, until January</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7223760" cy="3886200"/>
          </a:xfrm>
          <a:prstGeom prst="rect">
            <a:avLst/>
          </a:prstGeom>
        </p:spPr>
      </p:pic>
      <p:sp>
        <p:nvSpPr>
          <p:cNvPr id="5" name="!! Glass A rim"/>
          <p:cNvSpPr/>
          <p:nvPr/>
        </p:nvSpPr>
        <p:spPr>
          <a:xfrm>
            <a:off x="256032" y="1600200"/>
            <a:ext cx="7223760" cy="388620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NEXT LEVELS</a:t>
            </a:r>
          </a:p>
        </p:txBody>
      </p:sp>
      <p:sp>
        <p:nvSpPr>
          <p:cNvPr id="7" name="TextBox 6"/>
          <p:cNvSpPr txBox="1"/>
          <p:nvPr/>
        </p:nvSpPr>
        <p:spPr>
          <a:xfrm>
            <a:off x="621792" y="2359152"/>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L</a:t>
            </a:r>
          </a:p>
        </p:txBody>
      </p:sp>
      <p:sp>
        <p:nvSpPr>
          <p:cNvPr id="8" name="TextBox 7"/>
          <p:cNvSpPr txBox="1"/>
          <p:nvPr/>
        </p:nvSpPr>
        <p:spPr>
          <a:xfrm>
            <a:off x="1143000" y="2395728"/>
            <a:ext cx="5943600" cy="3200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Validate settings and find defects at the cell, with support.</a:t>
            </a:r>
          </a:p>
        </p:txBody>
      </p:sp>
      <p:sp>
        <p:nvSpPr>
          <p:cNvPr id="9" name="TextBox 8"/>
          <p:cNvSpPr txBox="1"/>
          <p:nvPr/>
        </p:nvSpPr>
        <p:spPr>
          <a:xfrm>
            <a:off x="1143000" y="2724912"/>
            <a:ext cx="5943600" cy="27432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November</a:t>
            </a:r>
          </a:p>
        </p:txBody>
      </p:sp>
      <p:sp>
        <p:nvSpPr>
          <p:cNvPr id="10" name="Rectangle 9"/>
          <p:cNvSpPr/>
          <p:nvPr/>
        </p:nvSpPr>
        <p:spPr>
          <a:xfrm>
            <a:off x="621792" y="3191256"/>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1" name="TextBox 10"/>
          <p:cNvSpPr txBox="1"/>
          <p:nvPr/>
        </p:nvSpPr>
        <p:spPr>
          <a:xfrm>
            <a:off x="621792" y="3319272"/>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U</a:t>
            </a:r>
          </a:p>
        </p:txBody>
      </p:sp>
      <p:sp>
        <p:nvSpPr>
          <p:cNvPr id="12" name="TextBox 11"/>
          <p:cNvSpPr txBox="1"/>
          <p:nvPr/>
        </p:nvSpPr>
        <p:spPr>
          <a:xfrm>
            <a:off x="1143000" y="3355848"/>
            <a:ext cx="5943600" cy="3200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Create and set up robot programs on my own (SKS).</a:t>
            </a:r>
          </a:p>
        </p:txBody>
      </p:sp>
      <p:sp>
        <p:nvSpPr>
          <p:cNvPr id="13" name="TextBox 12"/>
          <p:cNvSpPr txBox="1"/>
          <p:nvPr/>
        </p:nvSpPr>
        <p:spPr>
          <a:xfrm>
            <a:off x="1143000" y="3685032"/>
            <a:ext cx="5943600" cy="27432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December</a:t>
            </a:r>
          </a:p>
        </p:txBody>
      </p:sp>
      <p:sp>
        <p:nvSpPr>
          <p:cNvPr id="14" name="Rectangle 13"/>
          <p:cNvSpPr/>
          <p:nvPr/>
        </p:nvSpPr>
        <p:spPr>
          <a:xfrm>
            <a:off x="621792" y="4151376"/>
            <a:ext cx="6492240" cy="9144"/>
          </a:xfrm>
          <a:prstGeom prst="rect">
            <a:avLst/>
          </a:prstGeom>
          <a:solidFill>
            <a:srgbClr val="FFFFFF">
              <a:alpha val="14000"/>
            </a:srgbClr>
          </a:solidFill>
          <a:ln>
            <a:noFill/>
          </a:ln>
        </p:spPr>
        <p:txBody>
          <a:bodyPr rtlCol="0" anchor="ctr" wrap="square" lIns="0" rIns="0" tIns="0" bIns="0"/>
          <a:lstStyle/>
          <a:p>
            <a:pPr algn="ctr"/>
          </a:p>
        </p:txBody>
      </p:sp>
      <p:sp>
        <p:nvSpPr>
          <p:cNvPr id="15" name="TextBox 14"/>
          <p:cNvSpPr txBox="1"/>
          <p:nvPr/>
        </p:nvSpPr>
        <p:spPr>
          <a:xfrm>
            <a:off x="621792" y="4279392"/>
            <a:ext cx="457200" cy="457200"/>
          </a:xfrm>
          <a:prstGeom prst="rect">
            <a:avLst/>
          </a:prstGeom>
          <a:noFill/>
        </p:spPr>
        <p:txBody>
          <a:bodyPr wrap="square" lIns="0" rIns="0" tIns="0" bIns="0" anchor="t">
            <a:spAutoFit/>
          </a:bodyPr>
          <a:lstStyle/>
          <a:p>
            <a:pPr algn="l">
              <a:spcBef>
                <a:spcPts val="0"/>
              </a:spcBef>
              <a:spcAft>
                <a:spcPts val="0"/>
              </a:spcAft>
            </a:pPr>
            <a:r>
              <a:rPr sz="2400" b="1" i="0">
                <a:solidFill>
                  <a:srgbClr val="D5FB00"/>
                </a:solidFill>
                <a:latin typeface="Segoe UI"/>
              </a:rPr>
              <a:t>O</a:t>
            </a:r>
          </a:p>
        </p:txBody>
      </p:sp>
      <p:sp>
        <p:nvSpPr>
          <p:cNvPr id="16" name="TextBox 15"/>
          <p:cNvSpPr txBox="1"/>
          <p:nvPr/>
        </p:nvSpPr>
        <p:spPr>
          <a:xfrm>
            <a:off x="1143000" y="4315968"/>
            <a:ext cx="5943600" cy="32004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Solve problems, share what I learn, keep improving.</a:t>
            </a:r>
          </a:p>
        </p:txBody>
      </p:sp>
      <p:sp>
        <p:nvSpPr>
          <p:cNvPr id="17" name="TextBox 16"/>
          <p:cNvSpPr txBox="1"/>
          <p:nvPr/>
        </p:nvSpPr>
        <p:spPr>
          <a:xfrm>
            <a:off x="1143000" y="4645152"/>
            <a:ext cx="5943600" cy="274320"/>
          </a:xfrm>
          <a:prstGeom prst="rect">
            <a:avLst/>
          </a:prstGeom>
          <a:noFill/>
        </p:spPr>
        <p:txBody>
          <a:bodyPr wrap="square" lIns="0" rIns="0" tIns="0" bIns="0" anchor="t">
            <a:spAutoFit/>
          </a:bodyPr>
          <a:lstStyle/>
          <a:p>
            <a:pPr algn="l">
              <a:spcBef>
                <a:spcPts val="0"/>
              </a:spcBef>
              <a:spcAft>
                <a:spcPts val="0"/>
              </a:spcAft>
            </a:pPr>
            <a:r>
              <a:rPr sz="1200" b="0" i="0">
                <a:solidFill>
                  <a:srgbClr val="C6CDD1"/>
                </a:solidFill>
                <a:latin typeface="Segoe UI"/>
              </a:rPr>
              <a:t>Already started with 4M</a:t>
            </a:r>
          </a:p>
        </p:txBody>
      </p:sp>
      <p:pic>
        <p:nvPicPr>
          <p:cNvPr id="18" name="!! Glass B" descr="Decorative glass panel"/>
          <p:cNvPicPr>
            <a:picLocks noChangeAspect="1"/>
          </p:cNvPicPr>
          <p:nvPr/>
        </p:nvPicPr>
        <p:blipFill>
          <a:blip r:embed="rId3">
            <a:alphaModFix amt="50000"/>
          </a:blip>
          <a:stretch>
            <a:fillRect/>
          </a:stretch>
        </p:blipFill>
        <p:spPr>
          <a:xfrm>
            <a:off x="7818120" y="1600200"/>
            <a:ext cx="4114800" cy="3886200"/>
          </a:xfrm>
          <a:prstGeom prst="rect">
            <a:avLst/>
          </a:prstGeom>
        </p:spPr>
      </p:pic>
      <p:sp>
        <p:nvSpPr>
          <p:cNvPr id="19" name="!! Glass B rim"/>
          <p:cNvSpPr/>
          <p:nvPr/>
        </p:nvSpPr>
        <p:spPr>
          <a:xfrm>
            <a:off x="7818120" y="1600200"/>
            <a:ext cx="4114800" cy="3886200"/>
          </a:xfrm>
          <a:prstGeom prst="rect">
            <a:avLst/>
          </a:prstGeom>
          <a:noFill/>
          <a:ln w="9525">
            <a:solidFill>
              <a:srgbClr val="FFFFFF">
                <a:alpha val="16000"/>
              </a:srgbClr>
            </a:solidFill>
          </a:ln>
        </p:spPr>
        <p:txBody>
          <a:bodyPr rtlCol="0" anchor="ctr" wrap="square" lIns="0" rIns="0" tIns="0" bIns="0"/>
          <a:lstStyle/>
          <a:p>
            <a:pPr algn="ctr"/>
          </a:p>
        </p:txBody>
      </p:sp>
      <p:sp>
        <p:nvSpPr>
          <p:cNvPr id="20" name="TextBox 19"/>
          <p:cNvSpPr txBox="1"/>
          <p:nvPr/>
        </p:nvSpPr>
        <p:spPr>
          <a:xfrm>
            <a:off x="8183879"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WHAT I NEED</a:t>
            </a:r>
          </a:p>
        </p:txBody>
      </p:sp>
      <p:sp>
        <p:nvSpPr>
          <p:cNvPr id="21" name="Chevron 20"/>
          <p:cNvSpPr/>
          <p:nvPr/>
        </p:nvSpPr>
        <p:spPr>
          <a:xfrm>
            <a:off x="8183879" y="2478024"/>
            <a:ext cx="128016" cy="128016"/>
          </a:xfrm>
          <a:prstGeom prst="chevron">
            <a:avLst/>
          </a:prstGeom>
          <a:solidFill>
            <a:srgbClr val="D5FB00"/>
          </a:solidFill>
          <a:ln>
            <a:noFill/>
          </a:ln>
        </p:spPr>
        <p:txBody>
          <a:bodyPr rtlCol="0" anchor="ctr" wrap="square" lIns="0" rIns="0" tIns="0" bIns="0"/>
          <a:lstStyle/>
          <a:p>
            <a:pPr algn="ctr"/>
          </a:p>
        </p:txBody>
      </p:sp>
      <p:sp>
        <p:nvSpPr>
          <p:cNvPr id="22" name="TextBox 21"/>
          <p:cNvSpPr txBox="1"/>
          <p:nvPr/>
        </p:nvSpPr>
        <p:spPr>
          <a:xfrm>
            <a:off x="8458200" y="2395728"/>
            <a:ext cx="3246120" cy="64008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A date for my Level I exam</a:t>
            </a:r>
          </a:p>
        </p:txBody>
      </p:sp>
      <p:sp>
        <p:nvSpPr>
          <p:cNvPr id="23" name="Chevron 22"/>
          <p:cNvSpPr/>
          <p:nvPr/>
        </p:nvSpPr>
        <p:spPr>
          <a:xfrm>
            <a:off x="8183879" y="3209544"/>
            <a:ext cx="128016" cy="128016"/>
          </a:xfrm>
          <a:prstGeom prst="chevron">
            <a:avLst/>
          </a:prstGeom>
          <a:solidFill>
            <a:srgbClr val="D5FB00"/>
          </a:solidFill>
          <a:ln>
            <a:noFill/>
          </a:ln>
        </p:spPr>
        <p:txBody>
          <a:bodyPr rtlCol="0" anchor="ctr" wrap="square" lIns="0" rIns="0" tIns="0" bIns="0"/>
          <a:lstStyle/>
          <a:p>
            <a:pPr algn="ctr"/>
          </a:p>
        </p:txBody>
      </p:sp>
      <p:sp>
        <p:nvSpPr>
          <p:cNvPr id="24" name="TextBox 23"/>
          <p:cNvSpPr txBox="1"/>
          <p:nvPr/>
        </p:nvSpPr>
        <p:spPr>
          <a:xfrm>
            <a:off x="8458200" y="3127248"/>
            <a:ext cx="3246120" cy="64008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Supervised time programming robots in SKS</a:t>
            </a:r>
          </a:p>
        </p:txBody>
      </p:sp>
      <p:sp>
        <p:nvSpPr>
          <p:cNvPr id="25" name="Chevron 24"/>
          <p:cNvSpPr/>
          <p:nvPr/>
        </p:nvSpPr>
        <p:spPr>
          <a:xfrm>
            <a:off x="8183879" y="3941064"/>
            <a:ext cx="128016" cy="128016"/>
          </a:xfrm>
          <a:prstGeom prst="chevron">
            <a:avLst/>
          </a:prstGeom>
          <a:solidFill>
            <a:srgbClr val="D5FB00"/>
          </a:solidFill>
          <a:ln>
            <a:noFill/>
          </a:ln>
        </p:spPr>
        <p:txBody>
          <a:bodyPr rtlCol="0" anchor="ctr" wrap="square" lIns="0" rIns="0" tIns="0" bIns="0"/>
          <a:lstStyle/>
          <a:p>
            <a:pPr algn="ctr"/>
          </a:p>
        </p:txBody>
      </p:sp>
      <p:sp>
        <p:nvSpPr>
          <p:cNvPr id="26" name="TextBox 25"/>
          <p:cNvSpPr txBox="1"/>
          <p:nvPr/>
        </p:nvSpPr>
        <p:spPr>
          <a:xfrm>
            <a:off x="8458200" y="3858768"/>
            <a:ext cx="3246120" cy="64008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Your feedback on the training proposal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a:spLocks noGrp="1"/>
          </p:cNvSpPr>
          <p:nvPr>
            <p:ph type="body" idx="20" sz="quarter"/>
          </p:nvPr>
        </p:nvSpPr>
        <p:spPr/>
        <p:txBody>
          <a:bodyPr/>
          <a:lstStyle/>
          <a:p>
            <a:r>
              <a:rPr sz="2800" b="1">
                <a:solidFill>
                  <a:srgbClr val="FFFFFF"/>
                </a:solidFill>
                <a:latin typeface="Segoe UI"/>
              </a:rPr>
              <a:t>Conclusions and next steps</a:t>
            </a:r>
          </a:p>
        </p:txBody>
      </p:sp>
      <p:sp>
        <p:nvSpPr>
          <p:cNvPr id="3" name="!! Subtitle 1"/>
          <p:cNvSpPr>
            <a:spLocks noGrp="1"/>
          </p:cNvSpPr>
          <p:nvPr>
            <p:ph type="body" idx="21" sz="quarter"/>
          </p:nvPr>
        </p:nvSpPr>
        <p:spPr/>
        <p:txBody>
          <a:bodyPr/>
          <a:lstStyle/>
          <a:p>
            <a:r>
              <a:rPr sz="1300" b="0">
                <a:solidFill>
                  <a:srgbClr val="D5FB00"/>
                </a:solidFill>
                <a:latin typeface="Segoe UI"/>
              </a:rPr>
              <a:t>What is in place, and what comes next</a:t>
            </a:r>
          </a:p>
        </p:txBody>
      </p:sp>
      <p:pic>
        <p:nvPicPr>
          <p:cNvPr id="4" name="!! Glass A" descr="Decorative glass panel"/>
          <p:cNvPicPr>
            <a:picLocks noChangeAspect="1"/>
          </p:cNvPicPr>
          <p:nvPr/>
        </p:nvPicPr>
        <p:blipFill>
          <a:blip r:embed="rId2">
            <a:alphaModFix amt="50000"/>
          </a:blip>
          <a:stretch>
            <a:fillRect/>
          </a:stretch>
        </p:blipFill>
        <p:spPr>
          <a:xfrm>
            <a:off x="256032" y="1600200"/>
            <a:ext cx="5806440" cy="3703320"/>
          </a:xfrm>
          <a:prstGeom prst="rect">
            <a:avLst/>
          </a:prstGeom>
        </p:spPr>
      </p:pic>
      <p:sp>
        <p:nvSpPr>
          <p:cNvPr id="5" name="!! Glass A rim"/>
          <p:cNvSpPr/>
          <p:nvPr/>
        </p:nvSpPr>
        <p:spPr>
          <a:xfrm>
            <a:off x="256032" y="1600200"/>
            <a:ext cx="5806440" cy="3703320"/>
          </a:xfrm>
          <a:prstGeom prst="rect">
            <a:avLst/>
          </a:prstGeom>
          <a:noFill/>
          <a:ln w="9525">
            <a:solidFill>
              <a:srgbClr val="FFFFFF">
                <a:alpha val="16000"/>
              </a:srgbClr>
            </a:solidFill>
          </a:ln>
        </p:spPr>
        <p:txBody>
          <a:bodyPr rtlCol="0" anchor="ctr" wrap="square" lIns="0" rIns="0" tIns="0" bIns="0"/>
          <a:lstStyle/>
          <a:p>
            <a:pPr algn="ctr"/>
          </a:p>
        </p:txBody>
      </p:sp>
      <p:sp>
        <p:nvSpPr>
          <p:cNvPr id="6" name="TextBox 5"/>
          <p:cNvSpPr txBox="1"/>
          <p:nvPr/>
        </p:nvSpPr>
        <p:spPr>
          <a:xfrm>
            <a:off x="621792"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IN PLACE</a:t>
            </a:r>
          </a:p>
        </p:txBody>
      </p:sp>
      <p:pic>
        <p:nvPicPr>
          <p:cNvPr id="7" name="!! Glass B" descr="Decorative glass panel"/>
          <p:cNvPicPr>
            <a:picLocks noChangeAspect="1"/>
          </p:cNvPicPr>
          <p:nvPr/>
        </p:nvPicPr>
        <p:blipFill>
          <a:blip r:embed="rId3">
            <a:alphaModFix amt="50000"/>
          </a:blip>
          <a:stretch>
            <a:fillRect/>
          </a:stretch>
        </p:blipFill>
        <p:spPr>
          <a:xfrm>
            <a:off x="6382512" y="1600200"/>
            <a:ext cx="5550408" cy="3703320"/>
          </a:xfrm>
          <a:prstGeom prst="rect">
            <a:avLst/>
          </a:prstGeom>
        </p:spPr>
      </p:pic>
      <p:sp>
        <p:nvSpPr>
          <p:cNvPr id="8" name="!! Glass B rim"/>
          <p:cNvSpPr/>
          <p:nvPr/>
        </p:nvSpPr>
        <p:spPr>
          <a:xfrm>
            <a:off x="6382512" y="1600200"/>
            <a:ext cx="5550408" cy="3703320"/>
          </a:xfrm>
          <a:prstGeom prst="rect">
            <a:avLst/>
          </a:prstGeom>
          <a:noFill/>
          <a:ln w="9525">
            <a:solidFill>
              <a:srgbClr val="FFFFFF">
                <a:alpha val="16000"/>
              </a:srgbClr>
            </a:solidFill>
          </a:ln>
        </p:spPr>
        <p:txBody>
          <a:bodyPr rtlCol="0" anchor="ctr" wrap="square" lIns="0" rIns="0" tIns="0" bIns="0"/>
          <a:lstStyle/>
          <a:p>
            <a:pPr algn="ctr"/>
          </a:p>
        </p:txBody>
      </p:sp>
      <p:sp>
        <p:nvSpPr>
          <p:cNvPr id="9" name="TextBox 8"/>
          <p:cNvSpPr txBox="1"/>
          <p:nvPr/>
        </p:nvSpPr>
        <p:spPr>
          <a:xfrm>
            <a:off x="6748272" y="1901952"/>
            <a:ext cx="5486400" cy="274320"/>
          </a:xfrm>
          <a:prstGeom prst="rect">
            <a:avLst/>
          </a:prstGeom>
          <a:noFill/>
        </p:spPr>
        <p:txBody>
          <a:bodyPr wrap="square" lIns="0" rIns="0" tIns="0" bIns="0" anchor="t">
            <a:spAutoFit/>
          </a:bodyPr>
          <a:lstStyle/>
          <a:p>
            <a:pPr algn="l">
              <a:spcBef>
                <a:spcPts val="0"/>
              </a:spcBef>
              <a:spcAft>
                <a:spcPts val="0"/>
              </a:spcAft>
            </a:pPr>
            <a:r>
              <a:rPr sz="1600" b="1" i="0">
                <a:solidFill>
                  <a:srgbClr val="D5FB00"/>
                </a:solidFill>
                <a:latin typeface="Segoe UI"/>
              </a:rPr>
              <a:t>NEXT</a:t>
            </a:r>
          </a:p>
        </p:txBody>
      </p:sp>
      <p:sp>
        <p:nvSpPr>
          <p:cNvPr id="10" name="TextBox 9"/>
          <p:cNvSpPr txBox="1"/>
          <p:nvPr/>
        </p:nvSpPr>
        <p:spPr>
          <a:xfrm>
            <a:off x="621792" y="2395728"/>
            <a:ext cx="5074920"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Level I studied in full, and four skills done on my own.</a:t>
            </a:r>
          </a:p>
        </p:txBody>
      </p:sp>
      <p:sp>
        <p:nvSpPr>
          <p:cNvPr id="11" name="TextBox 10"/>
          <p:cNvSpPr txBox="1"/>
          <p:nvPr/>
        </p:nvSpPr>
        <p:spPr>
          <a:xfrm>
            <a:off x="621792" y="3310128"/>
            <a:ext cx="5074920"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A manual weld moved to the 4M robotic cell: less time, less strain.</a:t>
            </a:r>
          </a:p>
        </p:txBody>
      </p:sp>
      <p:sp>
        <p:nvSpPr>
          <p:cNvPr id="12" name="TextBox 11"/>
          <p:cNvSpPr txBox="1"/>
          <p:nvPr/>
        </p:nvSpPr>
        <p:spPr>
          <a:xfrm>
            <a:off x="621792" y="4224528"/>
            <a:ext cx="5074920"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A reviewed study path, and a schedule that shows plan versus reality.</a:t>
            </a:r>
          </a:p>
        </p:txBody>
      </p:sp>
      <p:sp>
        <p:nvSpPr>
          <p:cNvPr id="13" name="TextBox 12"/>
          <p:cNvSpPr txBox="1"/>
          <p:nvPr/>
        </p:nvSpPr>
        <p:spPr>
          <a:xfrm>
            <a:off x="6748272" y="2395728"/>
            <a:ext cx="4818888"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Pass the Level I exam in October.</a:t>
            </a:r>
          </a:p>
        </p:txBody>
      </p:sp>
      <p:sp>
        <p:nvSpPr>
          <p:cNvPr id="14" name="TextBox 13"/>
          <p:cNvSpPr txBox="1"/>
          <p:nvPr/>
        </p:nvSpPr>
        <p:spPr>
          <a:xfrm>
            <a:off x="6748272" y="3310128"/>
            <a:ext cx="4818888"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Reach Levels L and U before January.</a:t>
            </a:r>
          </a:p>
        </p:txBody>
      </p:sp>
      <p:sp>
        <p:nvSpPr>
          <p:cNvPr id="15" name="TextBox 14"/>
          <p:cNvSpPr txBox="1"/>
          <p:nvPr/>
        </p:nvSpPr>
        <p:spPr>
          <a:xfrm>
            <a:off x="6748272" y="4224528"/>
            <a:ext cx="4818888" cy="731520"/>
          </a:xfrm>
          <a:prstGeom prst="rect">
            <a:avLst/>
          </a:prstGeom>
          <a:noFill/>
        </p:spPr>
        <p:txBody>
          <a:bodyPr wrap="square" lIns="0" rIns="0" tIns="0" bIns="0" anchor="t">
            <a:spAutoFit/>
          </a:bodyPr>
          <a:lstStyle/>
          <a:p>
            <a:pPr algn="l">
              <a:spcBef>
                <a:spcPts val="0"/>
              </a:spcBef>
              <a:spcAft>
                <a:spcPts val="0"/>
              </a:spcAft>
            </a:pPr>
            <a:r>
              <a:rPr sz="1400" b="0" i="0">
                <a:solidFill>
                  <a:srgbClr val="FFFFFF"/>
                </a:solidFill>
                <a:latin typeface="Segoe UI"/>
              </a:rPr>
              <a:t>Keep measuring 4M, and find the next weld to automate.</a:t>
            </a:r>
          </a:p>
        </p:txBody>
      </p:sp>
      <p:sp>
        <p:nvSpPr>
          <p:cNvPr id="16" name="TextBox 15"/>
          <p:cNvSpPr txBox="1"/>
          <p:nvPr/>
        </p:nvSpPr>
        <p:spPr>
          <a:xfrm>
            <a:off x="3108960" y="5715000"/>
            <a:ext cx="8778240" cy="365760"/>
          </a:xfrm>
          <a:prstGeom prst="rect">
            <a:avLst/>
          </a:prstGeom>
          <a:noFill/>
        </p:spPr>
        <p:txBody>
          <a:bodyPr wrap="square" lIns="0" rIns="0" tIns="0" bIns="0" anchor="t">
            <a:spAutoFit/>
          </a:bodyPr>
          <a:lstStyle/>
          <a:p>
            <a:pPr algn="l">
              <a:spcBef>
                <a:spcPts val="0"/>
              </a:spcBef>
              <a:spcAft>
                <a:spcPts val="0"/>
              </a:spcAft>
            </a:pPr>
            <a:r>
              <a:rPr sz="1500" b="1" i="0">
                <a:solidFill>
                  <a:srgbClr val="D5FB00"/>
                </a:solidFill>
                <a:latin typeface="Segoe UI"/>
              </a:rPr>
              <a:t>I came to learn robotic welding, and I am already improving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Title 1"/>
          <p:cNvSpPr txBox="1"/>
          <p:nvPr/>
        </p:nvSpPr>
        <p:spPr>
          <a:xfrm>
            <a:off x="0" y="4709160"/>
            <a:ext cx="12191695" cy="640080"/>
          </a:xfrm>
          <a:prstGeom prst="rect">
            <a:avLst/>
          </a:prstGeom>
          <a:noFill/>
        </p:spPr>
        <p:txBody>
          <a:bodyPr wrap="square" lIns="0" rIns="0" tIns="0" bIns="0" anchor="t">
            <a:spAutoFit/>
          </a:bodyPr>
          <a:lstStyle/>
          <a:p>
            <a:pPr algn="ctr">
              <a:spcBef>
                <a:spcPts val="0"/>
              </a:spcBef>
              <a:spcAft>
                <a:spcPts val="0"/>
              </a:spcAft>
            </a:pPr>
            <a:r>
              <a:rPr sz="3000" b="1" i="0">
                <a:solidFill>
                  <a:srgbClr val="FFFFFF"/>
                </a:solidFill>
                <a:latin typeface="Segoe UI"/>
              </a:rPr>
              <a:t>Thank you</a:t>
            </a:r>
          </a:p>
        </p:txBody>
      </p:sp>
      <p:sp>
        <p:nvSpPr>
          <p:cNvPr id="3" name="TextBox 2"/>
          <p:cNvSpPr txBox="1"/>
          <p:nvPr/>
        </p:nvSpPr>
        <p:spPr>
          <a:xfrm>
            <a:off x="0" y="5440680"/>
            <a:ext cx="12191695" cy="228600"/>
          </a:xfrm>
          <a:prstGeom prst="rect">
            <a:avLst/>
          </a:prstGeom>
          <a:noFill/>
        </p:spPr>
        <p:txBody>
          <a:bodyPr wrap="square" lIns="0" rIns="0" tIns="0" bIns="0" anchor="t">
            <a:spAutoFit/>
          </a:bodyPr>
          <a:lstStyle/>
          <a:p>
            <a:pPr algn="ctr">
              <a:spcBef>
                <a:spcPts val="0"/>
              </a:spcBef>
              <a:spcAft>
                <a:spcPts val="0"/>
              </a:spcAft>
            </a:pPr>
            <a:r>
              <a:rPr sz="1300" b="0" i="0">
                <a:solidFill>
                  <a:srgbClr val="C6CDD1"/>
                </a:solidFill>
                <a:latin typeface="Segoe UI"/>
              </a:rPr>
              <a:t>Diego Adair de León Márquez   |   Engineering Department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